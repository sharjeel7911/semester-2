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720" r:id="rId3"/>
    <p:sldId id="804" r:id="rId4"/>
    <p:sldId id="805" r:id="rId5"/>
    <p:sldId id="806" r:id="rId6"/>
    <p:sldId id="807" r:id="rId7"/>
    <p:sldId id="786" r:id="rId8"/>
    <p:sldId id="787" r:id="rId9"/>
    <p:sldId id="788" r:id="rId10"/>
    <p:sldId id="789" r:id="rId11"/>
    <p:sldId id="808" r:id="rId12"/>
    <p:sldId id="809" r:id="rId13"/>
    <p:sldId id="811" r:id="rId14"/>
    <p:sldId id="810" r:id="rId15"/>
    <p:sldId id="813" r:id="rId16"/>
    <p:sldId id="814" r:id="rId17"/>
    <p:sldId id="815" r:id="rId18"/>
    <p:sldId id="816" r:id="rId19"/>
    <p:sldId id="488" r:id="rId20"/>
    <p:sldId id="288" r:id="rId21"/>
    <p:sldId id="283" r:id="rId22"/>
    <p:sldId id="284" r:id="rId23"/>
    <p:sldId id="481" r:id="rId24"/>
    <p:sldId id="482" r:id="rId25"/>
    <p:sldId id="819" r:id="rId26"/>
    <p:sldId id="817" r:id="rId27"/>
    <p:sldId id="818" r:id="rId28"/>
    <p:sldId id="823" r:id="rId29"/>
    <p:sldId id="820" r:id="rId30"/>
    <p:sldId id="822" r:id="rId31"/>
    <p:sldId id="824" r:id="rId32"/>
  </p:sldIdLst>
  <p:sldSz cx="12192000" cy="6858000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896" autoAdjust="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27E6DDE0-FD9D-4826-B2B1-AFE3771D369B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A34F220E-090E-4A19-A4A6-04C731DBC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84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CC08BC7-9472-408E-B508-90098C4C094F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123EF058-44DD-4E5F-BAF6-F4BADBF3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9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48C937-FE97-4FCA-B466-3CFA9CDF1E4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8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EF058-44DD-4E5F-BAF6-F4BADBF395E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1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Code in VS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F058-44DD-4E5F-BAF6-F4BADBF395E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9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Code in VS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F058-44DD-4E5F-BAF6-F4BADBF395E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6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0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3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3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5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2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2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3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1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Tue March 12,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n-NO"/>
              <a:t>UCP Fall 2024 Programming Fundamentals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B6DFD-27C3-4BE1-B7E6-C736F27BA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7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990601"/>
            <a:ext cx="7772400" cy="18097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PROGRAMMING FUNDAMENTALS B16</a:t>
            </a:r>
            <a:br>
              <a:rPr lang="en-US" sz="2000" dirty="0"/>
            </a:br>
            <a:r>
              <a:rPr lang="en-US" sz="2000" dirty="0"/>
              <a:t>SPRING 2025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19400" y="2800350"/>
            <a:ext cx="6400800" cy="237293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80000"/>
              </a:lnSpc>
            </a:pPr>
            <a:r>
              <a:rPr lang="en-US" sz="4300" dirty="0"/>
              <a:t>Pointers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Dr. Ahmad </a:t>
            </a:r>
            <a:r>
              <a:rPr lang="en-US" sz="2800" dirty="0" err="1"/>
              <a:t>Kazmi</a:t>
            </a: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Department of Computer Science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Faculty of Information Technology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Week 9 Lecture 25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Tue May 13, 2025</a:t>
            </a:r>
          </a:p>
        </p:txBody>
      </p:sp>
    </p:spTree>
    <p:extLst>
      <p:ext uri="{BB962C8B-B14F-4D97-AF65-F5344CB8AC3E}">
        <p14:creationId xmlns:p14="http://schemas.microsoft.com/office/powerpoint/2010/main" val="217619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D2D4-6726-455C-A646-989C3918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634" y="262467"/>
            <a:ext cx="10515600" cy="629708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8FB9-BDFD-4700-B2AE-7DDF8C56D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90600"/>
            <a:ext cx="12124266" cy="5604933"/>
          </a:xfrm>
        </p:spPr>
        <p:txBody>
          <a:bodyPr>
            <a:normAutofit/>
          </a:bodyPr>
          <a:lstStyle/>
          <a:p>
            <a:r>
              <a:rPr lang="en-US" dirty="0"/>
              <a:t>A1, A2, Q1 &amp; Q2 Marks are updated on Portal. Please review.</a:t>
            </a:r>
          </a:p>
          <a:p>
            <a:r>
              <a:rPr lang="en-US" dirty="0"/>
              <a:t>Today</a:t>
            </a:r>
          </a:p>
          <a:p>
            <a:pPr lvl="1"/>
            <a:r>
              <a:rPr lang="en-US" dirty="0"/>
              <a:t>Variables and Pointer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Contains 7 Class Activities to be </a:t>
            </a:r>
            <a:r>
              <a:rPr lang="en-US" b="1"/>
              <a:t>Completed handwritten and </a:t>
            </a:r>
            <a:r>
              <a:rPr lang="en-US" b="1" dirty="0"/>
              <a:t>Submitted in the Next Class </a:t>
            </a:r>
            <a:r>
              <a:rPr lang="en-US" b="1"/>
              <a:t>On Tue May 20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PK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2D83-DBD4-4BA5-8997-70FFBA97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0E5A-EA7B-4200-A501-1EE1C422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422525"/>
            <a:ext cx="8777288" cy="2006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Variables and Pointers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56143-C25F-4F21-AE9C-9A45A01E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CD67-8802-41AF-A71D-F990CFBF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36525"/>
            <a:ext cx="11658600" cy="1040342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Variables, their Memory Requirements and Addresses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16C7F-E785-4007-9907-BEF6C319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041400"/>
            <a:ext cx="10938933" cy="5135563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int a = 5; // int: uses 4 bytes of memory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float b = 5.5; // float: uses 8 bytes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char c = ‘a’; // char: uses one byte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bool d = true; // bool: uses one byte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double e = 5.5; // double: uses 16 bytes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long f = 5; // long: uses 16 bytes of memory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Let’s Run this Code and check the Addresses and Confirm the Sizes</a:t>
            </a:r>
          </a:p>
          <a:p>
            <a:pPr marL="0" indent="0" algn="just">
              <a:buNone/>
            </a:pPr>
            <a:r>
              <a:rPr lang="en-US" dirty="0"/>
              <a:t>Switching to Compile and Run</a:t>
            </a:r>
            <a:endParaRPr lang="en-PK" dirty="0"/>
          </a:p>
          <a:p>
            <a:pPr algn="just"/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13F99-5D51-45FA-A3DC-B34A5ED7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5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CD67-8802-41AF-A71D-F990CFBF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36525"/>
            <a:ext cx="11658600" cy="1040342"/>
          </a:xfrm>
        </p:spPr>
        <p:txBody>
          <a:bodyPr>
            <a:normAutofit/>
          </a:bodyPr>
          <a:lstStyle/>
          <a:p>
            <a:r>
              <a:rPr lang="en-US" dirty="0"/>
              <a:t>Arrays, their Memory Requirements and Addresses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16C7F-E785-4007-9907-BEF6C319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041400"/>
            <a:ext cx="10938933" cy="5135563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int a[2] = {1,2}; // 2 * int: uses 8 bytes of memory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float b[2] = {5.5, 6.6}; // 2 * float: uses 16 bytes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char c[2] = {‘a’, ‘b’}; // 2 * char: uses 2 byte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bool d[2] = {false, true}; // 2 * bool: uses  byte of memory</a:t>
            </a:r>
            <a:endParaRPr lang="en-PK" dirty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Let’s Run this Code and check the Addresses and Confirm the Sizes</a:t>
            </a:r>
          </a:p>
          <a:p>
            <a:pPr marL="0" indent="0" algn="just">
              <a:buNone/>
            </a:pPr>
            <a:r>
              <a:rPr lang="en-US" dirty="0"/>
              <a:t>Switching to Compile and Run</a:t>
            </a:r>
            <a:endParaRPr lang="en-PK" dirty="0"/>
          </a:p>
          <a:p>
            <a:pPr algn="just"/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13F99-5D51-45FA-A3DC-B34A5ED7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1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CD67-8802-41AF-A71D-F990CFBF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36525"/>
            <a:ext cx="11658600" cy="1040342"/>
          </a:xfrm>
        </p:spPr>
        <p:txBody>
          <a:bodyPr>
            <a:normAutofit/>
          </a:bodyPr>
          <a:lstStyle/>
          <a:p>
            <a:r>
              <a:rPr lang="en-US" dirty="0"/>
              <a:t>Reminder about Variables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16C7F-E785-4007-9907-BEF6C319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041400"/>
            <a:ext cx="10938933" cy="56800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All Variables have:</a:t>
            </a:r>
          </a:p>
          <a:p>
            <a:pPr lvl="1" algn="just"/>
            <a:r>
              <a:rPr lang="en-US" dirty="0"/>
              <a:t>Name</a:t>
            </a:r>
          </a:p>
          <a:p>
            <a:pPr lvl="1" algn="just"/>
            <a:r>
              <a:rPr lang="en-US" dirty="0"/>
              <a:t>Data Type</a:t>
            </a:r>
          </a:p>
          <a:p>
            <a:pPr lvl="1" algn="just"/>
            <a:r>
              <a:rPr lang="en-US" dirty="0"/>
              <a:t>Value or Content</a:t>
            </a:r>
          </a:p>
          <a:p>
            <a:pPr lvl="1" algn="just"/>
            <a:r>
              <a:rPr lang="en-US" dirty="0"/>
              <a:t>Address</a:t>
            </a:r>
          </a:p>
          <a:p>
            <a:pPr algn="just"/>
            <a:r>
              <a:rPr lang="en-US" dirty="0"/>
              <a:t>All Variables Exist in Memory i.e. No Memory No Variable</a:t>
            </a:r>
          </a:p>
          <a:p>
            <a:pPr algn="just"/>
            <a:r>
              <a:rPr lang="en-US" dirty="0"/>
              <a:t>All Variables have a Fixed Size Memory e.g. int 4 Bytes</a:t>
            </a:r>
          </a:p>
          <a:p>
            <a:pPr algn="just"/>
            <a:r>
              <a:rPr lang="en-US" dirty="0"/>
              <a:t>All Arrays have a Fixed Size (In [ ] during declaration)</a:t>
            </a:r>
          </a:p>
          <a:p>
            <a:pPr algn="just"/>
            <a:r>
              <a:rPr lang="en-US" dirty="0"/>
              <a:t>Address of a Variable Can’t be Changed</a:t>
            </a:r>
          </a:p>
          <a:p>
            <a:pPr algn="just"/>
            <a:r>
              <a:rPr lang="en-US" dirty="0"/>
              <a:t>A Variable is Created by the Compiler and Allocated Memory</a:t>
            </a:r>
          </a:p>
          <a:p>
            <a:pPr algn="just"/>
            <a:r>
              <a:rPr lang="en-US" dirty="0"/>
              <a:t>A Variable is only Deleted when Goes out of Scope: Out Side { }</a:t>
            </a:r>
          </a:p>
          <a:p>
            <a:pPr algn="just"/>
            <a:r>
              <a:rPr lang="en-US" dirty="0"/>
              <a:t>Address of a variable Can’t be Stored in Another Variable other than a Special Variable Called </a:t>
            </a:r>
            <a:r>
              <a:rPr lang="en-US" b="1" dirty="0"/>
              <a:t>Pointer</a:t>
            </a:r>
          </a:p>
          <a:p>
            <a:pPr algn="just"/>
            <a:r>
              <a:rPr lang="en-US" b="1" dirty="0"/>
              <a:t>To Understand Pointer, You Must Understand Computer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13F99-5D51-45FA-A3DC-B34A5ED7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9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0E5A-EA7B-4200-A501-1EE1C422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9" y="2425700"/>
            <a:ext cx="10207159" cy="2006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Computer Memory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56143-C25F-4F21-AE9C-9A45A01E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4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44D4-E19B-4C7F-80F8-5BF56B48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8675"/>
          </a:xfrm>
        </p:spPr>
        <p:txBody>
          <a:bodyPr/>
          <a:lstStyle/>
          <a:p>
            <a:r>
              <a:rPr lang="en-US" dirty="0"/>
              <a:t>Computer Memory Types and Usage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E21C5-5A9F-4DA6-8D51-4C87938DC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199" y="668867"/>
            <a:ext cx="11904133" cy="60526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Two Main Types: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Read Only Memory (ROM): Written Once and Read Many Times</a:t>
            </a:r>
          </a:p>
          <a:p>
            <a:pPr lvl="2"/>
            <a:r>
              <a:rPr lang="en-US" dirty="0"/>
              <a:t>Retains Value, Even without Power</a:t>
            </a:r>
          </a:p>
          <a:p>
            <a:pPr lvl="2"/>
            <a:r>
              <a:rPr lang="en-US" dirty="0"/>
              <a:t>Contains BIOS: Code to Start the Computer and Load Operating System in RAM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Random Access Memory (RAM): Can be Written and Read many Times</a:t>
            </a:r>
          </a:p>
          <a:p>
            <a:pPr lvl="2"/>
            <a:r>
              <a:rPr lang="en-US" dirty="0"/>
              <a:t>Wipes Out without Power</a:t>
            </a:r>
          </a:p>
          <a:p>
            <a:pPr lvl="2"/>
            <a:r>
              <a:rPr lang="en-US" dirty="0"/>
              <a:t>After Startup of Computer by BIOS, the Operating Runs from RAM</a:t>
            </a:r>
          </a:p>
          <a:p>
            <a:pPr marL="0" indent="0">
              <a:buNone/>
            </a:pPr>
            <a:r>
              <a:rPr lang="en-US" dirty="0"/>
              <a:t>RAM is of Two Types: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Code RAM: Contains all Executable Code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Data RAM: Contains all Variables (Data)</a:t>
            </a:r>
          </a:p>
          <a:p>
            <a:pPr marL="0" indent="0">
              <a:buNone/>
            </a:pPr>
            <a:r>
              <a:rPr lang="en-US" dirty="0"/>
              <a:t>Data RAM is of 2 Types: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Stack or Static Memory</a:t>
            </a:r>
            <a:r>
              <a:rPr lang="en-US" dirty="0"/>
              <a:t>: Contains all the Variables and Arrays</a:t>
            </a:r>
          </a:p>
          <a:p>
            <a:pPr lvl="2"/>
            <a:r>
              <a:rPr lang="en-US" dirty="0"/>
              <a:t>Much </a:t>
            </a:r>
            <a:r>
              <a:rPr lang="en-US" b="1" dirty="0"/>
              <a:t>Smaller</a:t>
            </a:r>
            <a:r>
              <a:rPr lang="en-US" dirty="0"/>
              <a:t> than Heap</a:t>
            </a:r>
          </a:p>
          <a:p>
            <a:pPr lvl="2"/>
            <a:r>
              <a:rPr lang="en-US" dirty="0"/>
              <a:t>Compiler </a:t>
            </a:r>
            <a:r>
              <a:rPr lang="en-US" b="1" dirty="0"/>
              <a:t>Allocates</a:t>
            </a:r>
            <a:r>
              <a:rPr lang="en-US" dirty="0"/>
              <a:t> (Creates), within { } and Deletes (Deallocates) when goes out of scope at the End }</a:t>
            </a:r>
          </a:p>
          <a:p>
            <a:pPr lvl="3"/>
            <a:r>
              <a:rPr lang="en-US" b="1" dirty="0"/>
              <a:t>Compile Time Memory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Heap or Dynamic Memory</a:t>
            </a:r>
            <a:r>
              <a:rPr lang="en-US" dirty="0"/>
              <a:t>: Contains all the Dynamic Variables and Dynamic Arrays</a:t>
            </a:r>
          </a:p>
          <a:p>
            <a:pPr lvl="2"/>
            <a:r>
              <a:rPr lang="en-US" dirty="0"/>
              <a:t>Much </a:t>
            </a:r>
            <a:r>
              <a:rPr lang="en-US" b="1" dirty="0"/>
              <a:t>Larger</a:t>
            </a:r>
            <a:r>
              <a:rPr lang="en-US" dirty="0"/>
              <a:t> than Stack</a:t>
            </a:r>
          </a:p>
          <a:p>
            <a:pPr lvl="2"/>
            <a:r>
              <a:rPr lang="en-US" dirty="0"/>
              <a:t>Allocated (Created) and Deleted (Deallocated) Explicitly in Code Through </a:t>
            </a:r>
            <a:r>
              <a:rPr lang="en-US" b="1" dirty="0"/>
              <a:t>Pointers</a:t>
            </a:r>
            <a:endParaRPr lang="en-US" dirty="0"/>
          </a:p>
          <a:p>
            <a:pPr lvl="3"/>
            <a:r>
              <a:rPr lang="en-US" b="1" dirty="0"/>
              <a:t>Run-Time Memory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AF34F-9C45-4C4E-BF12-E5E759F5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4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0E5A-EA7B-4200-A501-1EE1C422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929" y="2425700"/>
            <a:ext cx="10207159" cy="2006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Concept of a Pointer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56143-C25F-4F21-AE9C-9A45A01E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5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D827-E183-4A0C-B6B7-2851F739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365125"/>
            <a:ext cx="11887199" cy="1325563"/>
          </a:xfrm>
        </p:spPr>
        <p:txBody>
          <a:bodyPr/>
          <a:lstStyle/>
          <a:p>
            <a:r>
              <a:rPr lang="en-US" dirty="0"/>
              <a:t>Pointer: A Variable to hold an Address of a Variable of A Particular Data Type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AB49-1578-41B9-A5FA-2B5EB94C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825625"/>
            <a:ext cx="11074400" cy="48958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int x = 5; </a:t>
            </a:r>
          </a:p>
          <a:p>
            <a:pPr marL="0" indent="0">
              <a:buNone/>
            </a:pPr>
            <a:r>
              <a:rPr lang="en-US" dirty="0"/>
              <a:t>       char word[10] = “Ahmad”;</a:t>
            </a:r>
          </a:p>
          <a:p>
            <a:pPr marL="0" indent="0">
              <a:buNone/>
            </a:pPr>
            <a:r>
              <a:rPr lang="en-US" dirty="0"/>
              <a:t>     // x and word has an address allocated during Compile Time</a:t>
            </a:r>
          </a:p>
          <a:p>
            <a:pPr marL="0" indent="0">
              <a:buNone/>
            </a:pPr>
            <a:r>
              <a:rPr lang="en-US" dirty="0"/>
              <a:t>     // Address of x and word cannot be changed </a:t>
            </a:r>
          </a:p>
          <a:p>
            <a:pPr marL="0" indent="0">
              <a:buNone/>
            </a:pPr>
            <a:r>
              <a:rPr lang="en-US" dirty="0"/>
              <a:t>     // x and word Cannot be deleted in Code </a:t>
            </a:r>
          </a:p>
          <a:p>
            <a:pPr marL="0" indent="0">
              <a:buNone/>
            </a:pPr>
            <a:r>
              <a:rPr lang="en-US" dirty="0"/>
              <a:t>     // x and word is Deleted at End Bracket } i.e. </a:t>
            </a:r>
            <a:r>
              <a:rPr lang="en-US" dirty="0" err="1"/>
              <a:t>Goe</a:t>
            </a:r>
            <a:r>
              <a:rPr lang="en-US" dirty="0"/>
              <a:t> out of Scope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int * </a:t>
            </a:r>
            <a:r>
              <a:rPr lang="en-US" b="1" dirty="0" err="1"/>
              <a:t>xp</a:t>
            </a:r>
            <a:r>
              <a:rPr lang="en-US" b="1" dirty="0"/>
              <a:t> = &amp;x; </a:t>
            </a:r>
            <a:r>
              <a:rPr lang="en-US" dirty="0"/>
              <a:t>// a Pointer variable to hold address of data type int</a:t>
            </a:r>
          </a:p>
          <a:p>
            <a:pPr marL="0" indent="0">
              <a:buNone/>
            </a:pPr>
            <a:r>
              <a:rPr lang="en-US" dirty="0"/>
              <a:t>                              // address of x is put in the pointer variable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xp</a:t>
            </a:r>
            <a:r>
              <a:rPr lang="en-US" dirty="0"/>
              <a:t> &lt;&lt; “ “ &lt;&lt; * </a:t>
            </a:r>
            <a:r>
              <a:rPr lang="en-US" dirty="0" err="1"/>
              <a:t>xp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char * </a:t>
            </a:r>
            <a:r>
              <a:rPr lang="en-US" b="1" dirty="0" err="1"/>
              <a:t>pWord</a:t>
            </a:r>
            <a:r>
              <a:rPr lang="en-US" b="1" dirty="0"/>
              <a:t> = word; // or </a:t>
            </a:r>
            <a:r>
              <a:rPr lang="en-US" b="1" dirty="0" err="1"/>
              <a:t>pWord</a:t>
            </a:r>
            <a:r>
              <a:rPr lang="en-US" b="1" dirty="0"/>
              <a:t> = &amp;word[0];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 &lt;&lt; word &lt;&lt; “ “ &lt;&lt; </a:t>
            </a:r>
            <a:r>
              <a:rPr lang="en-US" dirty="0" err="1"/>
              <a:t>pWord</a:t>
            </a:r>
            <a:r>
              <a:rPr lang="en-US" dirty="0"/>
              <a:t> &lt;&lt;  “ “ &lt;&lt; *</a:t>
            </a:r>
            <a:r>
              <a:rPr lang="en-US" dirty="0" err="1"/>
              <a:t>pWord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b="1" dirty="0"/>
              <a:t>   // Let us Run this Code, switching to Compile and Run</a:t>
            </a:r>
          </a:p>
          <a:p>
            <a:pPr marL="0" indent="0">
              <a:buNone/>
            </a:pPr>
            <a:r>
              <a:rPr lang="en-US" dirty="0"/>
              <a:t>   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C77B0-3263-43DC-8283-786E27B7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1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67808"/>
          </a:xfrm>
        </p:spPr>
        <p:txBody>
          <a:bodyPr>
            <a:normAutofit fontScale="90000"/>
          </a:bodyPr>
          <a:lstStyle/>
          <a:p>
            <a:r>
              <a:rPr lang="en-US" dirty="0"/>
              <a:t>Pointer, Variable, Address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Pointer is a variable to Hold Address of a Variable of a Particular Data Type</a:t>
            </a:r>
          </a:p>
          <a:p>
            <a:pPr marL="0" indent="0">
              <a:buNone/>
            </a:pPr>
            <a:r>
              <a:rPr lang="en-US" dirty="0"/>
              <a:t>int a = 10;</a:t>
            </a:r>
          </a:p>
          <a:p>
            <a:pPr marL="0" indent="0">
              <a:buNone/>
            </a:pPr>
            <a:r>
              <a:rPr lang="en-US" dirty="0"/>
              <a:t>int *pa = &amp;a;  // Pointer Variable pa is </a:t>
            </a:r>
            <a:r>
              <a:rPr lang="en-US" b="1" dirty="0"/>
              <a:t>Declared</a:t>
            </a:r>
            <a:r>
              <a:rPr lang="en-US" dirty="0"/>
              <a:t> and </a:t>
            </a:r>
            <a:r>
              <a:rPr lang="en-US" b="1" dirty="0"/>
              <a:t>Initialized</a:t>
            </a:r>
            <a:r>
              <a:rPr lang="en-US" dirty="0"/>
              <a:t> with the Address of Variable a</a:t>
            </a:r>
          </a:p>
          <a:p>
            <a:pPr marL="0" indent="0">
              <a:buNone/>
            </a:pPr>
            <a:r>
              <a:rPr lang="en-US" dirty="0"/>
              <a:t>*pa = 20; // dereference pa </a:t>
            </a:r>
            <a:r>
              <a:rPr lang="en-US" dirty="0">
                <a:sym typeface="Wingdings" panose="05000000000000000000" pitchFamily="2" charset="2"/>
              </a:rPr>
              <a:t> go to address in pa and set that memory to 20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cstr</a:t>
            </a:r>
            <a:r>
              <a:rPr lang="en-US" dirty="0"/>
              <a:t>[10] = “Test “;</a:t>
            </a:r>
          </a:p>
          <a:p>
            <a:pPr marL="0" indent="0">
              <a:buNone/>
            </a:pPr>
            <a:r>
              <a:rPr lang="en-US" dirty="0"/>
              <a:t>char *p = </a:t>
            </a:r>
            <a:r>
              <a:rPr lang="en-US" dirty="0" err="1"/>
              <a:t>cstr</a:t>
            </a:r>
            <a:r>
              <a:rPr lang="en-US" dirty="0"/>
              <a:t>; // Pointer Variable p is </a:t>
            </a:r>
            <a:r>
              <a:rPr lang="en-US" b="1" dirty="0"/>
              <a:t>Declared</a:t>
            </a:r>
            <a:r>
              <a:rPr lang="en-US" dirty="0"/>
              <a:t> and </a:t>
            </a:r>
            <a:r>
              <a:rPr lang="en-US" b="1" dirty="0"/>
              <a:t>Initialized</a:t>
            </a:r>
            <a:r>
              <a:rPr lang="en-US" dirty="0"/>
              <a:t> with the Address of array </a:t>
            </a:r>
            <a:r>
              <a:rPr lang="en-US" dirty="0" err="1"/>
              <a:t>cstr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result of the following code?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cstr</a:t>
            </a:r>
            <a:r>
              <a:rPr lang="en-US" dirty="0"/>
              <a:t> &lt;&lt; “ “ &lt;&lt; p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Let’s run this code , switching to Compile and Run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67808"/>
          </a:xfrm>
        </p:spPr>
        <p:txBody>
          <a:bodyPr>
            <a:normAutofit fontScale="90000"/>
          </a:bodyPr>
          <a:lstStyle/>
          <a:p>
            <a:r>
              <a:rPr lang="en-US" dirty="0"/>
              <a:t>Dry Run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int </a:t>
            </a:r>
            <a:r>
              <a:rPr lang="en-US" dirty="0"/>
              <a:t>a = 10;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int *</a:t>
            </a:r>
            <a:r>
              <a:rPr lang="en-US" dirty="0"/>
              <a:t>pa = &amp;a;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char</a:t>
            </a:r>
            <a:r>
              <a:rPr lang="en-US" dirty="0"/>
              <a:t> str[] = “ab“;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char *</a:t>
            </a:r>
            <a:r>
              <a:rPr lang="en-US" dirty="0" err="1"/>
              <a:t>pStr</a:t>
            </a:r>
            <a:r>
              <a:rPr lang="en-US" dirty="0"/>
              <a:t> = str;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6EFB0-79D2-4D4E-A6A5-02C29FE273D3}"/>
              </a:ext>
            </a:extLst>
          </p:cNvPr>
          <p:cNvSpPr/>
          <p:nvPr/>
        </p:nvSpPr>
        <p:spPr>
          <a:xfrm>
            <a:off x="4585913" y="1472232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164C44-CD0E-4C9D-8E30-491E1F349128}"/>
              </a:ext>
            </a:extLst>
          </p:cNvPr>
          <p:cNvSpPr txBox="1"/>
          <p:nvPr/>
        </p:nvSpPr>
        <p:spPr>
          <a:xfrm>
            <a:off x="2142955" y="995178"/>
            <a:ext cx="6467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</a:t>
            </a:r>
            <a:r>
              <a:rPr lang="en-GB" sz="2800" dirty="0">
                <a:highlight>
                  <a:srgbClr val="FFFF00"/>
                </a:highlight>
              </a:rPr>
              <a:t>int</a:t>
            </a:r>
            <a:r>
              <a:rPr lang="en-GB" sz="2800" dirty="0"/>
              <a:t> </a:t>
            </a:r>
          </a:p>
          <a:p>
            <a:r>
              <a:rPr lang="en-GB" sz="2800" dirty="0"/>
              <a:t>0x246ff04: ad1                            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1B9368-43E3-4F80-91FA-2BE3E909362C}"/>
              </a:ext>
            </a:extLst>
          </p:cNvPr>
          <p:cNvSpPr/>
          <p:nvPr/>
        </p:nvSpPr>
        <p:spPr>
          <a:xfrm>
            <a:off x="4848380" y="2795672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0x246ff04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6F64CD-71ED-4E77-ADA5-6723744B076C}"/>
              </a:ext>
            </a:extLst>
          </p:cNvPr>
          <p:cNvSpPr txBox="1"/>
          <p:nvPr/>
        </p:nvSpPr>
        <p:spPr>
          <a:xfrm>
            <a:off x="2418505" y="2318618"/>
            <a:ext cx="6467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</a:t>
            </a:r>
            <a:r>
              <a:rPr lang="en-GB" sz="2800" dirty="0">
                <a:highlight>
                  <a:srgbClr val="FFFF00"/>
                </a:highlight>
              </a:rPr>
              <a:t>int *</a:t>
            </a:r>
            <a:r>
              <a:rPr lang="en-GB" sz="2800" dirty="0"/>
              <a:t> </a:t>
            </a:r>
          </a:p>
          <a:p>
            <a:r>
              <a:rPr lang="en-GB" sz="2800" dirty="0"/>
              <a:t>0x246ff08: ad2                            pa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3F9F9F-0294-4500-94AC-A47DE5B06456}"/>
              </a:ext>
            </a:extLst>
          </p:cNvPr>
          <p:cNvSpPr txBox="1"/>
          <p:nvPr/>
        </p:nvSpPr>
        <p:spPr>
          <a:xfrm>
            <a:off x="2866632" y="3288114"/>
            <a:ext cx="74502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</a:t>
            </a:r>
            <a:r>
              <a:rPr lang="en-GB" sz="2800" dirty="0">
                <a:highlight>
                  <a:srgbClr val="FFFF00"/>
                </a:highlight>
              </a:rPr>
              <a:t>char</a:t>
            </a:r>
            <a:r>
              <a:rPr lang="en-GB" sz="2800" dirty="0"/>
              <a:t> </a:t>
            </a:r>
          </a:p>
          <a:p>
            <a:r>
              <a:rPr lang="en-GB" sz="2800" dirty="0"/>
              <a:t>                                    0          1            2</a:t>
            </a:r>
          </a:p>
          <a:p>
            <a:r>
              <a:rPr lang="en-GB" sz="2800" dirty="0"/>
              <a:t>0x246ff0C: ad3                                               str</a:t>
            </a:r>
          </a:p>
          <a:p>
            <a:r>
              <a:rPr lang="en-GB" sz="2800" dirty="0"/>
              <a:t>                                  ad3       ad4       ad5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A510D0-B68B-47EE-821A-D8956C1C066B}"/>
              </a:ext>
            </a:extLst>
          </p:cNvPr>
          <p:cNvSpPr/>
          <p:nvPr/>
        </p:nvSpPr>
        <p:spPr>
          <a:xfrm>
            <a:off x="5409607" y="4181995"/>
            <a:ext cx="105288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72A578-5893-4621-AFCE-035A7DB8A3E0}"/>
              </a:ext>
            </a:extLst>
          </p:cNvPr>
          <p:cNvSpPr/>
          <p:nvPr/>
        </p:nvSpPr>
        <p:spPr>
          <a:xfrm>
            <a:off x="6483660" y="4181995"/>
            <a:ext cx="105288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‘b’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7FCCE8-4CAD-43E1-8E15-DF269A86CC83}"/>
              </a:ext>
            </a:extLst>
          </p:cNvPr>
          <p:cNvSpPr/>
          <p:nvPr/>
        </p:nvSpPr>
        <p:spPr>
          <a:xfrm>
            <a:off x="7557713" y="4181995"/>
            <a:ext cx="1052887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096137-D92A-4D31-8E8E-ED48F31DFF0C}"/>
              </a:ext>
            </a:extLst>
          </p:cNvPr>
          <p:cNvSpPr/>
          <p:nvPr/>
        </p:nvSpPr>
        <p:spPr>
          <a:xfrm>
            <a:off x="5373313" y="5581050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0x246ff0C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EB68CC-AA70-4D68-9CCF-6C08A74919C3}"/>
              </a:ext>
            </a:extLst>
          </p:cNvPr>
          <p:cNvSpPr txBox="1"/>
          <p:nvPr/>
        </p:nvSpPr>
        <p:spPr>
          <a:xfrm>
            <a:off x="2874876" y="5119385"/>
            <a:ext cx="6467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</a:t>
            </a:r>
            <a:r>
              <a:rPr lang="en-GB" sz="2800" dirty="0">
                <a:highlight>
                  <a:srgbClr val="FFFF00"/>
                </a:highlight>
              </a:rPr>
              <a:t>char *</a:t>
            </a:r>
            <a:r>
              <a:rPr lang="en-GB" sz="2800" dirty="0"/>
              <a:t> </a:t>
            </a:r>
          </a:p>
          <a:p>
            <a:r>
              <a:rPr lang="en-GB" sz="2800" dirty="0"/>
              <a:t>0x246ff0F: ad6                           </a:t>
            </a:r>
            <a:r>
              <a:rPr lang="en-GB" sz="2800" dirty="0" err="1"/>
              <a:t>pStr</a:t>
            </a:r>
            <a:endParaRPr lang="en-GB" sz="2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C7C58D-FFC8-4DD2-9A9B-A9973FD6CED4}"/>
              </a:ext>
            </a:extLst>
          </p:cNvPr>
          <p:cNvSpPr/>
          <p:nvPr/>
        </p:nvSpPr>
        <p:spPr>
          <a:xfrm>
            <a:off x="8449733" y="4834185"/>
            <a:ext cx="3640664" cy="1522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What is result of the following code?</a:t>
            </a:r>
          </a:p>
          <a:p>
            <a:endParaRPr lang="en-US" sz="2000" dirty="0"/>
          </a:p>
          <a:p>
            <a:r>
              <a:rPr lang="en-US" sz="2000" dirty="0" err="1"/>
              <a:t>cout</a:t>
            </a:r>
            <a:r>
              <a:rPr lang="en-US" sz="2000" dirty="0"/>
              <a:t> &lt;&lt; str &lt;&lt; “ “ &lt;&lt; </a:t>
            </a:r>
            <a:r>
              <a:rPr lang="en-US" sz="2000" dirty="0" err="1"/>
              <a:t>pStr</a:t>
            </a:r>
            <a:r>
              <a:rPr lang="en-US" sz="2000" dirty="0"/>
              <a:t>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D74532FE-62A7-423F-A249-E6739D35AD9E}"/>
              </a:ext>
            </a:extLst>
          </p:cNvPr>
          <p:cNvSpPr/>
          <p:nvPr/>
        </p:nvSpPr>
        <p:spPr>
          <a:xfrm>
            <a:off x="7357403" y="141798"/>
            <a:ext cx="4732994" cy="1699766"/>
          </a:xfrm>
          <a:prstGeom prst="wedgeEllipseCallout">
            <a:avLst>
              <a:gd name="adj1" fmla="val -73631"/>
              <a:gd name="adj2" fmla="val 104590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dirty="0"/>
              <a:t>Pointer variable </a:t>
            </a:r>
            <a:r>
              <a:rPr lang="en-US" sz="3600" b="1" dirty="0">
                <a:solidFill>
                  <a:srgbClr val="FF0000"/>
                </a:solidFill>
              </a:rPr>
              <a:t>pa</a:t>
            </a:r>
            <a:r>
              <a:rPr lang="en-US" sz="2400" dirty="0"/>
              <a:t>  has the address of variable </a:t>
            </a:r>
            <a:r>
              <a:rPr lang="en-US" sz="3200" b="1" dirty="0">
                <a:solidFill>
                  <a:srgbClr val="FF0000"/>
                </a:solidFill>
              </a:rPr>
              <a:t>a</a:t>
            </a:r>
            <a:endParaRPr lang="en-PK" sz="320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BCD3DA-8D9A-44A1-97DA-A3D6578A46F9}"/>
              </a:ext>
            </a:extLst>
          </p:cNvPr>
          <p:cNvCxnSpPr/>
          <p:nvPr/>
        </p:nvCxnSpPr>
        <p:spPr>
          <a:xfrm flipH="1" flipV="1">
            <a:off x="3334871" y="1841564"/>
            <a:ext cx="2074736" cy="95410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D642B2A6-46AD-461A-BE63-41979FE917D7}"/>
              </a:ext>
            </a:extLst>
          </p:cNvPr>
          <p:cNvSpPr/>
          <p:nvPr/>
        </p:nvSpPr>
        <p:spPr>
          <a:xfrm>
            <a:off x="6923116" y="1915287"/>
            <a:ext cx="5268884" cy="1699766"/>
          </a:xfrm>
          <a:prstGeom prst="wedgeEllipseCallout">
            <a:avLst>
              <a:gd name="adj1" fmla="val -61445"/>
              <a:gd name="adj2" fmla="val 1625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dirty="0"/>
              <a:t>Pointer variable </a:t>
            </a:r>
            <a:r>
              <a:rPr lang="en-US" sz="3600" b="1" dirty="0" err="1">
                <a:solidFill>
                  <a:srgbClr val="FF0000"/>
                </a:solidFill>
              </a:rPr>
              <a:t>pStr</a:t>
            </a:r>
            <a:r>
              <a:rPr lang="en-US" sz="2400" dirty="0"/>
              <a:t>  has the address of variable </a:t>
            </a:r>
            <a:r>
              <a:rPr lang="en-US" sz="3200" b="1" dirty="0">
                <a:solidFill>
                  <a:srgbClr val="FF0000"/>
                </a:solidFill>
              </a:rPr>
              <a:t>str</a:t>
            </a:r>
            <a:endParaRPr lang="en-PK" sz="3200" b="1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92D3EC-8802-4DB2-A26E-3124A0E1B336}"/>
              </a:ext>
            </a:extLst>
          </p:cNvPr>
          <p:cNvCxnSpPr/>
          <p:nvPr/>
        </p:nvCxnSpPr>
        <p:spPr>
          <a:xfrm flipH="1" flipV="1">
            <a:off x="3753450" y="4608464"/>
            <a:ext cx="2074736" cy="95410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38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5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6525"/>
            <a:ext cx="11836400" cy="667808"/>
          </a:xfrm>
        </p:spPr>
        <p:txBody>
          <a:bodyPr>
            <a:normAutofit/>
          </a:bodyPr>
          <a:lstStyle/>
          <a:p>
            <a:r>
              <a:rPr lang="en-US" sz="3600" dirty="0"/>
              <a:t>Class Activity 1: Dry Run on paper and post the Scan in chat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double D = 5.5;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double *</a:t>
            </a:r>
            <a:r>
              <a:rPr lang="en-US" dirty="0" err="1"/>
              <a:t>pD</a:t>
            </a:r>
            <a:r>
              <a:rPr lang="en-US" dirty="0"/>
              <a:t> = &amp; D;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* </a:t>
            </a:r>
            <a:r>
              <a:rPr lang="en-US" dirty="0" err="1"/>
              <a:t>pD</a:t>
            </a:r>
            <a:r>
              <a:rPr lang="en-US" dirty="0"/>
              <a:t> = 14.5;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char word[] = “Ahmad“;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char *</a:t>
            </a:r>
            <a:r>
              <a:rPr lang="en-US" dirty="0" err="1"/>
              <a:t>pWord</a:t>
            </a:r>
            <a:r>
              <a:rPr lang="en-US" dirty="0"/>
              <a:t> = word;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cout</a:t>
            </a:r>
            <a:r>
              <a:rPr lang="en-US" dirty="0"/>
              <a:t> &lt;&lt; word &lt;&lt; “ “ &lt;&lt; </a:t>
            </a:r>
            <a:r>
              <a:rPr lang="en-US" dirty="0" err="1"/>
              <a:t>pWord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pWord</a:t>
            </a:r>
            <a:r>
              <a:rPr lang="en-US" dirty="0"/>
              <a:t> = &amp; word[1];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pWord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pWord</a:t>
            </a:r>
            <a:r>
              <a:rPr lang="en-US" dirty="0"/>
              <a:t> = (word + 4);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*</a:t>
            </a:r>
            <a:r>
              <a:rPr lang="en-US" dirty="0" err="1"/>
              <a:t>pWord</a:t>
            </a:r>
            <a:r>
              <a:rPr lang="en-US" dirty="0"/>
              <a:t> = ‘Q’;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pWord</a:t>
            </a:r>
            <a:r>
              <a:rPr lang="en-US" dirty="0"/>
              <a:t>[1] = ‘r’;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pWord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pWord</a:t>
            </a:r>
            <a:r>
              <a:rPr lang="en-US" dirty="0"/>
              <a:t> = (word + 6);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pWord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53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6525"/>
            <a:ext cx="11836400" cy="667808"/>
          </a:xfrm>
        </p:spPr>
        <p:txBody>
          <a:bodyPr>
            <a:normAutofit/>
          </a:bodyPr>
          <a:lstStyle/>
          <a:p>
            <a:r>
              <a:rPr lang="en-US" sz="3600" dirty="0"/>
              <a:t>Dry Run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double D = 5.5;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double *</a:t>
            </a:r>
            <a:r>
              <a:rPr lang="en-US" dirty="0" err="1"/>
              <a:t>pD</a:t>
            </a:r>
            <a:r>
              <a:rPr lang="en-US" dirty="0"/>
              <a:t> = &amp; D;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* </a:t>
            </a:r>
            <a:r>
              <a:rPr lang="en-US" dirty="0" err="1"/>
              <a:t>pD</a:t>
            </a:r>
            <a:r>
              <a:rPr lang="en-US" dirty="0"/>
              <a:t> = 14.5; // address in </a:t>
            </a:r>
            <a:r>
              <a:rPr lang="en-US" dirty="0" err="1"/>
              <a:t>pD</a:t>
            </a:r>
            <a:r>
              <a:rPr lang="en-US" dirty="0"/>
              <a:t> is </a:t>
            </a:r>
            <a:r>
              <a:rPr lang="en-GB" dirty="0"/>
              <a:t>0457D6FFC08, so the content at address 0457D6FFC08 will change to 14.5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AF005-0BCC-482B-B46F-21D575AE271E}"/>
              </a:ext>
            </a:extLst>
          </p:cNvPr>
          <p:cNvSpPr/>
          <p:nvPr/>
        </p:nvSpPr>
        <p:spPr>
          <a:xfrm>
            <a:off x="6858466" y="1149503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8946B-9FA7-4D3C-B882-F0DAB97E9226}"/>
              </a:ext>
            </a:extLst>
          </p:cNvPr>
          <p:cNvSpPr txBox="1"/>
          <p:nvPr/>
        </p:nvSpPr>
        <p:spPr>
          <a:xfrm>
            <a:off x="3859306" y="672449"/>
            <a:ext cx="78669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double </a:t>
            </a:r>
          </a:p>
          <a:p>
            <a:r>
              <a:rPr lang="en-GB" sz="2800" dirty="0"/>
              <a:t>x052A56FF728: ad1                         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96ACE-DA88-4586-81F4-FC00D19F5293}"/>
              </a:ext>
            </a:extLst>
          </p:cNvPr>
          <p:cNvSpPr/>
          <p:nvPr/>
        </p:nvSpPr>
        <p:spPr>
          <a:xfrm>
            <a:off x="6849502" y="2404557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x052A56FF728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2B482-E76C-45BB-A30C-E0CDCA635F8D}"/>
              </a:ext>
            </a:extLst>
          </p:cNvPr>
          <p:cNvSpPr txBox="1"/>
          <p:nvPr/>
        </p:nvSpPr>
        <p:spPr>
          <a:xfrm>
            <a:off x="3863040" y="1923749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double * </a:t>
            </a:r>
          </a:p>
          <a:p>
            <a:r>
              <a:rPr lang="en-GB" sz="2800" dirty="0"/>
              <a:t>x052A56FF748: ad2                         </a:t>
            </a:r>
            <a:r>
              <a:rPr lang="en-GB" sz="2800" dirty="0" err="1"/>
              <a:t>pD</a:t>
            </a:r>
            <a:endParaRPr lang="en-GB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2B25CE-B94D-4911-ABB7-240AA5EFA838}"/>
              </a:ext>
            </a:extLst>
          </p:cNvPr>
          <p:cNvSpPr/>
          <p:nvPr/>
        </p:nvSpPr>
        <p:spPr>
          <a:xfrm>
            <a:off x="7427725" y="4695930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423DA-C861-488F-A8E5-B70FE955209B}"/>
              </a:ext>
            </a:extLst>
          </p:cNvPr>
          <p:cNvSpPr txBox="1"/>
          <p:nvPr/>
        </p:nvSpPr>
        <p:spPr>
          <a:xfrm>
            <a:off x="4375041" y="4212132"/>
            <a:ext cx="5607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double </a:t>
            </a:r>
          </a:p>
          <a:p>
            <a:r>
              <a:rPr lang="en-GB" sz="2800" dirty="0"/>
              <a:t>x052A56FF728 : ad1                         D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1097AC7A-CF4E-4B58-9D65-9EB46FA9A549}"/>
              </a:ext>
            </a:extLst>
          </p:cNvPr>
          <p:cNvSpPr/>
          <p:nvPr/>
        </p:nvSpPr>
        <p:spPr>
          <a:xfrm>
            <a:off x="8617477" y="141797"/>
            <a:ext cx="3447523" cy="2359356"/>
          </a:xfrm>
          <a:prstGeom prst="wedgeEllipseCallout">
            <a:avLst>
              <a:gd name="adj1" fmla="val -65085"/>
              <a:gd name="adj2" fmla="val 47323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dirty="0"/>
              <a:t>Pointer variable </a:t>
            </a:r>
            <a:r>
              <a:rPr lang="en-US" sz="3600" b="1" dirty="0" err="1">
                <a:solidFill>
                  <a:srgbClr val="FF0000"/>
                </a:solidFill>
              </a:rPr>
              <a:t>pD</a:t>
            </a:r>
            <a:r>
              <a:rPr lang="en-US" sz="2400" dirty="0"/>
              <a:t>  has the address of variable </a:t>
            </a:r>
            <a:r>
              <a:rPr lang="en-US" sz="3200" b="1" dirty="0">
                <a:solidFill>
                  <a:srgbClr val="FF0000"/>
                </a:solidFill>
              </a:rPr>
              <a:t>D</a:t>
            </a:r>
            <a:endParaRPr lang="en-PK" sz="3200" b="1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6DBC5F-82A4-47A9-AFC3-20AF3CB848F7}"/>
              </a:ext>
            </a:extLst>
          </p:cNvPr>
          <p:cNvCxnSpPr/>
          <p:nvPr/>
        </p:nvCxnSpPr>
        <p:spPr>
          <a:xfrm flipH="1" flipV="1">
            <a:off x="4925230" y="1518835"/>
            <a:ext cx="2074736" cy="95410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3B774498-06E8-4099-A139-9CAC1859890D}"/>
              </a:ext>
            </a:extLst>
          </p:cNvPr>
          <p:cNvSpPr/>
          <p:nvPr/>
        </p:nvSpPr>
        <p:spPr>
          <a:xfrm>
            <a:off x="127000" y="4959927"/>
            <a:ext cx="5607158" cy="1898072"/>
          </a:xfrm>
          <a:prstGeom prst="wedgeEllipseCallout">
            <a:avLst>
              <a:gd name="adj1" fmla="val 24813"/>
              <a:gd name="adj2" fmla="val -52561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dirty="0"/>
              <a:t>Pointer variable </a:t>
            </a:r>
            <a:r>
              <a:rPr lang="en-US" sz="3600" b="1" dirty="0" err="1">
                <a:solidFill>
                  <a:srgbClr val="FF0000"/>
                </a:solidFill>
              </a:rPr>
              <a:t>pD</a:t>
            </a:r>
            <a:r>
              <a:rPr lang="en-US" sz="2400" dirty="0"/>
              <a:t>  is dereferenced to reach address </a:t>
            </a:r>
            <a:r>
              <a:rPr lang="en-GB" sz="3200" dirty="0">
                <a:solidFill>
                  <a:srgbClr val="FF0000"/>
                </a:solidFill>
              </a:rPr>
              <a:t>x052A56FF728</a:t>
            </a:r>
            <a:endParaRPr lang="en-PK" sz="3200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F4E3BD-C252-4AEC-B02E-A2EBF578B06E}"/>
              </a:ext>
            </a:extLst>
          </p:cNvPr>
          <p:cNvCxnSpPr>
            <a:cxnSpLocks/>
          </p:cNvCxnSpPr>
          <p:nvPr/>
        </p:nvCxnSpPr>
        <p:spPr>
          <a:xfrm flipH="1">
            <a:off x="5734158" y="2816187"/>
            <a:ext cx="1885842" cy="187299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25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11" grpId="0" animBg="1"/>
      <p:bldP spid="12" grpId="0"/>
      <p:bldP spid="13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6525"/>
            <a:ext cx="11836400" cy="667808"/>
          </a:xfrm>
        </p:spPr>
        <p:txBody>
          <a:bodyPr>
            <a:normAutofit/>
          </a:bodyPr>
          <a:lstStyle/>
          <a:p>
            <a:r>
              <a:rPr lang="en-US" sz="3600" dirty="0"/>
              <a:t>Dry Run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   char word[] = “Ahmad“;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 startAt="5"/>
            </a:pPr>
            <a:r>
              <a:rPr lang="en-US" dirty="0"/>
              <a:t>char *</a:t>
            </a:r>
            <a:r>
              <a:rPr lang="en-US" dirty="0" err="1"/>
              <a:t>pWord</a:t>
            </a:r>
            <a:r>
              <a:rPr lang="en-US" dirty="0"/>
              <a:t> = word;</a:t>
            </a:r>
          </a:p>
          <a:p>
            <a:pPr marL="514350" indent="-514350">
              <a:buAutoNum type="arabicPeriod" startAt="5"/>
            </a:pP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 startAt="5"/>
            </a:pPr>
            <a:r>
              <a:rPr lang="en-US" dirty="0" err="1"/>
              <a:t>pWord</a:t>
            </a:r>
            <a:r>
              <a:rPr lang="en-US" dirty="0"/>
              <a:t> = &amp; word[1];</a:t>
            </a:r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6CEEA-CC56-448A-BE92-8CB718650720}"/>
              </a:ext>
            </a:extLst>
          </p:cNvPr>
          <p:cNvSpPr txBox="1"/>
          <p:nvPr/>
        </p:nvSpPr>
        <p:spPr>
          <a:xfrm>
            <a:off x="3282603" y="781309"/>
            <a:ext cx="80711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              char </a:t>
            </a:r>
          </a:p>
          <a:p>
            <a:r>
              <a:rPr lang="en-GB" sz="2800" dirty="0"/>
              <a:t>                                      0     1      2      3      4      5</a:t>
            </a:r>
          </a:p>
          <a:p>
            <a:r>
              <a:rPr lang="en-GB" sz="2800" dirty="0"/>
              <a:t>052A56FF764 : ad3                                                 word</a:t>
            </a:r>
          </a:p>
          <a:p>
            <a:r>
              <a:rPr lang="en-GB" sz="2800" dirty="0"/>
              <a:t>                                  ad3  ad4  ad5  ad6  ad7  ad8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0CB7F-F2C2-419D-90D3-C8BDC4CC86E1}"/>
              </a:ext>
            </a:extLst>
          </p:cNvPr>
          <p:cNvSpPr/>
          <p:nvPr/>
        </p:nvSpPr>
        <p:spPr>
          <a:xfrm>
            <a:off x="6202985" y="1698214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3EB76-406E-4D66-A2F9-B4C7433466E6}"/>
              </a:ext>
            </a:extLst>
          </p:cNvPr>
          <p:cNvSpPr/>
          <p:nvPr/>
        </p:nvSpPr>
        <p:spPr>
          <a:xfrm>
            <a:off x="6831107" y="1698214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‘h’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6ADE3-A8FF-46BE-BBBE-5E48F68601A4}"/>
              </a:ext>
            </a:extLst>
          </p:cNvPr>
          <p:cNvSpPr/>
          <p:nvPr/>
        </p:nvSpPr>
        <p:spPr>
          <a:xfrm>
            <a:off x="9390680" y="1694025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44E2CB-0C59-4549-B5C3-DD24CE8E3CA9}"/>
              </a:ext>
            </a:extLst>
          </p:cNvPr>
          <p:cNvSpPr/>
          <p:nvPr/>
        </p:nvSpPr>
        <p:spPr>
          <a:xfrm>
            <a:off x="7471486" y="1689250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64CB85-1C37-4E84-B388-7586FE9099BD}"/>
              </a:ext>
            </a:extLst>
          </p:cNvPr>
          <p:cNvSpPr/>
          <p:nvPr/>
        </p:nvSpPr>
        <p:spPr>
          <a:xfrm>
            <a:off x="8099608" y="1689250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B7320D-D630-43C9-916F-46A64AB5BB5C}"/>
              </a:ext>
            </a:extLst>
          </p:cNvPr>
          <p:cNvSpPr/>
          <p:nvPr/>
        </p:nvSpPr>
        <p:spPr>
          <a:xfrm>
            <a:off x="8745820" y="1698214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‘d’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96266E-1AD7-43CE-AABF-CFF9B5F358E8}"/>
              </a:ext>
            </a:extLst>
          </p:cNvPr>
          <p:cNvSpPr/>
          <p:nvPr/>
        </p:nvSpPr>
        <p:spPr>
          <a:xfrm>
            <a:off x="7153467" y="3787511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x052A56FF764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A503E-6C57-43E2-9B88-4476A7FD69D3}"/>
              </a:ext>
            </a:extLst>
          </p:cNvPr>
          <p:cNvSpPr txBox="1"/>
          <p:nvPr/>
        </p:nvSpPr>
        <p:spPr>
          <a:xfrm>
            <a:off x="4167005" y="3303982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* </a:t>
            </a:r>
          </a:p>
          <a:p>
            <a:r>
              <a:rPr lang="en-GB" sz="2800" dirty="0"/>
              <a:t>x052A56FF788: ad9                         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54AE7-2240-490D-ADAB-20F7BFFB5563}"/>
              </a:ext>
            </a:extLst>
          </p:cNvPr>
          <p:cNvSpPr/>
          <p:nvPr/>
        </p:nvSpPr>
        <p:spPr>
          <a:xfrm>
            <a:off x="7332761" y="5347163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x052A56FF765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E3C38-DDA4-4DBD-88B8-0D7AF5E66BC6}"/>
              </a:ext>
            </a:extLst>
          </p:cNvPr>
          <p:cNvSpPr txBox="1"/>
          <p:nvPr/>
        </p:nvSpPr>
        <p:spPr>
          <a:xfrm>
            <a:off x="4288027" y="4830166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* </a:t>
            </a:r>
          </a:p>
          <a:p>
            <a:r>
              <a:rPr lang="en-GB" sz="2800" dirty="0"/>
              <a:t>x052A56FF788: ad9                         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C3AE5B93-BA57-4A6A-8829-E565B95C1C02}"/>
              </a:ext>
            </a:extLst>
          </p:cNvPr>
          <p:cNvSpPr/>
          <p:nvPr/>
        </p:nvSpPr>
        <p:spPr>
          <a:xfrm>
            <a:off x="136599" y="1468843"/>
            <a:ext cx="3447523" cy="2359356"/>
          </a:xfrm>
          <a:prstGeom prst="wedgeEllipseCallout">
            <a:avLst>
              <a:gd name="adj1" fmla="val 156747"/>
              <a:gd name="adj2" fmla="val 50846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dirty="0"/>
              <a:t>Pointer variable </a:t>
            </a:r>
            <a:r>
              <a:rPr lang="en-US" sz="2400" b="1" dirty="0" err="1">
                <a:solidFill>
                  <a:srgbClr val="FF0000"/>
                </a:solidFill>
              </a:rPr>
              <a:t>pWord</a:t>
            </a:r>
            <a:r>
              <a:rPr lang="en-US" sz="2400" dirty="0"/>
              <a:t>  has the address of array </a:t>
            </a:r>
            <a:r>
              <a:rPr lang="en-US" sz="2400" b="1" dirty="0">
                <a:solidFill>
                  <a:srgbClr val="FF0000"/>
                </a:solidFill>
              </a:rPr>
              <a:t>word</a:t>
            </a:r>
            <a:endParaRPr lang="en-PK" sz="2400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BCD36B-81F8-4AEE-891A-8B3DED883896}"/>
              </a:ext>
            </a:extLst>
          </p:cNvPr>
          <p:cNvCxnSpPr>
            <a:cxnSpLocks/>
          </p:cNvCxnSpPr>
          <p:nvPr/>
        </p:nvCxnSpPr>
        <p:spPr>
          <a:xfrm flipH="1" flipV="1">
            <a:off x="5127603" y="2154026"/>
            <a:ext cx="2839426" cy="162121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5C603B9-B35E-4032-971A-AF71EC771E9D}"/>
              </a:ext>
            </a:extLst>
          </p:cNvPr>
          <p:cNvSpPr/>
          <p:nvPr/>
        </p:nvSpPr>
        <p:spPr>
          <a:xfrm>
            <a:off x="127000" y="5715803"/>
            <a:ext cx="6704108" cy="98848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What is the address in pointer </a:t>
            </a:r>
            <a:r>
              <a:rPr lang="en-US" sz="3200" dirty="0" err="1">
                <a:solidFill>
                  <a:srgbClr val="FF0000"/>
                </a:solidFill>
              </a:rPr>
              <a:t>pWord</a:t>
            </a:r>
            <a:r>
              <a:rPr lang="en-US" sz="3200" dirty="0"/>
              <a:t>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78604F-8AA6-4981-8271-D78441188A45}"/>
              </a:ext>
            </a:extLst>
          </p:cNvPr>
          <p:cNvSpPr/>
          <p:nvPr/>
        </p:nvSpPr>
        <p:spPr>
          <a:xfrm>
            <a:off x="7164627" y="5715803"/>
            <a:ext cx="5036945" cy="100567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Note the address of </a:t>
            </a:r>
            <a:r>
              <a:rPr lang="en-US" sz="3200" dirty="0" err="1"/>
              <a:t>pWord</a:t>
            </a:r>
            <a:endParaRPr lang="en-US" sz="3200" dirty="0"/>
          </a:p>
          <a:p>
            <a:r>
              <a:rPr lang="en-US" sz="3200" dirty="0"/>
              <a:t>Why it doesn’t change?</a:t>
            </a:r>
          </a:p>
        </p:txBody>
      </p:sp>
    </p:spTree>
    <p:extLst>
      <p:ext uri="{BB962C8B-B14F-4D97-AF65-F5344CB8AC3E}">
        <p14:creationId xmlns:p14="http://schemas.microsoft.com/office/powerpoint/2010/main" val="35843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6525"/>
            <a:ext cx="11836400" cy="667808"/>
          </a:xfrm>
        </p:spPr>
        <p:txBody>
          <a:bodyPr>
            <a:normAutofit/>
          </a:bodyPr>
          <a:lstStyle/>
          <a:p>
            <a:r>
              <a:rPr lang="en-US" sz="3600" dirty="0"/>
              <a:t>Dry Run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pWord</a:t>
            </a:r>
            <a:r>
              <a:rPr lang="en-US" dirty="0"/>
              <a:t> = (word + 4);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*</a:t>
            </a:r>
            <a:r>
              <a:rPr lang="en-US" dirty="0" err="1"/>
              <a:t>pWord</a:t>
            </a:r>
            <a:r>
              <a:rPr lang="en-US" dirty="0"/>
              <a:t> = ‘Q’;</a:t>
            </a:r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6CEEA-CC56-448A-BE92-8CB718650720}"/>
              </a:ext>
            </a:extLst>
          </p:cNvPr>
          <p:cNvSpPr txBox="1"/>
          <p:nvPr/>
        </p:nvSpPr>
        <p:spPr>
          <a:xfrm>
            <a:off x="3282603" y="781309"/>
            <a:ext cx="80711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              char </a:t>
            </a:r>
          </a:p>
          <a:p>
            <a:r>
              <a:rPr lang="en-GB" sz="2800" dirty="0"/>
              <a:t>                                      0     1      2      3      4      5</a:t>
            </a:r>
          </a:p>
          <a:p>
            <a:r>
              <a:rPr lang="en-GB" sz="2800" dirty="0"/>
              <a:t>052A56FF764 : ad3                                                 word</a:t>
            </a:r>
          </a:p>
          <a:p>
            <a:r>
              <a:rPr lang="en-GB" sz="2800" dirty="0"/>
              <a:t>                                  ad3  ad4  ad5  ad6  ad7  ad8</a:t>
            </a:r>
          </a:p>
          <a:p>
            <a:r>
              <a:rPr lang="en-GB" sz="2800" dirty="0"/>
              <a:t>                052A56FF764   765  766  767  768   769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0CB7F-F2C2-419D-90D3-C8BDC4CC86E1}"/>
              </a:ext>
            </a:extLst>
          </p:cNvPr>
          <p:cNvSpPr/>
          <p:nvPr/>
        </p:nvSpPr>
        <p:spPr>
          <a:xfrm>
            <a:off x="6202985" y="1698214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3EB76-406E-4D66-A2F9-B4C7433466E6}"/>
              </a:ext>
            </a:extLst>
          </p:cNvPr>
          <p:cNvSpPr/>
          <p:nvPr/>
        </p:nvSpPr>
        <p:spPr>
          <a:xfrm>
            <a:off x="6831107" y="1698214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‘h’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6ADE3-A8FF-46BE-BBBE-5E48F68601A4}"/>
              </a:ext>
            </a:extLst>
          </p:cNvPr>
          <p:cNvSpPr/>
          <p:nvPr/>
        </p:nvSpPr>
        <p:spPr>
          <a:xfrm>
            <a:off x="9390680" y="1694025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44E2CB-0C59-4549-B5C3-DD24CE8E3CA9}"/>
              </a:ext>
            </a:extLst>
          </p:cNvPr>
          <p:cNvSpPr/>
          <p:nvPr/>
        </p:nvSpPr>
        <p:spPr>
          <a:xfrm>
            <a:off x="7471486" y="1689250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64CB85-1C37-4E84-B388-7586FE9099BD}"/>
              </a:ext>
            </a:extLst>
          </p:cNvPr>
          <p:cNvSpPr/>
          <p:nvPr/>
        </p:nvSpPr>
        <p:spPr>
          <a:xfrm>
            <a:off x="8099608" y="1689250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B7320D-D630-43C9-916F-46A64AB5BB5C}"/>
              </a:ext>
            </a:extLst>
          </p:cNvPr>
          <p:cNvSpPr/>
          <p:nvPr/>
        </p:nvSpPr>
        <p:spPr>
          <a:xfrm>
            <a:off x="8745820" y="1698214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‘d’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96266E-1AD7-43CE-AABF-CFF9B5F358E8}"/>
              </a:ext>
            </a:extLst>
          </p:cNvPr>
          <p:cNvSpPr/>
          <p:nvPr/>
        </p:nvSpPr>
        <p:spPr>
          <a:xfrm>
            <a:off x="7153467" y="3787511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x052A56FF768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A503E-6C57-43E2-9B88-4476A7FD69D3}"/>
              </a:ext>
            </a:extLst>
          </p:cNvPr>
          <p:cNvSpPr txBox="1"/>
          <p:nvPr/>
        </p:nvSpPr>
        <p:spPr>
          <a:xfrm>
            <a:off x="4179261" y="3285957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* </a:t>
            </a:r>
          </a:p>
          <a:p>
            <a:r>
              <a:rPr lang="en-GB" sz="2800" dirty="0"/>
              <a:t>x052A56FF788: ad9                         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54AE7-2240-490D-ADAB-20F7BFFB5563}"/>
              </a:ext>
            </a:extLst>
          </p:cNvPr>
          <p:cNvSpPr/>
          <p:nvPr/>
        </p:nvSpPr>
        <p:spPr>
          <a:xfrm>
            <a:off x="7332761" y="5347163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‘Q’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E3C38-DDA4-4DBD-88B8-0D7AF5E66BC6}"/>
              </a:ext>
            </a:extLst>
          </p:cNvPr>
          <p:cNvSpPr txBox="1"/>
          <p:nvPr/>
        </p:nvSpPr>
        <p:spPr>
          <a:xfrm>
            <a:off x="4296031" y="4854634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</a:t>
            </a:r>
          </a:p>
          <a:p>
            <a:r>
              <a:rPr lang="en-GB" sz="2800" dirty="0"/>
              <a:t>x052A56FF768: ad7                         *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C773B5-0E0E-4EDA-A93B-C526DDD3E542}"/>
              </a:ext>
            </a:extLst>
          </p:cNvPr>
          <p:cNvSpPr/>
          <p:nvPr/>
        </p:nvSpPr>
        <p:spPr>
          <a:xfrm>
            <a:off x="127000" y="4217058"/>
            <a:ext cx="6704108" cy="71835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What is the address in pointer </a:t>
            </a:r>
            <a:r>
              <a:rPr lang="en-US" sz="3200" dirty="0" err="1">
                <a:solidFill>
                  <a:srgbClr val="FF0000"/>
                </a:solidFill>
              </a:rPr>
              <a:t>pWord</a:t>
            </a:r>
            <a:r>
              <a:rPr lang="en-US" sz="3200" dirty="0"/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05587B-5F1B-42F9-9D9C-8B369BBA1832}"/>
              </a:ext>
            </a:extLst>
          </p:cNvPr>
          <p:cNvSpPr/>
          <p:nvPr/>
        </p:nvSpPr>
        <p:spPr>
          <a:xfrm>
            <a:off x="6942281" y="4224578"/>
            <a:ext cx="5249719" cy="71835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052A56FF764 +  4 = 052A56FF768</a:t>
            </a:r>
            <a:endParaRPr lang="en-US" sz="2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AC6DC0-1C75-4644-B338-A4F8F8595616}"/>
              </a:ext>
            </a:extLst>
          </p:cNvPr>
          <p:cNvSpPr/>
          <p:nvPr/>
        </p:nvSpPr>
        <p:spPr>
          <a:xfrm>
            <a:off x="238172" y="5808741"/>
            <a:ext cx="10235863" cy="71835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Why the Value at Address </a:t>
            </a:r>
            <a:r>
              <a:rPr lang="en-GB" sz="3200" dirty="0"/>
              <a:t>x052A56FF768 </a:t>
            </a:r>
            <a:r>
              <a:rPr lang="en-US" sz="3200" dirty="0"/>
              <a:t>is changed to ‘Q’?</a:t>
            </a:r>
          </a:p>
        </p:txBody>
      </p:sp>
    </p:spTree>
    <p:extLst>
      <p:ext uri="{BB962C8B-B14F-4D97-AF65-F5344CB8AC3E}">
        <p14:creationId xmlns:p14="http://schemas.microsoft.com/office/powerpoint/2010/main" val="312772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6525"/>
            <a:ext cx="11836400" cy="667808"/>
          </a:xfrm>
        </p:spPr>
        <p:txBody>
          <a:bodyPr>
            <a:normAutofit/>
          </a:bodyPr>
          <a:lstStyle/>
          <a:p>
            <a:r>
              <a:rPr lang="en-US" sz="3600" dirty="0"/>
              <a:t>Dry Run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pWord</a:t>
            </a:r>
            <a:r>
              <a:rPr lang="en-US" dirty="0"/>
              <a:t> = (word + 3);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*</a:t>
            </a:r>
            <a:r>
              <a:rPr lang="en-US" dirty="0" err="1"/>
              <a:t>pWord</a:t>
            </a:r>
            <a:r>
              <a:rPr lang="en-US" dirty="0"/>
              <a:t> = ‘Q’;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dirty="0" err="1"/>
              <a:t>pWord</a:t>
            </a:r>
            <a:r>
              <a:rPr lang="en-US" dirty="0"/>
              <a:t>[1] = ‘R’;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6CEEA-CC56-448A-BE92-8CB718650720}"/>
              </a:ext>
            </a:extLst>
          </p:cNvPr>
          <p:cNvSpPr txBox="1"/>
          <p:nvPr/>
        </p:nvSpPr>
        <p:spPr>
          <a:xfrm>
            <a:off x="3282603" y="82065"/>
            <a:ext cx="80711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              char </a:t>
            </a:r>
          </a:p>
          <a:p>
            <a:r>
              <a:rPr lang="en-GB" sz="2800" dirty="0"/>
              <a:t>                                      0     1      2      3      4      5</a:t>
            </a:r>
          </a:p>
          <a:p>
            <a:r>
              <a:rPr lang="en-GB" sz="2800" dirty="0"/>
              <a:t>052A56FF764 : ad3                                                 word</a:t>
            </a:r>
          </a:p>
          <a:p>
            <a:r>
              <a:rPr lang="en-GB" sz="2800" dirty="0"/>
              <a:t>                                  ad3  ad4  ad5  ad6  ad7  ad8</a:t>
            </a:r>
          </a:p>
          <a:p>
            <a:r>
              <a:rPr lang="en-GB" sz="2800" dirty="0"/>
              <a:t>                052A56FF764   765  766  767  768   769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0CB7F-F2C2-419D-90D3-C8BDC4CC86E1}"/>
              </a:ext>
            </a:extLst>
          </p:cNvPr>
          <p:cNvSpPr/>
          <p:nvPr/>
        </p:nvSpPr>
        <p:spPr>
          <a:xfrm>
            <a:off x="6202985" y="998970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3EB76-406E-4D66-A2F9-B4C7433466E6}"/>
              </a:ext>
            </a:extLst>
          </p:cNvPr>
          <p:cNvSpPr/>
          <p:nvPr/>
        </p:nvSpPr>
        <p:spPr>
          <a:xfrm>
            <a:off x="6831107" y="998970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‘h’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6ADE3-A8FF-46BE-BBBE-5E48F68601A4}"/>
              </a:ext>
            </a:extLst>
          </p:cNvPr>
          <p:cNvSpPr/>
          <p:nvPr/>
        </p:nvSpPr>
        <p:spPr>
          <a:xfrm>
            <a:off x="9390680" y="994781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44E2CB-0C59-4549-B5C3-DD24CE8E3CA9}"/>
              </a:ext>
            </a:extLst>
          </p:cNvPr>
          <p:cNvSpPr/>
          <p:nvPr/>
        </p:nvSpPr>
        <p:spPr>
          <a:xfrm>
            <a:off x="7471486" y="990006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64CB85-1C37-4E84-B388-7586FE9099BD}"/>
              </a:ext>
            </a:extLst>
          </p:cNvPr>
          <p:cNvSpPr/>
          <p:nvPr/>
        </p:nvSpPr>
        <p:spPr>
          <a:xfrm>
            <a:off x="8099608" y="990006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B7320D-D630-43C9-916F-46A64AB5BB5C}"/>
              </a:ext>
            </a:extLst>
          </p:cNvPr>
          <p:cNvSpPr/>
          <p:nvPr/>
        </p:nvSpPr>
        <p:spPr>
          <a:xfrm>
            <a:off x="8745820" y="998970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‘d’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96266E-1AD7-43CE-AABF-CFF9B5F358E8}"/>
              </a:ext>
            </a:extLst>
          </p:cNvPr>
          <p:cNvSpPr/>
          <p:nvPr/>
        </p:nvSpPr>
        <p:spPr>
          <a:xfrm>
            <a:off x="7153467" y="3155502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x052A56FF767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A503E-6C57-43E2-9B88-4476A7FD69D3}"/>
              </a:ext>
            </a:extLst>
          </p:cNvPr>
          <p:cNvSpPr txBox="1"/>
          <p:nvPr/>
        </p:nvSpPr>
        <p:spPr>
          <a:xfrm>
            <a:off x="4179261" y="2716057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* </a:t>
            </a:r>
          </a:p>
          <a:p>
            <a:r>
              <a:rPr lang="en-GB" sz="2800" dirty="0"/>
              <a:t>x052A56FF788: ad9                         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54AE7-2240-490D-ADAB-20F7BFFB5563}"/>
              </a:ext>
            </a:extLst>
          </p:cNvPr>
          <p:cNvSpPr/>
          <p:nvPr/>
        </p:nvSpPr>
        <p:spPr>
          <a:xfrm>
            <a:off x="7332761" y="4634472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‘Q’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E3C38-DDA4-4DBD-88B8-0D7AF5E66BC6}"/>
              </a:ext>
            </a:extLst>
          </p:cNvPr>
          <p:cNvSpPr txBox="1"/>
          <p:nvPr/>
        </p:nvSpPr>
        <p:spPr>
          <a:xfrm>
            <a:off x="4296031" y="4141943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</a:t>
            </a:r>
          </a:p>
          <a:p>
            <a:r>
              <a:rPr lang="en-GB" sz="2800" dirty="0"/>
              <a:t>x052A56FF767: ad6                         *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857905-B593-4F44-A0AB-F1EE24426FDC}"/>
              </a:ext>
            </a:extLst>
          </p:cNvPr>
          <p:cNvSpPr/>
          <p:nvPr/>
        </p:nvSpPr>
        <p:spPr>
          <a:xfrm>
            <a:off x="7350691" y="5822294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‘R’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A5AACB-EE4D-4722-BCE3-4F1A921B9524}"/>
              </a:ext>
            </a:extLst>
          </p:cNvPr>
          <p:cNvSpPr txBox="1"/>
          <p:nvPr/>
        </p:nvSpPr>
        <p:spPr>
          <a:xfrm>
            <a:off x="4296031" y="5345240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</a:t>
            </a:r>
          </a:p>
          <a:p>
            <a:r>
              <a:rPr lang="en-GB" sz="2800" dirty="0"/>
              <a:t>x052A56FF768: ad7                         *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F26188-9CFC-43DD-854A-FCFA631117A9}"/>
              </a:ext>
            </a:extLst>
          </p:cNvPr>
          <p:cNvSpPr/>
          <p:nvPr/>
        </p:nvSpPr>
        <p:spPr>
          <a:xfrm>
            <a:off x="221130" y="3777885"/>
            <a:ext cx="6704108" cy="6065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What is the address in pointer </a:t>
            </a:r>
            <a:r>
              <a:rPr lang="en-US" sz="3200" dirty="0" err="1">
                <a:solidFill>
                  <a:srgbClr val="FF0000"/>
                </a:solidFill>
              </a:rPr>
              <a:t>pWord</a:t>
            </a:r>
            <a:r>
              <a:rPr lang="en-US" sz="3200" dirty="0"/>
              <a:t>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C20888-20EC-4E67-AB39-3D13B430AF87}"/>
              </a:ext>
            </a:extLst>
          </p:cNvPr>
          <p:cNvSpPr/>
          <p:nvPr/>
        </p:nvSpPr>
        <p:spPr>
          <a:xfrm>
            <a:off x="7036411" y="3673615"/>
            <a:ext cx="5249719" cy="5616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052A56FF764 +  3 = 052A56FF767</a:t>
            </a:r>
            <a:endParaRPr lang="en-US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4A6ADD-520C-4297-83E7-B6810D560F03}"/>
              </a:ext>
            </a:extLst>
          </p:cNvPr>
          <p:cNvSpPr/>
          <p:nvPr/>
        </p:nvSpPr>
        <p:spPr>
          <a:xfrm>
            <a:off x="229347" y="6299347"/>
            <a:ext cx="5241535" cy="57024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What is the address (</a:t>
            </a:r>
            <a:r>
              <a:rPr lang="en-US" sz="2800" dirty="0" err="1"/>
              <a:t>pWord</a:t>
            </a:r>
            <a:r>
              <a:rPr lang="en-US" sz="2800" dirty="0"/>
              <a:t> + 1) 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E897AB-2822-4DE2-8272-2B7435CCA18E}"/>
              </a:ext>
            </a:extLst>
          </p:cNvPr>
          <p:cNvSpPr/>
          <p:nvPr/>
        </p:nvSpPr>
        <p:spPr>
          <a:xfrm>
            <a:off x="5597338" y="6299347"/>
            <a:ext cx="4599605" cy="5616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052A56FF767 +  1 = 052A56FF768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371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39B2-A310-44E4-8155-96E3B9C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36525"/>
            <a:ext cx="11836400" cy="667808"/>
          </a:xfrm>
        </p:spPr>
        <p:txBody>
          <a:bodyPr>
            <a:normAutofit/>
          </a:bodyPr>
          <a:lstStyle/>
          <a:p>
            <a:r>
              <a:rPr lang="en-US" sz="3600" dirty="0"/>
              <a:t>Dry Run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19C9-4B5D-4536-81A1-19C994BD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872068"/>
            <a:ext cx="11963399" cy="58494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pWord</a:t>
            </a:r>
            <a:r>
              <a:rPr lang="en-US" dirty="0"/>
              <a:t> = (word + 6);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*</a:t>
            </a:r>
            <a:r>
              <a:rPr lang="en-US" dirty="0" err="1"/>
              <a:t>pWord</a:t>
            </a:r>
            <a:r>
              <a:rPr lang="en-US" dirty="0"/>
              <a:t> = ‘Q’;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 startAt="5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59B25-0A2C-440D-8F0E-95877610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6CEEA-CC56-448A-BE92-8CB718650720}"/>
              </a:ext>
            </a:extLst>
          </p:cNvPr>
          <p:cNvSpPr txBox="1"/>
          <p:nvPr/>
        </p:nvSpPr>
        <p:spPr>
          <a:xfrm>
            <a:off x="3282603" y="82065"/>
            <a:ext cx="80711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              char </a:t>
            </a:r>
          </a:p>
          <a:p>
            <a:r>
              <a:rPr lang="en-GB" sz="2800" dirty="0"/>
              <a:t>                                      0     1      2      3      4      5</a:t>
            </a:r>
          </a:p>
          <a:p>
            <a:r>
              <a:rPr lang="en-GB" sz="2800" dirty="0"/>
              <a:t>052A56FF764 : ad3                                                 word</a:t>
            </a:r>
          </a:p>
          <a:p>
            <a:r>
              <a:rPr lang="en-GB" sz="2800" dirty="0"/>
              <a:t>                                  ad3  ad4  ad5  ad6  ad7  ad8</a:t>
            </a:r>
          </a:p>
          <a:p>
            <a:r>
              <a:rPr lang="en-GB" sz="2800" dirty="0"/>
              <a:t>                052A56FF764   765  766  767  768   769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C0CB7F-F2C2-419D-90D3-C8BDC4CC86E1}"/>
              </a:ext>
            </a:extLst>
          </p:cNvPr>
          <p:cNvSpPr/>
          <p:nvPr/>
        </p:nvSpPr>
        <p:spPr>
          <a:xfrm>
            <a:off x="6202985" y="998970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3EB76-406E-4D66-A2F9-B4C7433466E6}"/>
              </a:ext>
            </a:extLst>
          </p:cNvPr>
          <p:cNvSpPr/>
          <p:nvPr/>
        </p:nvSpPr>
        <p:spPr>
          <a:xfrm>
            <a:off x="6831107" y="998970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‘h’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6ADE3-A8FF-46BE-BBBE-5E48F68601A4}"/>
              </a:ext>
            </a:extLst>
          </p:cNvPr>
          <p:cNvSpPr/>
          <p:nvPr/>
        </p:nvSpPr>
        <p:spPr>
          <a:xfrm>
            <a:off x="9390680" y="994781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44E2CB-0C59-4549-B5C3-DD24CE8E3CA9}"/>
              </a:ext>
            </a:extLst>
          </p:cNvPr>
          <p:cNvSpPr/>
          <p:nvPr/>
        </p:nvSpPr>
        <p:spPr>
          <a:xfrm>
            <a:off x="7471486" y="990006"/>
            <a:ext cx="62812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‘m’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64CB85-1C37-4E84-B388-7586FE9099BD}"/>
              </a:ext>
            </a:extLst>
          </p:cNvPr>
          <p:cNvSpPr/>
          <p:nvPr/>
        </p:nvSpPr>
        <p:spPr>
          <a:xfrm>
            <a:off x="8099608" y="990006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‘a’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B7320D-D630-43C9-916F-46A64AB5BB5C}"/>
              </a:ext>
            </a:extLst>
          </p:cNvPr>
          <p:cNvSpPr/>
          <p:nvPr/>
        </p:nvSpPr>
        <p:spPr>
          <a:xfrm>
            <a:off x="8745820" y="998970"/>
            <a:ext cx="62812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‘d’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96266E-1AD7-43CE-AABF-CFF9B5F358E8}"/>
              </a:ext>
            </a:extLst>
          </p:cNvPr>
          <p:cNvSpPr/>
          <p:nvPr/>
        </p:nvSpPr>
        <p:spPr>
          <a:xfrm>
            <a:off x="7153467" y="3155502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x052A56FF770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A503E-6C57-43E2-9B88-4476A7FD69D3}"/>
              </a:ext>
            </a:extLst>
          </p:cNvPr>
          <p:cNvSpPr txBox="1"/>
          <p:nvPr/>
        </p:nvSpPr>
        <p:spPr>
          <a:xfrm>
            <a:off x="4167005" y="2635027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* </a:t>
            </a:r>
          </a:p>
          <a:p>
            <a:r>
              <a:rPr lang="en-GB" sz="2800" dirty="0"/>
              <a:t>x052A56FF788: ad9                         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54AE7-2240-490D-ADAB-20F7BFFB5563}"/>
              </a:ext>
            </a:extLst>
          </p:cNvPr>
          <p:cNvSpPr/>
          <p:nvPr/>
        </p:nvSpPr>
        <p:spPr>
          <a:xfrm>
            <a:off x="7332761" y="4634472"/>
            <a:ext cx="174336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‘Q’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E3C38-DDA4-4DBD-88B8-0D7AF5E66BC6}"/>
              </a:ext>
            </a:extLst>
          </p:cNvPr>
          <p:cNvSpPr txBox="1"/>
          <p:nvPr/>
        </p:nvSpPr>
        <p:spPr>
          <a:xfrm>
            <a:off x="4296031" y="4141943"/>
            <a:ext cx="658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                                      char </a:t>
            </a:r>
          </a:p>
          <a:p>
            <a:r>
              <a:rPr lang="en-GB" sz="2800" b="1" dirty="0">
                <a:solidFill>
                  <a:srgbClr val="FF0000"/>
                </a:solidFill>
              </a:rPr>
              <a:t>x052A56FF770</a:t>
            </a:r>
            <a:r>
              <a:rPr lang="en-GB" sz="2800" dirty="0"/>
              <a:t>                                  *</a:t>
            </a:r>
            <a:r>
              <a:rPr lang="en-GB" sz="2800" dirty="0" err="1"/>
              <a:t>pWord</a:t>
            </a:r>
            <a:endParaRPr lang="en-GB" sz="2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F26188-9CFC-43DD-854A-FCFA631117A9}"/>
              </a:ext>
            </a:extLst>
          </p:cNvPr>
          <p:cNvSpPr/>
          <p:nvPr/>
        </p:nvSpPr>
        <p:spPr>
          <a:xfrm>
            <a:off x="221130" y="3777885"/>
            <a:ext cx="6704108" cy="6065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What is the address in pointer </a:t>
            </a:r>
            <a:r>
              <a:rPr lang="en-US" sz="3200" dirty="0" err="1">
                <a:solidFill>
                  <a:srgbClr val="FF0000"/>
                </a:solidFill>
              </a:rPr>
              <a:t>pWord</a:t>
            </a:r>
            <a:r>
              <a:rPr lang="en-US" sz="3200" dirty="0"/>
              <a:t>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C20888-20EC-4E67-AB39-3D13B430AF87}"/>
              </a:ext>
            </a:extLst>
          </p:cNvPr>
          <p:cNvSpPr/>
          <p:nvPr/>
        </p:nvSpPr>
        <p:spPr>
          <a:xfrm>
            <a:off x="7036411" y="3673615"/>
            <a:ext cx="5155589" cy="56163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052A56FF764 +  6 = 052A56FF770</a:t>
            </a:r>
            <a:endParaRPr lang="en-US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4A6ADD-520C-4297-83E7-B6810D560F03}"/>
              </a:ext>
            </a:extLst>
          </p:cNvPr>
          <p:cNvSpPr/>
          <p:nvPr/>
        </p:nvSpPr>
        <p:spPr>
          <a:xfrm>
            <a:off x="127000" y="5548377"/>
            <a:ext cx="5241535" cy="5702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Why this line is a </a:t>
            </a:r>
            <a:r>
              <a:rPr lang="en-US" sz="2800" b="1" dirty="0"/>
              <a:t>run-time error?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5105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0200-7027-45FA-83C3-9673B07E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7" y="136525"/>
            <a:ext cx="10515600" cy="445366"/>
          </a:xfrm>
        </p:spPr>
        <p:txBody>
          <a:bodyPr>
            <a:normAutofit fontScale="90000"/>
          </a:bodyPr>
          <a:lstStyle/>
          <a:p>
            <a:r>
              <a:rPr lang="en-US" dirty="0"/>
              <a:t>Learn Your Pointers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7409-9AA9-4068-945B-1CDB189F0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16429"/>
            <a:ext cx="12017829" cy="590504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Pointers are Variables that Hold Addresses of Other Variables</a:t>
            </a:r>
          </a:p>
          <a:p>
            <a:pPr lvl="1"/>
            <a:r>
              <a:rPr lang="en-US" dirty="0"/>
              <a:t>A Pointer Hold A Single Address: A Positive Integer</a:t>
            </a:r>
          </a:p>
          <a:p>
            <a:pPr lvl="1"/>
            <a:r>
              <a:rPr lang="en-US" dirty="0"/>
              <a:t>Any Pointer Only Have a Single Address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Following Ways a Pointer Can be Assigned An Address:</a:t>
            </a:r>
          </a:p>
          <a:p>
            <a:pPr marL="914400" lvl="1" indent="-457200">
              <a:buAutoNum type="alphaLcPeriod"/>
            </a:pPr>
            <a:r>
              <a:rPr lang="en-US" dirty="0"/>
              <a:t>Of an Existing Variable using &amp; Operator</a:t>
            </a:r>
          </a:p>
          <a:p>
            <a:pPr lvl="2"/>
            <a:r>
              <a:rPr lang="en-US" dirty="0"/>
              <a:t>int a = 10;</a:t>
            </a:r>
          </a:p>
          <a:p>
            <a:pPr lvl="2"/>
            <a:r>
              <a:rPr lang="en-US" dirty="0"/>
              <a:t>int * </a:t>
            </a:r>
            <a:r>
              <a:rPr lang="en-US" dirty="0" err="1"/>
              <a:t>ip</a:t>
            </a:r>
            <a:r>
              <a:rPr lang="en-US" dirty="0"/>
              <a:t> = &amp; a;</a:t>
            </a:r>
          </a:p>
          <a:p>
            <a:pPr marL="914400" lvl="1" indent="-457200">
              <a:buAutoNum type="alphaLcPeriod"/>
            </a:pPr>
            <a:r>
              <a:rPr lang="en-US" dirty="0"/>
              <a:t>Of an Existing Array Allocated in Memory using the Array or an Offset from the Address of the Array</a:t>
            </a:r>
          </a:p>
          <a:p>
            <a:pPr lvl="2"/>
            <a:r>
              <a:rPr lang="en-US" dirty="0"/>
              <a:t>int array[5] = {1,2, 3, 4 ,5 5};</a:t>
            </a:r>
          </a:p>
          <a:p>
            <a:pPr lvl="2"/>
            <a:r>
              <a:rPr lang="en-US" dirty="0"/>
              <a:t>int * </a:t>
            </a:r>
            <a:r>
              <a:rPr lang="en-US" dirty="0" err="1"/>
              <a:t>pArray</a:t>
            </a:r>
            <a:r>
              <a:rPr lang="en-US" dirty="0"/>
              <a:t> = array;</a:t>
            </a:r>
          </a:p>
          <a:p>
            <a:pPr lvl="2"/>
            <a:r>
              <a:rPr lang="en-US" dirty="0"/>
              <a:t>Or</a:t>
            </a:r>
          </a:p>
          <a:p>
            <a:pPr lvl="2"/>
            <a:r>
              <a:rPr lang="en-US" dirty="0"/>
              <a:t>int </a:t>
            </a:r>
            <a:r>
              <a:rPr lang="en-US" dirty="0" err="1"/>
              <a:t>pArray</a:t>
            </a:r>
            <a:r>
              <a:rPr lang="en-US" dirty="0"/>
              <a:t> = (array + 2); // make sure that (array + 2) is within the bounds of the array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Never Assign an Integer value to a Pointer, Always use One of the Above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Never Assign An Illegal or Undesirable Address to a Pointer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Pointers are Just Addresses E.G. Positive Integers</a:t>
            </a:r>
          </a:p>
          <a:p>
            <a:pPr lvl="1"/>
            <a:r>
              <a:rPr lang="en-US" dirty="0"/>
              <a:t>A Pointer can be Added, Multiplied or Divided by An Integer</a:t>
            </a:r>
          </a:p>
          <a:p>
            <a:pPr lvl="1"/>
            <a:r>
              <a:rPr lang="en-US" dirty="0"/>
              <a:t>But Make Sure that A Pointer Does Not Get An Illegal or Undesirable Address</a:t>
            </a:r>
          </a:p>
          <a:p>
            <a:pPr lvl="1"/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914400" lvl="1" indent="-457200">
              <a:buAutoNum type="alphaLcPeriod"/>
            </a:pPr>
            <a:endParaRPr lang="en-US" dirty="0"/>
          </a:p>
          <a:p>
            <a:pPr marL="914400" lvl="1" indent="-457200">
              <a:buAutoNum type="alphaLcPeriod"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8F811-FF8D-43BF-8BB0-CF32AC92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7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7" y="0"/>
            <a:ext cx="10515600" cy="997527"/>
          </a:xfrm>
        </p:spPr>
        <p:txBody>
          <a:bodyPr/>
          <a:lstStyle/>
          <a:p>
            <a:r>
              <a:rPr lang="en-US" dirty="0"/>
              <a:t>Know Your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831273"/>
            <a:ext cx="11679382" cy="53456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Always Draw And Know The Memory Allocation/Use Of A Pointer</a:t>
            </a:r>
          </a:p>
          <a:p>
            <a:pPr lvl="1"/>
            <a:r>
              <a:rPr lang="en-US" dirty="0"/>
              <a:t>Int a = 10; // memory for 4 bytes or 16 bits allocated to a an int, with an initial value of 10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int * </a:t>
            </a:r>
            <a:r>
              <a:rPr lang="en-US" dirty="0" err="1"/>
              <a:t>ip</a:t>
            </a:r>
            <a:r>
              <a:rPr lang="en-US" dirty="0"/>
              <a:t>; ; // memory for 8 bytes or 64 bits (size of Data of CPU) allocated to </a:t>
            </a:r>
            <a:r>
              <a:rPr lang="en-US" dirty="0" err="1"/>
              <a:t>ip</a:t>
            </a:r>
            <a:r>
              <a:rPr lang="en-US" dirty="0"/>
              <a:t> that will hold the address of an int variable. But currently garbage as no initial value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 err="1"/>
              <a:t>ip</a:t>
            </a:r>
            <a:r>
              <a:rPr lang="en-US" dirty="0"/>
              <a:t> = &amp; a; // address of a is stored in the int pointer variable </a:t>
            </a:r>
            <a:r>
              <a:rPr lang="en-US" dirty="0" err="1"/>
              <a:t>ip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*</a:t>
            </a:r>
            <a:r>
              <a:rPr lang="en-US" dirty="0" err="1"/>
              <a:t>ip</a:t>
            </a:r>
            <a:r>
              <a:rPr lang="en-US" dirty="0"/>
              <a:t> = 20; // resolve the address stored in </a:t>
            </a:r>
            <a:r>
              <a:rPr lang="en-US" dirty="0" err="1"/>
              <a:t>ip</a:t>
            </a:r>
            <a:r>
              <a:rPr lang="en-US" dirty="0"/>
              <a:t> and the change the value at that address to 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59527" y="2092037"/>
            <a:ext cx="11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a = 10;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4255" y="2092037"/>
            <a:ext cx="307570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051" y="2015093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a: 0x246ff04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5668" y="3782290"/>
            <a:ext cx="89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* </a:t>
            </a:r>
            <a:r>
              <a:rPr lang="en-US" dirty="0" err="1"/>
              <a:t>ip</a:t>
            </a:r>
            <a:r>
              <a:rPr lang="en-US" dirty="0"/>
              <a:t>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396" y="3782290"/>
            <a:ext cx="307570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2192" y="3705346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ip</a:t>
            </a:r>
            <a:r>
              <a:rPr lang="en-GB" sz="2800" dirty="0"/>
              <a:t>: 0x246ff08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4942" y="5001482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ip</a:t>
            </a:r>
            <a:r>
              <a:rPr lang="en-US" dirty="0"/>
              <a:t> = &amp; a;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9670" y="5001482"/>
            <a:ext cx="307570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0x246ff04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511466" y="4924538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ip</a:t>
            </a:r>
            <a:r>
              <a:rPr lang="en-GB" sz="2800" dirty="0"/>
              <a:t>: 0x246ff08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6655" y="5957463"/>
            <a:ext cx="307570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8451" y="5880519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a: 0x246ff04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391891" y="5209309"/>
            <a:ext cx="332509" cy="942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47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7" grpId="0" animBg="1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914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US" dirty="0"/>
              <a:t>Pointer is a variable that stores address of  memory of a particular data type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44209"/>
            <a:ext cx="2973616" cy="37560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a = 10;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float f = 20.0;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double d = 3.33;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char c = 'a';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68669" y="1218767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0x246ff04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6514" y="1291770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  <a:endParaRPr lang="en-GB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975925" y="1835624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0x246ff00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3770" y="1908627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20.0</a:t>
            </a:r>
            <a:endParaRPr lang="en-GB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004957" y="2546825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0x246fef8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2802" y="2619828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3.33</a:t>
            </a:r>
            <a:endParaRPr lang="en-GB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004954" y="3170936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0x246fef7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2799" y="3243939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‘a’</a:t>
            </a:r>
            <a:endParaRPr lang="en-GB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554685" y="3716587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2514" y="3793531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0x246ff04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1941" y="4536644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9770" y="4613588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0x246ff00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0973" y="5334930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48802" y="5411874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0x246fef8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0970" y="6089666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8799" y="6166610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0x246fef7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4474028" y="3905659"/>
            <a:ext cx="3080657" cy="2905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ip</a:t>
            </a:r>
            <a:r>
              <a:rPr lang="en-US" dirty="0"/>
              <a:t> = &amp; a;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float *</a:t>
            </a:r>
            <a:r>
              <a:rPr lang="en-US" dirty="0" err="1"/>
              <a:t>fp</a:t>
            </a:r>
            <a:r>
              <a:rPr lang="en-US" dirty="0"/>
              <a:t> = &amp;f;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double *</a:t>
            </a:r>
            <a:r>
              <a:rPr lang="en-US" dirty="0" err="1"/>
              <a:t>dp</a:t>
            </a:r>
            <a:r>
              <a:rPr lang="en-US" dirty="0"/>
              <a:t> = &amp; d;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char *</a:t>
            </a:r>
            <a:r>
              <a:rPr lang="en-US" dirty="0" err="1"/>
              <a:t>cp</a:t>
            </a:r>
            <a:r>
              <a:rPr lang="en-US" dirty="0"/>
              <a:t> = &amp; c;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5" name="Arc 24"/>
          <p:cNvSpPr/>
          <p:nvPr/>
        </p:nvSpPr>
        <p:spPr>
          <a:xfrm>
            <a:off x="6328229" y="1476436"/>
            <a:ext cx="5355772" cy="2620607"/>
          </a:xfrm>
          <a:prstGeom prst="arc">
            <a:avLst>
              <a:gd name="adj1" fmla="val 16200000"/>
              <a:gd name="adj2" fmla="val 2127051"/>
            </a:avLst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c 25"/>
          <p:cNvSpPr/>
          <p:nvPr/>
        </p:nvSpPr>
        <p:spPr>
          <a:xfrm>
            <a:off x="6262914" y="2180379"/>
            <a:ext cx="5348513" cy="2638437"/>
          </a:xfrm>
          <a:prstGeom prst="arc">
            <a:avLst>
              <a:gd name="adj1" fmla="val 16200000"/>
              <a:gd name="adj2" fmla="val 2736350"/>
            </a:avLst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 26"/>
          <p:cNvSpPr/>
          <p:nvPr/>
        </p:nvSpPr>
        <p:spPr>
          <a:xfrm>
            <a:off x="6088742" y="2877065"/>
            <a:ext cx="5265057" cy="2696487"/>
          </a:xfrm>
          <a:prstGeom prst="arc">
            <a:avLst>
              <a:gd name="adj1" fmla="val 16200000"/>
              <a:gd name="adj2" fmla="val 3016742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/>
          <p:cNvSpPr/>
          <p:nvPr/>
        </p:nvSpPr>
        <p:spPr>
          <a:xfrm>
            <a:off x="6480629" y="3436491"/>
            <a:ext cx="5203372" cy="2858834"/>
          </a:xfrm>
          <a:prstGeom prst="arc">
            <a:avLst>
              <a:gd name="adj1" fmla="val 16148409"/>
              <a:gd name="adj2" fmla="val 3541974"/>
            </a:avLst>
          </a:prstGeom>
          <a:ln w="57150">
            <a:solidFill>
              <a:schemeClr val="accent4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4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914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US" dirty="0"/>
              <a:t>Pointer is a variable that stores address of  memory of a particular data type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44209"/>
            <a:ext cx="2973616" cy="37560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a = 10;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float f = 20.0;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double d = 3.33;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char c = 'a';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68669" y="1218767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0x246ff04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6514" y="1291770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  <a:endParaRPr lang="en-GB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975925" y="1835624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0x246ff00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3770" y="1908627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20.0</a:t>
            </a:r>
            <a:endParaRPr lang="en-GB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004957" y="2546825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0x246fef8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2802" y="2619828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3.33</a:t>
            </a:r>
            <a:endParaRPr lang="en-GB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004954" y="3170936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0x246fef7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2799" y="3243939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‘a’</a:t>
            </a:r>
            <a:endParaRPr lang="en-GB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554685" y="3716587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2514" y="3793531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0x246ff04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1941" y="4536644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9770" y="4613588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0x246ff00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0973" y="5334930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48802" y="5411874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0x246fef8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0970" y="6089666"/>
            <a:ext cx="27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0x246fee0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8799" y="6166610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0x246fef7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4474028" y="3905659"/>
            <a:ext cx="3080657" cy="2905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ip</a:t>
            </a:r>
            <a:r>
              <a:rPr lang="en-US" dirty="0"/>
              <a:t> = &amp; a;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float *</a:t>
            </a:r>
            <a:r>
              <a:rPr lang="en-US" dirty="0" err="1"/>
              <a:t>fp</a:t>
            </a:r>
            <a:r>
              <a:rPr lang="en-US" dirty="0"/>
              <a:t> = &amp;f;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double *</a:t>
            </a:r>
            <a:r>
              <a:rPr lang="en-US" dirty="0" err="1"/>
              <a:t>dp</a:t>
            </a:r>
            <a:r>
              <a:rPr lang="en-US" dirty="0"/>
              <a:t> = &amp; d;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char *</a:t>
            </a:r>
            <a:r>
              <a:rPr lang="en-US" dirty="0" err="1"/>
              <a:t>cp</a:t>
            </a:r>
            <a:r>
              <a:rPr lang="en-US" dirty="0"/>
              <a:t> = &amp; c;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5" name="Arc 24"/>
          <p:cNvSpPr/>
          <p:nvPr/>
        </p:nvSpPr>
        <p:spPr>
          <a:xfrm>
            <a:off x="6328229" y="1476436"/>
            <a:ext cx="5355772" cy="2620607"/>
          </a:xfrm>
          <a:prstGeom prst="arc">
            <a:avLst>
              <a:gd name="adj1" fmla="val 16200000"/>
              <a:gd name="adj2" fmla="val 2127051"/>
            </a:avLst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c 25"/>
          <p:cNvSpPr/>
          <p:nvPr/>
        </p:nvSpPr>
        <p:spPr>
          <a:xfrm>
            <a:off x="6262914" y="2180379"/>
            <a:ext cx="5348513" cy="2638437"/>
          </a:xfrm>
          <a:prstGeom prst="arc">
            <a:avLst>
              <a:gd name="adj1" fmla="val 16200000"/>
              <a:gd name="adj2" fmla="val 2736350"/>
            </a:avLst>
          </a:prstGeom>
          <a:ln w="571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 26"/>
          <p:cNvSpPr/>
          <p:nvPr/>
        </p:nvSpPr>
        <p:spPr>
          <a:xfrm>
            <a:off x="6088742" y="2877065"/>
            <a:ext cx="5265057" cy="2696487"/>
          </a:xfrm>
          <a:prstGeom prst="arc">
            <a:avLst>
              <a:gd name="adj1" fmla="val 16200000"/>
              <a:gd name="adj2" fmla="val 3016742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/>
          <p:cNvSpPr/>
          <p:nvPr/>
        </p:nvSpPr>
        <p:spPr>
          <a:xfrm>
            <a:off x="6480629" y="3436491"/>
            <a:ext cx="5203372" cy="2858834"/>
          </a:xfrm>
          <a:prstGeom prst="arc">
            <a:avLst>
              <a:gd name="adj1" fmla="val 16148409"/>
              <a:gd name="adj2" fmla="val 3541974"/>
            </a:avLst>
          </a:prstGeom>
          <a:ln w="57150">
            <a:solidFill>
              <a:schemeClr val="accent4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159656" y="4097043"/>
            <a:ext cx="3080657" cy="2905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*</a:t>
            </a:r>
            <a:r>
              <a:rPr lang="en-US" dirty="0" err="1"/>
              <a:t>ip</a:t>
            </a:r>
            <a:r>
              <a:rPr lang="en-US" dirty="0"/>
              <a:t> = 100;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*</a:t>
            </a:r>
            <a:r>
              <a:rPr lang="en-US" dirty="0" err="1"/>
              <a:t>fp</a:t>
            </a:r>
            <a:r>
              <a:rPr lang="en-US" dirty="0"/>
              <a:t> = 55.76;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*</a:t>
            </a:r>
            <a:r>
              <a:rPr lang="en-US" dirty="0" err="1"/>
              <a:t>dp</a:t>
            </a:r>
            <a:r>
              <a:rPr lang="en-US" dirty="0"/>
              <a:t> = 89.21;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char *</a:t>
            </a:r>
            <a:r>
              <a:rPr lang="en-US" dirty="0" err="1"/>
              <a:t>cp</a:t>
            </a:r>
            <a:r>
              <a:rPr lang="en-US" dirty="0"/>
              <a:t> = ‘B’;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30" name="Rectangle 29"/>
          <p:cNvSpPr/>
          <p:nvPr/>
        </p:nvSpPr>
        <p:spPr>
          <a:xfrm>
            <a:off x="4561110" y="1268749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100</a:t>
            </a:r>
            <a:endParaRPr lang="en-GB" sz="2400" dirty="0"/>
          </a:p>
        </p:txBody>
      </p:sp>
      <p:sp>
        <p:nvSpPr>
          <p:cNvPr id="31" name="Rectangle 30"/>
          <p:cNvSpPr/>
          <p:nvPr/>
        </p:nvSpPr>
        <p:spPr>
          <a:xfrm>
            <a:off x="4569280" y="1899660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55.76</a:t>
            </a:r>
            <a:endParaRPr lang="en-GB" sz="2400" dirty="0"/>
          </a:p>
        </p:txBody>
      </p:sp>
      <p:sp>
        <p:nvSpPr>
          <p:cNvPr id="32" name="Rectangle 31"/>
          <p:cNvSpPr/>
          <p:nvPr/>
        </p:nvSpPr>
        <p:spPr>
          <a:xfrm>
            <a:off x="4618259" y="2613821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89.21</a:t>
            </a:r>
            <a:endParaRPr lang="en-GB" sz="2400" dirty="0"/>
          </a:p>
        </p:txBody>
      </p:sp>
      <p:sp>
        <p:nvSpPr>
          <p:cNvPr id="33" name="Rectangle 32"/>
          <p:cNvSpPr/>
          <p:nvPr/>
        </p:nvSpPr>
        <p:spPr>
          <a:xfrm>
            <a:off x="4593767" y="3250271"/>
            <a:ext cx="216262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‘B’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5832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DAA32A-5B40-4085-A9A8-34894590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0"/>
            <a:ext cx="11157030" cy="640715"/>
          </a:xfrm>
        </p:spPr>
        <p:txBody>
          <a:bodyPr>
            <a:noAutofit/>
          </a:bodyPr>
          <a:lstStyle/>
          <a:p>
            <a:r>
              <a:rPr lang="en-US" sz="3600" b="1" dirty="0"/>
              <a:t>Pointer Basics: Arrays And Pointers</a:t>
            </a:r>
            <a:endParaRPr lang="en-PK" sz="36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06D33C5-ACCC-4532-A2A1-1244FDDDC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469" y="548640"/>
            <a:ext cx="11752980" cy="63093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Arrays are Constant Pointers:</a:t>
            </a:r>
          </a:p>
          <a:p>
            <a:pPr lvl="1"/>
            <a:r>
              <a:rPr lang="en-US" dirty="0"/>
              <a:t>Assigned an Address Once, During Declaration Only</a:t>
            </a:r>
          </a:p>
          <a:p>
            <a:pPr lvl="1"/>
            <a:r>
              <a:rPr lang="en-US" dirty="0"/>
              <a:t>Can’t Change the Address Stored in Array </a:t>
            </a:r>
          </a:p>
          <a:p>
            <a:r>
              <a:rPr lang="en-US" dirty="0"/>
              <a:t>Pointers are Variables:</a:t>
            </a:r>
          </a:p>
          <a:p>
            <a:pPr lvl="1"/>
            <a:r>
              <a:rPr lang="en-US" dirty="0"/>
              <a:t>Can be Assigned an Address Any Time</a:t>
            </a:r>
          </a:p>
          <a:p>
            <a:pPr lvl="1"/>
            <a:r>
              <a:rPr lang="en-US" dirty="0"/>
              <a:t>Can Change the Address Stored in a Pointer</a:t>
            </a:r>
          </a:p>
          <a:p>
            <a:r>
              <a:rPr lang="en-US" dirty="0"/>
              <a:t>Pointer Can be Assigned any Address of an Array:</a:t>
            </a:r>
          </a:p>
          <a:p>
            <a:pPr marL="457200" lvl="1" indent="0">
              <a:buNone/>
            </a:pPr>
            <a:r>
              <a:rPr lang="en-US" dirty="0"/>
              <a:t>char </a:t>
            </a:r>
            <a:r>
              <a:rPr lang="en-US" dirty="0" err="1"/>
              <a:t>cstring</a:t>
            </a:r>
            <a:r>
              <a:rPr lang="en-US" dirty="0"/>
              <a:t>[] = “CSTRING”;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char * </a:t>
            </a:r>
            <a:r>
              <a:rPr lang="en-US" dirty="0" err="1"/>
              <a:t>cpA</a:t>
            </a:r>
            <a:r>
              <a:rPr lang="en-US" dirty="0"/>
              <a:t> = </a:t>
            </a:r>
            <a:r>
              <a:rPr lang="en-US" dirty="0" err="1"/>
              <a:t>cstring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char * </a:t>
            </a:r>
            <a:r>
              <a:rPr lang="en-US" dirty="0" err="1"/>
              <a:t>cpB</a:t>
            </a:r>
            <a:r>
              <a:rPr lang="en-US" dirty="0"/>
              <a:t> = </a:t>
            </a:r>
            <a:r>
              <a:rPr lang="en-US" dirty="0" err="1"/>
              <a:t>cstring</a:t>
            </a:r>
            <a:r>
              <a:rPr lang="en-US" dirty="0"/>
              <a:t> + 2;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char * </a:t>
            </a:r>
            <a:r>
              <a:rPr lang="en-US" dirty="0" err="1"/>
              <a:t>cpC</a:t>
            </a:r>
            <a:r>
              <a:rPr lang="en-US" dirty="0"/>
              <a:t> = </a:t>
            </a:r>
            <a:r>
              <a:rPr lang="en-US" dirty="0" err="1"/>
              <a:t>cstring</a:t>
            </a:r>
            <a:r>
              <a:rPr lang="en-US" dirty="0"/>
              <a:t> + 5;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char * </a:t>
            </a:r>
            <a:r>
              <a:rPr lang="en-US" dirty="0" err="1"/>
              <a:t>cpD</a:t>
            </a:r>
            <a:r>
              <a:rPr lang="en-US" dirty="0"/>
              <a:t> = </a:t>
            </a:r>
            <a:r>
              <a:rPr lang="en-US" dirty="0" err="1"/>
              <a:t>cstring</a:t>
            </a:r>
            <a:r>
              <a:rPr lang="en-US" dirty="0"/>
              <a:t> + 7;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char * </a:t>
            </a:r>
            <a:r>
              <a:rPr lang="en-US" b="1" dirty="0" err="1"/>
              <a:t>cpE</a:t>
            </a:r>
            <a:r>
              <a:rPr lang="en-US" b="1" dirty="0"/>
              <a:t> = </a:t>
            </a:r>
            <a:r>
              <a:rPr lang="en-US" b="1" dirty="0" err="1"/>
              <a:t>cstring</a:t>
            </a:r>
            <a:r>
              <a:rPr lang="en-US" b="1" dirty="0"/>
              <a:t> + 9;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endParaRPr lang="en-PK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268FB3-DCFA-45D8-B713-545A06DB43CC}"/>
              </a:ext>
            </a:extLst>
          </p:cNvPr>
          <p:cNvSpPr/>
          <p:nvPr/>
        </p:nvSpPr>
        <p:spPr>
          <a:xfrm>
            <a:off x="9683894" y="3233557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‘G’</a:t>
            </a:r>
            <a:endParaRPr lang="en-PK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D94066-0776-46C7-9E38-B1F7649A19FA}"/>
              </a:ext>
            </a:extLst>
          </p:cNvPr>
          <p:cNvSpPr/>
          <p:nvPr/>
        </p:nvSpPr>
        <p:spPr>
          <a:xfrm>
            <a:off x="5567873" y="3244012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PK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310CAB-9103-4BC4-A83F-546B8FB9FECB}"/>
              </a:ext>
            </a:extLst>
          </p:cNvPr>
          <p:cNvSpPr/>
          <p:nvPr/>
        </p:nvSpPr>
        <p:spPr>
          <a:xfrm>
            <a:off x="6400679" y="3249799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‘T</a:t>
            </a:r>
            <a:endParaRPr lang="en-PK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925030-83FB-4178-B521-566CFC8378DB}"/>
              </a:ext>
            </a:extLst>
          </p:cNvPr>
          <p:cNvSpPr/>
          <p:nvPr/>
        </p:nvSpPr>
        <p:spPr>
          <a:xfrm>
            <a:off x="7218712" y="3249799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‘R’</a:t>
            </a:r>
            <a:endParaRPr lang="en-PK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E15B6F-C6FB-4CC3-A805-6603A569FA3B}"/>
              </a:ext>
            </a:extLst>
          </p:cNvPr>
          <p:cNvSpPr/>
          <p:nvPr/>
        </p:nvSpPr>
        <p:spPr>
          <a:xfrm>
            <a:off x="8034900" y="3233557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‘I’</a:t>
            </a:r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293FBF-1E1E-4694-B0B6-115D8EDEF0F4}"/>
              </a:ext>
            </a:extLst>
          </p:cNvPr>
          <p:cNvSpPr txBox="1"/>
          <p:nvPr/>
        </p:nvSpPr>
        <p:spPr>
          <a:xfrm>
            <a:off x="4899411" y="2914029"/>
            <a:ext cx="667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adds1      adds2       adds3    adds4      adds5   adds6     adds7    adds8</a:t>
            </a:r>
            <a:endParaRPr lang="en-PK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A0AB44-1587-403C-B8A7-FEDBE9BAC939}"/>
              </a:ext>
            </a:extLst>
          </p:cNvPr>
          <p:cNvSpPr txBox="1"/>
          <p:nvPr/>
        </p:nvSpPr>
        <p:spPr>
          <a:xfrm>
            <a:off x="3981261" y="3711193"/>
            <a:ext cx="73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cstring</a:t>
            </a:r>
            <a:r>
              <a:rPr lang="en-US" dirty="0"/>
              <a:t>       0              1              2             3             4              5              6             7             </a:t>
            </a:r>
            <a:endParaRPr lang="en-PK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182994-91E3-438E-AEA6-AF79AF568ADC}"/>
              </a:ext>
            </a:extLst>
          </p:cNvPr>
          <p:cNvSpPr/>
          <p:nvPr/>
        </p:nvSpPr>
        <p:spPr>
          <a:xfrm>
            <a:off x="8867706" y="3243538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‘N’</a:t>
            </a:r>
            <a:endParaRPr lang="en-PK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7BB437-1306-4B9D-B93D-60C3A7233DAE}"/>
              </a:ext>
            </a:extLst>
          </p:cNvPr>
          <p:cNvSpPr/>
          <p:nvPr/>
        </p:nvSpPr>
        <p:spPr>
          <a:xfrm>
            <a:off x="10504828" y="3243538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PK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C7000B-5DE3-4752-9B34-5A64813EA394}"/>
              </a:ext>
            </a:extLst>
          </p:cNvPr>
          <p:cNvSpPr/>
          <p:nvPr/>
        </p:nvSpPr>
        <p:spPr>
          <a:xfrm>
            <a:off x="4746642" y="3235721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‘C’</a:t>
            </a:r>
            <a:endParaRPr lang="en-PK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1D57F1F-E71D-40F7-A690-FCC426AD8058}"/>
              </a:ext>
            </a:extLst>
          </p:cNvPr>
          <p:cNvSpPr/>
          <p:nvPr/>
        </p:nvSpPr>
        <p:spPr>
          <a:xfrm>
            <a:off x="4746642" y="4101612"/>
            <a:ext cx="1551007" cy="4514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adds1</a:t>
            </a:r>
            <a:endParaRPr lang="en-PK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ABF679-575D-4665-8D91-B7CEAA4CACF8}"/>
              </a:ext>
            </a:extLst>
          </p:cNvPr>
          <p:cNvSpPr txBox="1"/>
          <p:nvPr/>
        </p:nvSpPr>
        <p:spPr>
          <a:xfrm>
            <a:off x="4000593" y="4142653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adds9                                  </a:t>
            </a:r>
            <a:r>
              <a:rPr lang="en-US" dirty="0" err="1"/>
              <a:t>cpA</a:t>
            </a:r>
            <a:endParaRPr lang="en-PK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285031-0D08-4735-8FB0-6491AD94F8C7}"/>
              </a:ext>
            </a:extLst>
          </p:cNvPr>
          <p:cNvSpPr/>
          <p:nvPr/>
        </p:nvSpPr>
        <p:spPr>
          <a:xfrm>
            <a:off x="4727310" y="4632749"/>
            <a:ext cx="1551007" cy="4514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adds3</a:t>
            </a:r>
            <a:endParaRPr lang="en-PK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F6EC67-AB79-410F-B423-15BF9AEF8384}"/>
              </a:ext>
            </a:extLst>
          </p:cNvPr>
          <p:cNvSpPr txBox="1"/>
          <p:nvPr/>
        </p:nvSpPr>
        <p:spPr>
          <a:xfrm>
            <a:off x="3891589" y="4638690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adds10                                 </a:t>
            </a:r>
            <a:r>
              <a:rPr lang="en-US" dirty="0" err="1"/>
              <a:t>cpB</a:t>
            </a:r>
            <a:endParaRPr lang="en-PK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CC2727-E3F4-4750-829B-5B29F2E7D0D0}"/>
              </a:ext>
            </a:extLst>
          </p:cNvPr>
          <p:cNvSpPr/>
          <p:nvPr/>
        </p:nvSpPr>
        <p:spPr>
          <a:xfrm>
            <a:off x="4727310" y="5146290"/>
            <a:ext cx="1551007" cy="4514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adds6</a:t>
            </a:r>
            <a:endParaRPr lang="en-PK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8FD402-8FAE-4253-A65E-EE631B823798}"/>
              </a:ext>
            </a:extLst>
          </p:cNvPr>
          <p:cNvSpPr txBox="1"/>
          <p:nvPr/>
        </p:nvSpPr>
        <p:spPr>
          <a:xfrm>
            <a:off x="3893191" y="5176946"/>
            <a:ext cx="3004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adds11                                  </a:t>
            </a:r>
            <a:r>
              <a:rPr lang="en-US" dirty="0" err="1"/>
              <a:t>cpC</a:t>
            </a:r>
            <a:endParaRPr lang="en-PK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2E8973-0B51-4C31-81AF-726AB54F014D}"/>
              </a:ext>
            </a:extLst>
          </p:cNvPr>
          <p:cNvSpPr/>
          <p:nvPr/>
        </p:nvSpPr>
        <p:spPr>
          <a:xfrm>
            <a:off x="4727310" y="5653890"/>
            <a:ext cx="1551007" cy="4514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adds8</a:t>
            </a:r>
            <a:endParaRPr lang="en-PK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11147D-10AA-48FC-BAF9-3217472B9363}"/>
              </a:ext>
            </a:extLst>
          </p:cNvPr>
          <p:cNvSpPr txBox="1"/>
          <p:nvPr/>
        </p:nvSpPr>
        <p:spPr>
          <a:xfrm>
            <a:off x="3873955" y="5678723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adds12                                  </a:t>
            </a:r>
            <a:r>
              <a:rPr lang="en-US" dirty="0" err="1"/>
              <a:t>cpD</a:t>
            </a:r>
            <a:endParaRPr lang="en-PK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664A83-FA80-45D5-AF45-A019DAA7314F}"/>
              </a:ext>
            </a:extLst>
          </p:cNvPr>
          <p:cNvSpPr/>
          <p:nvPr/>
        </p:nvSpPr>
        <p:spPr>
          <a:xfrm>
            <a:off x="4727310" y="6291055"/>
            <a:ext cx="1551007" cy="4514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adds10</a:t>
            </a:r>
            <a:endParaRPr lang="en-PK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1EBE34-0B2A-4993-BA89-829526837C95}"/>
              </a:ext>
            </a:extLst>
          </p:cNvPr>
          <p:cNvSpPr txBox="1"/>
          <p:nvPr/>
        </p:nvSpPr>
        <p:spPr>
          <a:xfrm>
            <a:off x="3889183" y="6332096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adds13                                  </a:t>
            </a:r>
            <a:r>
              <a:rPr lang="en-US" dirty="0" err="1">
                <a:solidFill>
                  <a:srgbClr val="FF0000"/>
                </a:solidFill>
              </a:rPr>
              <a:t>cpE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61" name="Speech Bubble: Oval 60">
            <a:extLst>
              <a:ext uri="{FF2B5EF4-FFF2-40B4-BE49-F238E27FC236}">
                <a16:creationId xmlns:a16="http://schemas.microsoft.com/office/drawing/2014/main" id="{AF992061-B29C-4CFB-ACBE-6D66BEC662A0}"/>
              </a:ext>
            </a:extLst>
          </p:cNvPr>
          <p:cNvSpPr/>
          <p:nvPr/>
        </p:nvSpPr>
        <p:spPr>
          <a:xfrm>
            <a:off x="7533408" y="4502448"/>
            <a:ext cx="3161194" cy="1287684"/>
          </a:xfrm>
          <a:prstGeom prst="wedgeEllipseCallout">
            <a:avLst>
              <a:gd name="adj1" fmla="val -101752"/>
              <a:gd name="adj2" fmla="val 85871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WHAT IS WRONG WITH THIS CODE</a:t>
            </a:r>
            <a:endParaRPr lang="en-PK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A747E-C805-4D87-9294-1C73344ECF95}"/>
              </a:ext>
            </a:extLst>
          </p:cNvPr>
          <p:cNvSpPr/>
          <p:nvPr/>
        </p:nvSpPr>
        <p:spPr>
          <a:xfrm>
            <a:off x="7216867" y="6048055"/>
            <a:ext cx="4867581" cy="653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</a:t>
            </a:r>
            <a:r>
              <a:rPr lang="en-US" b="1" u="sng" dirty="0">
                <a:solidFill>
                  <a:srgbClr val="FF0000"/>
                </a:solidFill>
              </a:rPr>
              <a:t>adds10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 </a:t>
            </a:r>
            <a:r>
              <a:rPr lang="en-US" dirty="0">
                <a:sym typeface="Wingdings" panose="05000000000000000000" pitchFamily="2" charset="2"/>
              </a:rPr>
              <a:t>In USE</a:t>
            </a:r>
            <a:endParaRPr lang="en-PK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0E14EA-0084-4DBB-A469-0B066985894F}"/>
              </a:ext>
            </a:extLst>
          </p:cNvPr>
          <p:cNvCxnSpPr>
            <a:cxnSpLocks/>
          </p:cNvCxnSpPr>
          <p:nvPr/>
        </p:nvCxnSpPr>
        <p:spPr>
          <a:xfrm flipH="1" flipV="1">
            <a:off x="4317357" y="5008022"/>
            <a:ext cx="5352554" cy="122691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C86337D-3CF4-45DD-9AD6-7D8A462A723A}"/>
              </a:ext>
            </a:extLst>
          </p:cNvPr>
          <p:cNvSpPr/>
          <p:nvPr/>
        </p:nvSpPr>
        <p:spPr>
          <a:xfrm>
            <a:off x="7236120" y="27396"/>
            <a:ext cx="4867581" cy="135139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Happen when the Following code is Executed:</a:t>
            </a:r>
          </a:p>
          <a:p>
            <a:pPr algn="ctr"/>
            <a:r>
              <a:rPr lang="en-US" dirty="0"/>
              <a:t>*</a:t>
            </a:r>
            <a:r>
              <a:rPr lang="en-US" dirty="0" err="1"/>
              <a:t>cpE</a:t>
            </a:r>
            <a:r>
              <a:rPr lang="en-US" dirty="0"/>
              <a:t> = ‘Q’;</a:t>
            </a:r>
          </a:p>
          <a:p>
            <a:pPr algn="ctr"/>
            <a:r>
              <a:rPr lang="en-US" dirty="0"/>
              <a:t>*</a:t>
            </a:r>
            <a:r>
              <a:rPr lang="en-US" dirty="0" err="1"/>
              <a:t>cpB</a:t>
            </a:r>
            <a:r>
              <a:rPr lang="en-US" dirty="0"/>
              <a:t> = ‘W’;</a:t>
            </a:r>
            <a:endParaRPr lang="en-PK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FFA0508-4A08-4411-8EB3-ECF53E613CCC}"/>
              </a:ext>
            </a:extLst>
          </p:cNvPr>
          <p:cNvSpPr/>
          <p:nvPr/>
        </p:nvSpPr>
        <p:spPr>
          <a:xfrm>
            <a:off x="7266956" y="1444454"/>
            <a:ext cx="4867581" cy="13513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This will put ‘Q’ in Pointer </a:t>
            </a:r>
            <a:r>
              <a:rPr lang="en-US" sz="2800" b="1" dirty="0" err="1"/>
              <a:t>cpB</a:t>
            </a:r>
            <a:endParaRPr lang="en-US" sz="2800" b="1" dirty="0"/>
          </a:p>
          <a:p>
            <a:pPr algn="ctr"/>
            <a:r>
              <a:rPr lang="en-US" sz="2800" b="1" dirty="0"/>
              <a:t>And ‘Q” is not a Valid Address</a:t>
            </a:r>
            <a:endParaRPr lang="en-PK" sz="2800" b="1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A92DE17-2C43-4415-BFD9-AE122CFB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3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8" grpId="0" animBg="1"/>
      <p:bldP spid="41" grpId="0"/>
      <p:bldP spid="42" grpId="0"/>
      <p:bldP spid="46" grpId="0" animBg="1"/>
      <p:bldP spid="47" grpId="0" animBg="1"/>
      <p:bldP spid="48" grpId="0" animBg="1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 animBg="1"/>
      <p:bldP spid="60" grpId="0"/>
      <p:bldP spid="61" grpId="0" animBg="1"/>
      <p:bldP spid="2" grpId="0" animBg="1"/>
      <p:bldP spid="15" grpId="0" animBg="1"/>
      <p:bldP spid="6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DAA32A-5B40-4085-A9A8-34894590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0"/>
            <a:ext cx="11157030" cy="640715"/>
          </a:xfrm>
        </p:spPr>
        <p:txBody>
          <a:bodyPr>
            <a:noAutofit/>
          </a:bodyPr>
          <a:lstStyle/>
          <a:p>
            <a:r>
              <a:rPr lang="en-US" sz="3600" b="1" dirty="0"/>
              <a:t>Pointer Basics: Using Pointers with Arrays</a:t>
            </a:r>
            <a:endParaRPr lang="en-PK" sz="36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06D33C5-ACCC-4532-A2A1-1244FDDDC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469" y="548640"/>
            <a:ext cx="11752980" cy="630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Once A Pointer is Assigned Address of an Array</a:t>
            </a:r>
          </a:p>
          <a:p>
            <a:pPr marL="0" indent="0">
              <a:buNone/>
            </a:pPr>
            <a:r>
              <a:rPr lang="en-US" dirty="0"/>
              <a:t>It Can be Used Just As An Array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char </a:t>
            </a:r>
            <a:r>
              <a:rPr lang="en-US" dirty="0" err="1"/>
              <a:t>cstring</a:t>
            </a:r>
            <a:r>
              <a:rPr lang="en-US" dirty="0"/>
              <a:t>[] = “CSTRING”;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char * cp = </a:t>
            </a:r>
            <a:r>
              <a:rPr lang="en-US" dirty="0" err="1"/>
              <a:t>cstring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int length = 0;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while(</a:t>
            </a:r>
            <a:r>
              <a:rPr lang="en-US" b="1" dirty="0" err="1">
                <a:solidFill>
                  <a:srgbClr val="00B050"/>
                </a:solidFill>
              </a:rPr>
              <a:t>cstring</a:t>
            </a:r>
            <a:r>
              <a:rPr lang="en-US" b="1" dirty="0">
                <a:solidFill>
                  <a:srgbClr val="00B050"/>
                </a:solidFill>
              </a:rPr>
              <a:t>[length++] != ‘\0’) ;  </a:t>
            </a:r>
            <a:r>
              <a:rPr lang="en-US" b="1" dirty="0"/>
              <a:t>           or      </a:t>
            </a:r>
            <a:r>
              <a:rPr lang="en-US" b="1" dirty="0">
                <a:solidFill>
                  <a:srgbClr val="00B0F0"/>
                </a:solidFill>
              </a:rPr>
              <a:t>while(cp[length++] != ‘\0’) 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endParaRPr lang="en-PK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392936-B431-434D-BFF7-6D37F5DF57E9}"/>
              </a:ext>
            </a:extLst>
          </p:cNvPr>
          <p:cNvSpPr/>
          <p:nvPr/>
        </p:nvSpPr>
        <p:spPr>
          <a:xfrm>
            <a:off x="9626020" y="1798296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‘G’</a:t>
            </a:r>
            <a:endParaRPr lang="en-PK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49D189-0177-4D4F-AE4B-0120031B4C79}"/>
              </a:ext>
            </a:extLst>
          </p:cNvPr>
          <p:cNvSpPr/>
          <p:nvPr/>
        </p:nvSpPr>
        <p:spPr>
          <a:xfrm>
            <a:off x="5509999" y="1808751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‘S’</a:t>
            </a:r>
            <a:endParaRPr lang="en-PK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E790F8-DA9A-4BF1-B7B7-FD71D98236D0}"/>
              </a:ext>
            </a:extLst>
          </p:cNvPr>
          <p:cNvSpPr/>
          <p:nvPr/>
        </p:nvSpPr>
        <p:spPr>
          <a:xfrm>
            <a:off x="6342805" y="1814538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‘T</a:t>
            </a:r>
            <a:endParaRPr lang="en-PK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414401-DEC7-4802-993A-13D40331C3F3}"/>
              </a:ext>
            </a:extLst>
          </p:cNvPr>
          <p:cNvSpPr/>
          <p:nvPr/>
        </p:nvSpPr>
        <p:spPr>
          <a:xfrm>
            <a:off x="7160838" y="1814538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‘R’</a:t>
            </a:r>
            <a:endParaRPr lang="en-PK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655853-95EA-46EE-8E22-724BEE529A69}"/>
              </a:ext>
            </a:extLst>
          </p:cNvPr>
          <p:cNvSpPr/>
          <p:nvPr/>
        </p:nvSpPr>
        <p:spPr>
          <a:xfrm>
            <a:off x="7977026" y="1798296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‘I’</a:t>
            </a:r>
            <a:endParaRPr lang="en-PK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AFECDC-EA91-4596-8467-C807E0A520F4}"/>
              </a:ext>
            </a:extLst>
          </p:cNvPr>
          <p:cNvSpPr txBox="1"/>
          <p:nvPr/>
        </p:nvSpPr>
        <p:spPr>
          <a:xfrm>
            <a:off x="4841537" y="1478768"/>
            <a:ext cx="667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adds1      adds2       adds3    adds4      adds5   adds6     adds7    adds8</a:t>
            </a:r>
            <a:endParaRPr lang="en-PK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5BF6F5-6223-420A-ACB3-2503008A367F}"/>
              </a:ext>
            </a:extLst>
          </p:cNvPr>
          <p:cNvSpPr txBox="1"/>
          <p:nvPr/>
        </p:nvSpPr>
        <p:spPr>
          <a:xfrm>
            <a:off x="3923387" y="2275932"/>
            <a:ext cx="73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cstring</a:t>
            </a:r>
            <a:r>
              <a:rPr lang="en-US" dirty="0"/>
              <a:t>       0              1              2             3             4              5              6             7             </a:t>
            </a:r>
            <a:endParaRPr lang="en-PK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3E122B-D40A-4681-9672-783D86895C49}"/>
              </a:ext>
            </a:extLst>
          </p:cNvPr>
          <p:cNvSpPr/>
          <p:nvPr/>
        </p:nvSpPr>
        <p:spPr>
          <a:xfrm>
            <a:off x="8809832" y="1808277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‘N’</a:t>
            </a:r>
            <a:endParaRPr lang="en-PK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6500B4-B134-48BF-907C-76A803210492}"/>
              </a:ext>
            </a:extLst>
          </p:cNvPr>
          <p:cNvSpPr/>
          <p:nvPr/>
        </p:nvSpPr>
        <p:spPr>
          <a:xfrm>
            <a:off x="10446954" y="1808277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‘\0’</a:t>
            </a:r>
            <a:endParaRPr lang="en-PK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600A4C-4808-4CE6-922C-5CE709671258}"/>
              </a:ext>
            </a:extLst>
          </p:cNvPr>
          <p:cNvSpPr/>
          <p:nvPr/>
        </p:nvSpPr>
        <p:spPr>
          <a:xfrm>
            <a:off x="4688768" y="1800460"/>
            <a:ext cx="816188" cy="451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‘C’</a:t>
            </a:r>
            <a:endParaRPr lang="en-PK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537447-DAC1-4B54-9EA7-041CC60385B5}"/>
              </a:ext>
            </a:extLst>
          </p:cNvPr>
          <p:cNvSpPr/>
          <p:nvPr/>
        </p:nvSpPr>
        <p:spPr>
          <a:xfrm>
            <a:off x="4584596" y="3523651"/>
            <a:ext cx="1551007" cy="4514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adds1</a:t>
            </a:r>
            <a:endParaRPr lang="en-PK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F99816-8797-4E43-AF2A-20DF24E4A0F0}"/>
              </a:ext>
            </a:extLst>
          </p:cNvPr>
          <p:cNvSpPr txBox="1"/>
          <p:nvPr/>
        </p:nvSpPr>
        <p:spPr>
          <a:xfrm>
            <a:off x="3838547" y="3564692"/>
            <a:ext cx="276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adds9                                  cp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2E853-3232-4C2D-8E27-69B9E848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709E-AC22-48C0-BBAB-8E3E8552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64428"/>
          </a:xfrm>
        </p:spPr>
        <p:txBody>
          <a:bodyPr/>
          <a:lstStyle/>
          <a:p>
            <a:r>
              <a:rPr lang="en-US" dirty="0"/>
              <a:t>Memorize these Facts About Pointers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AE9FB-D233-49C3-92D8-C0AF505DA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18" y="900953"/>
            <a:ext cx="11873753" cy="582052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Pointer is a variable that stores a </a:t>
            </a:r>
            <a:r>
              <a:rPr lang="en-US" b="1" dirty="0"/>
              <a:t>SINGLE</a:t>
            </a:r>
            <a:r>
              <a:rPr lang="en-US" dirty="0"/>
              <a:t> address of another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Pointer is a variable so It has its Own Address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address Pointer Stores must be of the Same data type as indicated in the pointer declaration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During Declaration, A Pointer must be Initialized with Address of an Existing Variable or Array or with </a:t>
            </a:r>
            <a:r>
              <a:rPr lang="en-US" b="1" dirty="0" err="1"/>
              <a:t>nullptr</a:t>
            </a:r>
            <a:r>
              <a:rPr lang="en-US" b="1" dirty="0"/>
              <a:t> (address 0x000000)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Never Assign a Variable Value or Constant to a Pointer, why? So the following code lines are wrong:</a:t>
            </a:r>
          </a:p>
          <a:p>
            <a:pPr marL="914400" lvl="1" indent="-457200">
              <a:buAutoNum type="alphaLcParenR"/>
            </a:pPr>
            <a:r>
              <a:rPr lang="en-US" b="1" dirty="0"/>
              <a:t>int * p = 5</a:t>
            </a:r>
          </a:p>
          <a:p>
            <a:pPr marL="914400" lvl="1" indent="-457200">
              <a:buAutoNum type="alphaLcParenR"/>
            </a:pPr>
            <a:r>
              <a:rPr lang="en-US" b="1" dirty="0"/>
              <a:t>int a = 5;</a:t>
            </a:r>
          </a:p>
          <a:p>
            <a:pPr marL="457200" lvl="1" indent="0">
              <a:buNone/>
            </a:pPr>
            <a:r>
              <a:rPr lang="en-US" b="1" dirty="0"/>
              <a:t>       p = 5;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Pointer Causes a Run-Time Error When Assigned an Illegal Memory Address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 Pointer Value is an Address and that is just a Large Positive Integer </a:t>
            </a:r>
            <a:r>
              <a:rPr lang="en-US" b="1" dirty="0">
                <a:sym typeface="Wingdings" panose="05000000000000000000" pitchFamily="2" charset="2"/>
              </a:rPr>
              <a:t> A Pointer can be added, subtracted, multiplied, divided etc. as long as the resulting Value is a Address of a valid Memory</a:t>
            </a:r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2B021-C98C-45F1-9525-A9370963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87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32DC-1F45-4EC7-B194-9FB8E408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5209"/>
            <a:ext cx="11963400" cy="535828"/>
          </a:xfrm>
        </p:spPr>
        <p:txBody>
          <a:bodyPr>
            <a:normAutofit/>
          </a:bodyPr>
          <a:lstStyle/>
          <a:p>
            <a:r>
              <a:rPr lang="en-US" sz="3200" dirty="0"/>
              <a:t>Class Activity 2: Dry Run on paper and post the Scan in chat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2B7C-B535-4B5C-977A-3D6CA7160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681037"/>
            <a:ext cx="5109883" cy="6040438"/>
          </a:xfrm>
          <a:ln w="38100"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main()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int values[5] = {1,2,3};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int size = 3;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int * </a:t>
            </a:r>
            <a:r>
              <a:rPr lang="en-US" dirty="0" err="1"/>
              <a:t>pValues</a:t>
            </a:r>
            <a:r>
              <a:rPr lang="en-US" dirty="0"/>
              <a:t> = values;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values[</a:t>
            </a:r>
            <a:r>
              <a:rPr lang="en-US" dirty="0" err="1"/>
              <a:t>i</a:t>
            </a:r>
            <a:r>
              <a:rPr lang="en-US" dirty="0"/>
              <a:t>] = (</a:t>
            </a:r>
            <a:r>
              <a:rPr lang="en-US" dirty="0" err="1"/>
              <a:t>i</a:t>
            </a:r>
            <a:r>
              <a:rPr lang="en-US" dirty="0"/>
              <a:t> - values[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</a:t>
            </a:r>
            <a:r>
              <a:rPr lang="en-US" dirty="0" err="1"/>
              <a:t>pValues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(</a:t>
            </a:r>
            <a:r>
              <a:rPr lang="en-US" dirty="0" err="1"/>
              <a:t>i</a:t>
            </a:r>
            <a:r>
              <a:rPr lang="en-US" dirty="0"/>
              <a:t> - </a:t>
            </a:r>
            <a:r>
              <a:rPr lang="en-US" dirty="0" err="1"/>
              <a:t>pValues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F8D9-268A-43EA-8665-F356F7A8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29B72D-8F17-46D7-AD08-6528BB14D2AA}"/>
              </a:ext>
            </a:extLst>
          </p:cNvPr>
          <p:cNvSpPr txBox="1">
            <a:spLocks/>
          </p:cNvSpPr>
          <p:nvPr/>
        </p:nvSpPr>
        <p:spPr>
          <a:xfrm>
            <a:off x="6055658" y="681037"/>
            <a:ext cx="5109883" cy="604043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14"/>
            </a:pPr>
            <a:r>
              <a:rPr lang="en-US" dirty="0" err="1"/>
              <a:t>pValues</a:t>
            </a:r>
            <a:r>
              <a:rPr lang="en-US" dirty="0"/>
              <a:t> = (values + 1);</a:t>
            </a:r>
          </a:p>
          <a:p>
            <a:pPr marL="514350" indent="-514350">
              <a:buAutoNum type="arabicPeriod" startAt="14"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514350" indent="-514350">
              <a:buAutoNum type="arabicPeriod" startAt="14"/>
            </a:pPr>
            <a:r>
              <a:rPr lang="en-US" dirty="0"/>
              <a:t>    {</a:t>
            </a:r>
          </a:p>
          <a:p>
            <a:pPr marL="514350" indent="-514350">
              <a:buAutoNum type="arabicPeriod" startAt="14"/>
            </a:pPr>
            <a:r>
              <a:rPr lang="en-US" dirty="0"/>
              <a:t>         </a:t>
            </a:r>
            <a:r>
              <a:rPr lang="en-US" dirty="0" err="1"/>
              <a:t>pValues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514350" indent="-514350">
              <a:buAutoNum type="arabicPeriod" startAt="14"/>
            </a:pPr>
            <a:r>
              <a:rPr lang="en-US" dirty="0"/>
              <a:t> 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pValues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pPr marL="514350" indent="-514350">
              <a:buAutoNum type="arabicPeriod" startAt="14"/>
            </a:pPr>
            <a:r>
              <a:rPr lang="en-US" dirty="0"/>
              <a:t>    }</a:t>
            </a:r>
          </a:p>
          <a:p>
            <a:pPr marL="514350" indent="-514350">
              <a:buAutoNum type="arabicPeriod" startAt="14"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AutoNum type="arabicPeriod" startAt="14"/>
            </a:pPr>
            <a:r>
              <a:rPr lang="en-US" dirty="0"/>
              <a:t>  return 0;</a:t>
            </a:r>
          </a:p>
          <a:p>
            <a:pPr marL="514350" indent="-514350">
              <a:buAutoNum type="arabicPeriod" startAt="14"/>
            </a:pPr>
            <a:r>
              <a:rPr lang="en-US" dirty="0"/>
              <a:t>}</a:t>
            </a:r>
          </a:p>
          <a:p>
            <a:pPr marL="514350" indent="-514350">
              <a:buFont typeface="+mj-lt"/>
              <a:buAutoNum type="arabicPeriod"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21800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32DC-1F45-4EC7-B194-9FB8E408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5209"/>
            <a:ext cx="11963400" cy="535828"/>
          </a:xfrm>
        </p:spPr>
        <p:txBody>
          <a:bodyPr>
            <a:normAutofit/>
          </a:bodyPr>
          <a:lstStyle/>
          <a:p>
            <a:r>
              <a:rPr lang="en-US" sz="3200" dirty="0"/>
              <a:t>Class Activity 3: Dry Run on paper and post the Scan in chat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2B7C-B535-4B5C-977A-3D6CA7160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681037"/>
            <a:ext cx="8274424" cy="6040438"/>
          </a:xfrm>
          <a:ln w="38100"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main()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STR[] = "</a:t>
            </a:r>
            <a:r>
              <a:rPr lang="en-US" dirty="0" err="1"/>
              <a:t>abc</a:t>
            </a:r>
            <a:r>
              <a:rPr lang="en-US" dirty="0"/>
              <a:t>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* </a:t>
            </a:r>
            <a:r>
              <a:rPr lang="en-US" dirty="0" err="1"/>
              <a:t>pSTR</a:t>
            </a:r>
            <a:r>
              <a:rPr lang="en-US" dirty="0"/>
              <a:t> = STR;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int length =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while(*</a:t>
            </a:r>
            <a:r>
              <a:rPr lang="en-US" dirty="0" err="1"/>
              <a:t>pSTR</a:t>
            </a:r>
            <a:r>
              <a:rPr lang="en-US" dirty="0"/>
              <a:t> != '\0')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length++;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</a:t>
            </a:r>
            <a:r>
              <a:rPr lang="en-US" dirty="0" err="1"/>
              <a:t>pSTR</a:t>
            </a:r>
            <a:r>
              <a:rPr lang="en-US" dirty="0"/>
              <a:t>++;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length &lt;&lt; " " &lt;&lt; </a:t>
            </a:r>
            <a:r>
              <a:rPr lang="en-US" dirty="0" err="1"/>
              <a:t>pSTR</a:t>
            </a:r>
            <a:r>
              <a:rPr lang="en-US" dirty="0"/>
              <a:t> &lt;&lt; " " &lt;&lt; STR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return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F8D9-268A-43EA-8665-F356F7A8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87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32DC-1F45-4EC7-B194-9FB8E408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5209"/>
            <a:ext cx="11963400" cy="535828"/>
          </a:xfrm>
        </p:spPr>
        <p:txBody>
          <a:bodyPr>
            <a:normAutofit/>
          </a:bodyPr>
          <a:lstStyle/>
          <a:p>
            <a:r>
              <a:rPr lang="en-US" sz="3200" dirty="0"/>
              <a:t>Class Activity 4: Dry Run on paper and post the Scan in chat</a:t>
            </a:r>
            <a:endParaRPr lang="en-P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F8D9-268A-43EA-8665-F356F7A8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E5A72A-7071-499D-B668-A842600A3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45685"/>
              </p:ext>
            </p:extLst>
          </p:nvPr>
        </p:nvGraphicFramePr>
        <p:xfrm>
          <a:off x="322729" y="1109631"/>
          <a:ext cx="11551024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5512">
                  <a:extLst>
                    <a:ext uri="{9D8B030D-6E8A-4147-A177-3AD203B41FA5}">
                      <a16:colId xmlns:a16="http://schemas.microsoft.com/office/drawing/2014/main" val="1685645471"/>
                    </a:ext>
                  </a:extLst>
                </a:gridCol>
                <a:gridCol w="5775512">
                  <a:extLst>
                    <a:ext uri="{9D8B030D-6E8A-4147-A177-3AD203B41FA5}">
                      <a16:colId xmlns:a16="http://schemas.microsoft.com/office/drawing/2014/main" val="3670010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int main()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{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int A[5] = {1,-2,3};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int no = 3;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int sum = 0;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int * P = A;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for(int </a:t>
                      </a:r>
                      <a:r>
                        <a:rPr lang="en-US" sz="2800" dirty="0" err="1"/>
                        <a:t>i</a:t>
                      </a:r>
                      <a:r>
                        <a:rPr lang="en-US" sz="2800" dirty="0"/>
                        <a:t> = 0; </a:t>
                      </a:r>
                      <a:r>
                        <a:rPr lang="en-US" sz="2800" dirty="0" err="1"/>
                        <a:t>i</a:t>
                      </a:r>
                      <a:r>
                        <a:rPr lang="en-US" sz="2800" dirty="0"/>
                        <a:t> &lt; no; </a:t>
                      </a:r>
                      <a:r>
                        <a:rPr lang="en-US" sz="2800" dirty="0" err="1"/>
                        <a:t>i</a:t>
                      </a:r>
                      <a:r>
                        <a:rPr lang="en-US" sz="2800" dirty="0"/>
                        <a:t>++)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  {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       sum += *(P + </a:t>
                      </a:r>
                      <a:r>
                        <a:rPr lang="en-US" sz="2800" dirty="0" err="1"/>
                        <a:t>i</a:t>
                      </a:r>
                      <a:r>
                        <a:rPr lang="en-US" sz="2800" dirty="0"/>
                        <a:t>);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  }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800" dirty="0"/>
                        <a:t>  </a:t>
                      </a:r>
                      <a:r>
                        <a:rPr lang="en-US" sz="2800" dirty="0" err="1"/>
                        <a:t>cout</a:t>
                      </a:r>
                      <a:r>
                        <a:rPr lang="en-US" sz="2800" dirty="0"/>
                        <a:t> &lt;&lt; sum &lt;&lt; </a:t>
                      </a:r>
                      <a:r>
                        <a:rPr lang="en-US" sz="2800" dirty="0" err="1"/>
                        <a:t>endl</a:t>
                      </a:r>
                      <a:r>
                        <a:rPr lang="en-US" sz="2800" dirty="0"/>
                        <a:t>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PK" sz="28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int min = A[0];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  for(int * I = A; I &lt; (A + no); I++)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    {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         if(*I &lt; min)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	   {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	       min = *I;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	    }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    }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  </a:t>
                      </a:r>
                      <a:r>
                        <a:rPr lang="en-US" sz="2800" dirty="0" err="1"/>
                        <a:t>cout</a:t>
                      </a:r>
                      <a:r>
                        <a:rPr lang="en-US" sz="2800" dirty="0"/>
                        <a:t> &lt;&lt; min &lt;&lt; </a:t>
                      </a:r>
                      <a:r>
                        <a:rPr lang="en-US" sz="2800" dirty="0" err="1"/>
                        <a:t>endl</a:t>
                      </a:r>
                      <a:r>
                        <a:rPr lang="en-US" sz="2800" dirty="0"/>
                        <a:t>;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  return 0;</a:t>
                      </a:r>
                    </a:p>
                    <a:p>
                      <a:pPr marL="514350" indent="-514350">
                        <a:buFont typeface="+mj-lt"/>
                        <a:buAutoNum type="arabicPeriod" startAt="12"/>
                      </a:pPr>
                      <a:r>
                        <a:rPr lang="en-US" sz="2800" dirty="0"/>
                        <a:t>}</a:t>
                      </a:r>
                      <a:endParaRPr lang="en-PK" sz="28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68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499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6D2C-296D-465D-84FD-50B17DEF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6"/>
            <a:ext cx="11645153" cy="64340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Class Activity 5: Identify and Correct Errors, if any,  in the Following Code Lines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A1AA4-8D7C-4237-A24A-67A96D0D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1008530"/>
            <a:ext cx="11084859" cy="584947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A = 10;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double B = 5.5;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 *P;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 = &amp;B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double * Q = B;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 * R = &amp; A;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R++;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double S = &amp; B;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*S = 12.5;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S[1] = 12.5;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*(R + 1) = 5;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R[0] = 24;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A978B-E373-48B3-AD89-BDFE5080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56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32DC-1F45-4EC7-B194-9FB8E408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5209"/>
            <a:ext cx="11963400" cy="535828"/>
          </a:xfrm>
        </p:spPr>
        <p:txBody>
          <a:bodyPr>
            <a:normAutofit/>
          </a:bodyPr>
          <a:lstStyle/>
          <a:p>
            <a:r>
              <a:rPr lang="en-US" sz="3200" dirty="0"/>
              <a:t>Class Activity 6: What will be the Output of the following program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2B7C-B535-4B5C-977A-3D6CA7160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681037"/>
            <a:ext cx="4168589" cy="6040438"/>
          </a:xfrm>
          <a:ln w="38100"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main()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A[] = "</a:t>
            </a:r>
            <a:r>
              <a:rPr lang="en-US" dirty="0" err="1"/>
              <a:t>abc</a:t>
            </a:r>
            <a:r>
              <a:rPr lang="en-US" dirty="0"/>
              <a:t>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B[5] = "";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* P = A;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* Q = B;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while(*P != '\0')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*Q = *P;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F8D9-268A-43EA-8665-F356F7A8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29B72D-8F17-46D7-AD08-6528BB14D2AA}"/>
              </a:ext>
            </a:extLst>
          </p:cNvPr>
          <p:cNvSpPr txBox="1">
            <a:spLocks/>
          </p:cNvSpPr>
          <p:nvPr/>
        </p:nvSpPr>
        <p:spPr>
          <a:xfrm>
            <a:off x="4612341" y="681037"/>
            <a:ext cx="7243483" cy="604043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10"/>
            </a:pPr>
            <a:r>
              <a:rPr lang="en-US" dirty="0"/>
              <a:t>        if(*Q &gt;= 'a' &amp;&amp; *Q &lt;= ‘z’)</a:t>
            </a:r>
          </a:p>
          <a:p>
            <a:pPr marL="514350" indent="-514350">
              <a:buAutoNum type="arabicPeriod" startAt="10"/>
            </a:pPr>
            <a:r>
              <a:rPr lang="en-US" dirty="0"/>
              <a:t>        {</a:t>
            </a:r>
          </a:p>
          <a:p>
            <a:pPr marL="514350" indent="-514350">
              <a:buAutoNum type="arabicPeriod" startAt="10"/>
            </a:pPr>
            <a:r>
              <a:rPr lang="en-US" dirty="0"/>
              <a:t>	           *Q -= 32;</a:t>
            </a:r>
          </a:p>
          <a:p>
            <a:pPr marL="514350" indent="-514350">
              <a:buAutoNum type="arabicPeriod" startAt="10"/>
            </a:pPr>
            <a:r>
              <a:rPr lang="en-US" dirty="0"/>
              <a:t>	    }</a:t>
            </a:r>
          </a:p>
          <a:p>
            <a:pPr marL="514350" indent="-514350">
              <a:buAutoNum type="arabicPeriod" startAt="10"/>
            </a:pPr>
            <a:r>
              <a:rPr lang="en-US" dirty="0"/>
              <a:t>          </a:t>
            </a:r>
            <a:r>
              <a:rPr lang="en-US" dirty="0" err="1"/>
              <a:t>cout</a:t>
            </a:r>
            <a:r>
              <a:rPr lang="en-US" dirty="0"/>
              <a:t> &lt;&lt; *P &lt;&lt; " " &lt;&lt; *Q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AutoNum type="arabicPeriod" startAt="10"/>
            </a:pPr>
            <a:r>
              <a:rPr lang="en-US" dirty="0"/>
              <a:t>         Q++;</a:t>
            </a:r>
          </a:p>
          <a:p>
            <a:pPr marL="514350" indent="-514350">
              <a:buAutoNum type="arabicPeriod" startAt="10"/>
            </a:pPr>
            <a:r>
              <a:rPr lang="en-US" dirty="0"/>
              <a:t>         P++;</a:t>
            </a:r>
          </a:p>
          <a:p>
            <a:pPr marL="514350" indent="-514350">
              <a:buAutoNum type="arabicPeriod" startAt="10"/>
            </a:pPr>
            <a:r>
              <a:rPr lang="en-US" dirty="0"/>
              <a:t>    }</a:t>
            </a:r>
          </a:p>
          <a:p>
            <a:pPr marL="514350" indent="-514350">
              <a:buAutoNum type="arabicPeriod" startAt="10"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*P &lt;&lt; " " &lt;&lt; *Q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AutoNum type="arabicPeriod" startAt="10"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A &lt;&lt; " " &lt;&lt; B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AutoNum type="arabicPeriod" startAt="10"/>
            </a:pPr>
            <a:r>
              <a:rPr lang="en-US" dirty="0"/>
              <a:t>  return 0;</a:t>
            </a:r>
          </a:p>
          <a:p>
            <a:pPr marL="514350" indent="-514350">
              <a:buAutoNum type="arabicPeriod" startAt="10"/>
            </a:pPr>
            <a:r>
              <a:rPr lang="en-US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1520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32DC-1F45-4EC7-B194-9FB8E408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5209"/>
            <a:ext cx="11963400" cy="535828"/>
          </a:xfrm>
        </p:spPr>
        <p:txBody>
          <a:bodyPr>
            <a:normAutofit/>
          </a:bodyPr>
          <a:lstStyle/>
          <a:p>
            <a:r>
              <a:rPr lang="en-US" sz="3200" dirty="0"/>
              <a:t>Class Activity 7: What will be the Output of the following program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2B7C-B535-4B5C-977A-3D6CA7160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681037"/>
            <a:ext cx="6849035" cy="6040438"/>
          </a:xfrm>
          <a:ln w="38100">
            <a:solidFill>
              <a:schemeClr val="accent6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main()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A[10] = "</a:t>
            </a:r>
            <a:r>
              <a:rPr lang="en-US" dirty="0" err="1"/>
              <a:t>abc</a:t>
            </a:r>
            <a:r>
              <a:rPr lang="en-US" dirty="0"/>
              <a:t>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B[] = "def";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int X =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while(A[X++] != '\0');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char * Q = (A + X - 1);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for(char * P = B; *P != '\0';P++, Q++,X++)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*Q = *P;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</a:t>
            </a:r>
            <a:r>
              <a:rPr lang="en-US" dirty="0" err="1"/>
              <a:t>cout</a:t>
            </a:r>
            <a:r>
              <a:rPr lang="en-US" dirty="0"/>
              <a:t> &lt;&lt; *Q &lt;&lt; " ";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F8D9-268A-43EA-8665-F356F7A8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6DFD-27C3-4BE1-B7E6-C736F27BA817}" type="slidenum">
              <a:rPr lang="en-US" smtClean="0"/>
              <a:t>31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29B72D-8F17-46D7-AD08-6528BB14D2AA}"/>
              </a:ext>
            </a:extLst>
          </p:cNvPr>
          <p:cNvSpPr txBox="1">
            <a:spLocks/>
          </p:cNvSpPr>
          <p:nvPr/>
        </p:nvSpPr>
        <p:spPr>
          <a:xfrm>
            <a:off x="7557247" y="681037"/>
            <a:ext cx="4298577" cy="604043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 startAt="13"/>
            </a:pP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AutoNum type="arabicPeriod" startAt="13"/>
            </a:pPr>
            <a:r>
              <a:rPr lang="en-US" dirty="0"/>
              <a:t>  A[X] = '\0’;</a:t>
            </a:r>
          </a:p>
          <a:p>
            <a:pPr marL="514350" indent="-514350">
              <a:buAutoNum type="arabicPeriod" startAt="13"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A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514350" indent="-514350">
              <a:buAutoNum type="arabicPeriod" startAt="13"/>
            </a:pPr>
            <a:r>
              <a:rPr lang="en-US" dirty="0"/>
              <a:t> return 0;</a:t>
            </a:r>
          </a:p>
          <a:p>
            <a:pPr marL="514350" indent="-514350">
              <a:buAutoNum type="arabicPeriod" startAt="13"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135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188898</TotalTime>
  <Words>3420</Words>
  <Application>Microsoft Office PowerPoint</Application>
  <PresentationFormat>Widescreen</PresentationFormat>
  <Paragraphs>704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PROGRAMMING FUNDAMENTALS B16 SPRING 2025 </vt:lpstr>
      <vt:lpstr>Outline</vt:lpstr>
      <vt:lpstr>Variables and Pointers</vt:lpstr>
      <vt:lpstr>Variables, their Memory Requirements and Addresses</vt:lpstr>
      <vt:lpstr>Arrays, their Memory Requirements and Addresses</vt:lpstr>
      <vt:lpstr>Reminder about Variables </vt:lpstr>
      <vt:lpstr>Computer Memory</vt:lpstr>
      <vt:lpstr>Computer Memory Types and Usage</vt:lpstr>
      <vt:lpstr>Concept of a Pointer</vt:lpstr>
      <vt:lpstr>Pointer: A Variable to hold an Address of a Variable of A Particular Data Type</vt:lpstr>
      <vt:lpstr>Pointer, Variable, Address</vt:lpstr>
      <vt:lpstr>Dry Run Example</vt:lpstr>
      <vt:lpstr>Class Activity 1: Dry Run on paper and post the Scan in chat</vt:lpstr>
      <vt:lpstr>Dry Run</vt:lpstr>
      <vt:lpstr>Dry Run</vt:lpstr>
      <vt:lpstr>Dry Run</vt:lpstr>
      <vt:lpstr>Dry Run</vt:lpstr>
      <vt:lpstr>Dry Run</vt:lpstr>
      <vt:lpstr>Learn Your Pointers</vt:lpstr>
      <vt:lpstr>Know Your Pointers</vt:lpstr>
      <vt:lpstr> Pointer is a variable that stores address of  memory of a particular data type </vt:lpstr>
      <vt:lpstr> Pointer is a variable that stores address of  memory of a particular data type </vt:lpstr>
      <vt:lpstr>Pointer Basics: Arrays And Pointers</vt:lpstr>
      <vt:lpstr>Pointer Basics: Using Pointers with Arrays</vt:lpstr>
      <vt:lpstr>Memorize these Facts About Pointers</vt:lpstr>
      <vt:lpstr>Class Activity 2: Dry Run on paper and post the Scan in chat</vt:lpstr>
      <vt:lpstr>Class Activity 3: Dry Run on paper and post the Scan in chat</vt:lpstr>
      <vt:lpstr>Class Activity 4: Dry Run on paper and post the Scan in chat</vt:lpstr>
      <vt:lpstr>Class Activity 5: Identify and Correct Errors, if any,  in the Following Code Lines</vt:lpstr>
      <vt:lpstr>Class Activity 6: What will be the Output of the following program</vt:lpstr>
      <vt:lpstr>Class Activity 7: What will be the Output of the following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 TOPICS IN SOFTWARE ENGINERING FALL 2014 MS CS Elective</dc:title>
  <dc:creator>Faculty</dc:creator>
  <cp:lastModifiedBy>Dr Ahmad Shabbar Kazmi</cp:lastModifiedBy>
  <cp:revision>650</cp:revision>
  <cp:lastPrinted>2018-03-06T06:01:49Z</cp:lastPrinted>
  <dcterms:created xsi:type="dcterms:W3CDTF">2014-10-22T05:41:57Z</dcterms:created>
  <dcterms:modified xsi:type="dcterms:W3CDTF">2025-05-13T07:41:09Z</dcterms:modified>
</cp:coreProperties>
</file>