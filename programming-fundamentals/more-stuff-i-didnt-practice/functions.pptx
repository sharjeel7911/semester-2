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0"/>
  </p:notesMasterIdLst>
  <p:handoutMasterIdLst>
    <p:handoutMasterId r:id="rId41"/>
  </p:handoutMasterIdLst>
  <p:sldIdLst>
    <p:sldId id="256" r:id="rId2"/>
    <p:sldId id="720" r:id="rId3"/>
    <p:sldId id="803" r:id="rId4"/>
    <p:sldId id="804" r:id="rId5"/>
    <p:sldId id="805" r:id="rId6"/>
    <p:sldId id="806" r:id="rId7"/>
    <p:sldId id="807" r:id="rId8"/>
    <p:sldId id="808" r:id="rId9"/>
    <p:sldId id="724" r:id="rId10"/>
    <p:sldId id="782" r:id="rId11"/>
    <p:sldId id="762" r:id="rId12"/>
    <p:sldId id="810" r:id="rId13"/>
    <p:sldId id="809" r:id="rId14"/>
    <p:sldId id="813" r:id="rId15"/>
    <p:sldId id="814" r:id="rId16"/>
    <p:sldId id="812" r:id="rId17"/>
    <p:sldId id="811" r:id="rId18"/>
    <p:sldId id="815" r:id="rId19"/>
    <p:sldId id="790" r:id="rId20"/>
    <p:sldId id="802" r:id="rId21"/>
    <p:sldId id="797" r:id="rId22"/>
    <p:sldId id="793" r:id="rId23"/>
    <p:sldId id="798" r:id="rId24"/>
    <p:sldId id="799" r:id="rId25"/>
    <p:sldId id="800" r:id="rId26"/>
    <p:sldId id="801" r:id="rId27"/>
    <p:sldId id="757" r:id="rId28"/>
    <p:sldId id="761" r:id="rId29"/>
    <p:sldId id="765" r:id="rId30"/>
    <p:sldId id="766" r:id="rId31"/>
    <p:sldId id="767" r:id="rId32"/>
    <p:sldId id="764" r:id="rId33"/>
    <p:sldId id="770" r:id="rId34"/>
    <p:sldId id="769" r:id="rId35"/>
    <p:sldId id="786" r:id="rId36"/>
    <p:sldId id="787" r:id="rId37"/>
    <p:sldId id="788" r:id="rId38"/>
    <p:sldId id="789" r:id="rId39"/>
  </p:sldIdLst>
  <p:sldSz cx="12192000" cy="6858000"/>
  <p:notesSz cx="7053263"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896" autoAdjust="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sz="quarter" idx="1"/>
          </p:nvPr>
        </p:nvSpPr>
        <p:spPr>
          <a:xfrm>
            <a:off x="3995217" y="0"/>
            <a:ext cx="3056414" cy="467072"/>
          </a:xfrm>
          <a:prstGeom prst="rect">
            <a:avLst/>
          </a:prstGeom>
        </p:spPr>
        <p:txBody>
          <a:bodyPr vert="horz" lIns="93497" tIns="46749" rIns="93497" bIns="46749" rtlCol="0"/>
          <a:lstStyle>
            <a:lvl1pPr algn="r">
              <a:defRPr sz="1200"/>
            </a:lvl1pPr>
          </a:lstStyle>
          <a:p>
            <a:fld id="{27E6DDE0-FD9D-4826-B2B1-AFE3771D369B}" type="datetimeFigureOut">
              <a:rPr lang="en-US" smtClean="0"/>
              <a:t>4/28/2025</a:t>
            </a:fld>
            <a:endParaRPr lang="en-US"/>
          </a:p>
        </p:txBody>
      </p:sp>
      <p:sp>
        <p:nvSpPr>
          <p:cNvPr id="4" name="Footer Placeholder 3"/>
          <p:cNvSpPr>
            <a:spLocks noGrp="1"/>
          </p:cNvSpPr>
          <p:nvPr>
            <p:ph type="ftr" sz="quarter" idx="2"/>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5" name="Slide Number Placeholder 4"/>
          <p:cNvSpPr>
            <a:spLocks noGrp="1"/>
          </p:cNvSpPr>
          <p:nvPr>
            <p:ph type="sldNum" sz="quarter" idx="3"/>
          </p:nvPr>
        </p:nvSpPr>
        <p:spPr>
          <a:xfrm>
            <a:off x="3995217" y="8842030"/>
            <a:ext cx="3056414" cy="467071"/>
          </a:xfrm>
          <a:prstGeom prst="rect">
            <a:avLst/>
          </a:prstGeom>
        </p:spPr>
        <p:txBody>
          <a:bodyPr vert="horz" lIns="93497" tIns="46749" rIns="93497" bIns="46749" rtlCol="0" anchor="b"/>
          <a:lstStyle>
            <a:lvl1pPr algn="r">
              <a:defRPr sz="1200"/>
            </a:lvl1pPr>
          </a:lstStyle>
          <a:p>
            <a:fld id="{A34F220E-090E-4A19-A4A6-04C731DBC564}" type="slidenum">
              <a:rPr lang="en-US" smtClean="0"/>
              <a:t>‹#›</a:t>
            </a:fld>
            <a:endParaRPr lang="en-US"/>
          </a:p>
        </p:txBody>
      </p:sp>
    </p:spTree>
    <p:extLst>
      <p:ext uri="{BB962C8B-B14F-4D97-AF65-F5344CB8AC3E}">
        <p14:creationId xmlns:p14="http://schemas.microsoft.com/office/powerpoint/2010/main" val="23994846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3995217" y="0"/>
            <a:ext cx="3056414" cy="467072"/>
          </a:xfrm>
          <a:prstGeom prst="rect">
            <a:avLst/>
          </a:prstGeom>
        </p:spPr>
        <p:txBody>
          <a:bodyPr vert="horz" lIns="93497" tIns="46749" rIns="93497" bIns="46749" rtlCol="0"/>
          <a:lstStyle>
            <a:lvl1pPr algn="r">
              <a:defRPr sz="1200"/>
            </a:lvl1pPr>
          </a:lstStyle>
          <a:p>
            <a:fld id="{7CC08BC7-9472-408E-B508-90098C4C094F}" type="datetimeFigureOut">
              <a:rPr lang="en-US" smtClean="0"/>
              <a:t>4/27/2025</a:t>
            </a:fld>
            <a:endParaRPr lang="en-US"/>
          </a:p>
        </p:txBody>
      </p:sp>
      <p:sp>
        <p:nvSpPr>
          <p:cNvPr id="4" name="Slide Image Placeholder 3"/>
          <p:cNvSpPr>
            <a:spLocks noGrp="1" noRot="1" noChangeAspect="1"/>
          </p:cNvSpPr>
          <p:nvPr>
            <p:ph type="sldImg" idx="2"/>
          </p:nvPr>
        </p:nvSpPr>
        <p:spPr>
          <a:xfrm>
            <a:off x="733425" y="1163638"/>
            <a:ext cx="5586413" cy="3141662"/>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80004"/>
            <a:ext cx="5642610" cy="3665458"/>
          </a:xfrm>
          <a:prstGeom prst="rect">
            <a:avLst/>
          </a:prstGeom>
        </p:spPr>
        <p:txBody>
          <a:bodyPr vert="horz" lIns="93497" tIns="46749" rIns="93497" bIns="467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30"/>
            <a:ext cx="3056414" cy="467071"/>
          </a:xfrm>
          <a:prstGeom prst="rect">
            <a:avLst/>
          </a:prstGeom>
        </p:spPr>
        <p:txBody>
          <a:bodyPr vert="horz" lIns="93497" tIns="46749" rIns="93497" bIns="46749" rtlCol="0" anchor="b"/>
          <a:lstStyle>
            <a:lvl1pPr algn="r">
              <a:defRPr sz="1200"/>
            </a:lvl1pPr>
          </a:lstStyle>
          <a:p>
            <a:fld id="{123EF058-44DD-4E5F-BAF6-F4BADBF395E6}" type="slidenum">
              <a:rPr lang="en-US" smtClean="0"/>
              <a:t>‹#›</a:t>
            </a:fld>
            <a:endParaRPr lang="en-US"/>
          </a:p>
        </p:txBody>
      </p:sp>
    </p:spTree>
    <p:extLst>
      <p:ext uri="{BB962C8B-B14F-4D97-AF65-F5344CB8AC3E}">
        <p14:creationId xmlns:p14="http://schemas.microsoft.com/office/powerpoint/2010/main" val="874197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A48C937-FE97-4FCA-B466-3CFA9CDF1E48}" type="slidenum">
              <a:rPr lang="en-US" smtClean="0"/>
              <a:pPr/>
              <a:t>1</a:t>
            </a:fld>
            <a:endParaRPr lang="en-US"/>
          </a:p>
        </p:txBody>
      </p:sp>
    </p:spTree>
    <p:extLst>
      <p:ext uri="{BB962C8B-B14F-4D97-AF65-F5344CB8AC3E}">
        <p14:creationId xmlns:p14="http://schemas.microsoft.com/office/powerpoint/2010/main" val="420198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PK"/>
              <a:t>Tue March 12, 2024</a:t>
            </a:r>
            <a:endParaRPr lang="en-US"/>
          </a:p>
        </p:txBody>
      </p:sp>
      <p:sp>
        <p:nvSpPr>
          <p:cNvPr id="5" name="Footer Placeholder 4"/>
          <p:cNvSpPr>
            <a:spLocks noGrp="1"/>
          </p:cNvSpPr>
          <p:nvPr>
            <p:ph type="ftr" sz="quarter" idx="11"/>
          </p:nvPr>
        </p:nvSpPr>
        <p:spPr/>
        <p:txBody>
          <a:bodyPr/>
          <a:lstStyle/>
          <a:p>
            <a:r>
              <a:rPr lang="nn-NO"/>
              <a:t>UCP Fall 2024 Programming Fundamentals</a:t>
            </a:r>
            <a:endParaRPr lang="en-US"/>
          </a:p>
        </p:txBody>
      </p:sp>
      <p:sp>
        <p:nvSpPr>
          <p:cNvPr id="6" name="Slide Number Placeholder 5"/>
          <p:cNvSpPr>
            <a:spLocks noGrp="1"/>
          </p:cNvSpPr>
          <p:nvPr>
            <p:ph type="sldNum" sz="quarter" idx="12"/>
          </p:nvPr>
        </p:nvSpPr>
        <p:spPr/>
        <p:txBody>
          <a:bodyPr/>
          <a:lstStyle/>
          <a:p>
            <a:fld id="{BDEB6DFD-27C3-4BE1-B7E6-C736F27BA817}" type="slidenum">
              <a:rPr lang="en-US" smtClean="0"/>
              <a:t>‹#›</a:t>
            </a:fld>
            <a:endParaRPr lang="en-US"/>
          </a:p>
        </p:txBody>
      </p:sp>
    </p:spTree>
    <p:extLst>
      <p:ext uri="{BB962C8B-B14F-4D97-AF65-F5344CB8AC3E}">
        <p14:creationId xmlns:p14="http://schemas.microsoft.com/office/powerpoint/2010/main" val="3621809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PK"/>
              <a:t>Tue March 12, 2024</a:t>
            </a:r>
            <a:endParaRPr lang="en-US"/>
          </a:p>
        </p:txBody>
      </p:sp>
      <p:sp>
        <p:nvSpPr>
          <p:cNvPr id="5" name="Footer Placeholder 4"/>
          <p:cNvSpPr>
            <a:spLocks noGrp="1"/>
          </p:cNvSpPr>
          <p:nvPr>
            <p:ph type="ftr" sz="quarter" idx="11"/>
          </p:nvPr>
        </p:nvSpPr>
        <p:spPr/>
        <p:txBody>
          <a:bodyPr/>
          <a:lstStyle/>
          <a:p>
            <a:r>
              <a:rPr lang="nn-NO"/>
              <a:t>UCP Fall 2024 Programming Fundamentals</a:t>
            </a:r>
            <a:endParaRPr lang="en-US"/>
          </a:p>
        </p:txBody>
      </p:sp>
      <p:sp>
        <p:nvSpPr>
          <p:cNvPr id="6" name="Slide Number Placeholder 5"/>
          <p:cNvSpPr>
            <a:spLocks noGrp="1"/>
          </p:cNvSpPr>
          <p:nvPr>
            <p:ph type="sldNum" sz="quarter" idx="12"/>
          </p:nvPr>
        </p:nvSpPr>
        <p:spPr/>
        <p:txBody>
          <a:bodyPr/>
          <a:lstStyle/>
          <a:p>
            <a:fld id="{BDEB6DFD-27C3-4BE1-B7E6-C736F27BA817}" type="slidenum">
              <a:rPr lang="en-US" smtClean="0"/>
              <a:t>‹#›</a:t>
            </a:fld>
            <a:endParaRPr lang="en-US"/>
          </a:p>
        </p:txBody>
      </p:sp>
    </p:spTree>
    <p:extLst>
      <p:ext uri="{BB962C8B-B14F-4D97-AF65-F5344CB8AC3E}">
        <p14:creationId xmlns:p14="http://schemas.microsoft.com/office/powerpoint/2010/main" val="4275940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PK"/>
              <a:t>Tue March 12, 2024</a:t>
            </a:r>
            <a:endParaRPr lang="en-US"/>
          </a:p>
        </p:txBody>
      </p:sp>
      <p:sp>
        <p:nvSpPr>
          <p:cNvPr id="5" name="Footer Placeholder 4"/>
          <p:cNvSpPr>
            <a:spLocks noGrp="1"/>
          </p:cNvSpPr>
          <p:nvPr>
            <p:ph type="ftr" sz="quarter" idx="11"/>
          </p:nvPr>
        </p:nvSpPr>
        <p:spPr/>
        <p:txBody>
          <a:bodyPr/>
          <a:lstStyle/>
          <a:p>
            <a:r>
              <a:rPr lang="nn-NO"/>
              <a:t>UCP Fall 2024 Programming Fundamentals</a:t>
            </a:r>
            <a:endParaRPr lang="en-US"/>
          </a:p>
        </p:txBody>
      </p:sp>
      <p:sp>
        <p:nvSpPr>
          <p:cNvPr id="6" name="Slide Number Placeholder 5"/>
          <p:cNvSpPr>
            <a:spLocks noGrp="1"/>
          </p:cNvSpPr>
          <p:nvPr>
            <p:ph type="sldNum" sz="quarter" idx="12"/>
          </p:nvPr>
        </p:nvSpPr>
        <p:spPr/>
        <p:txBody>
          <a:bodyPr/>
          <a:lstStyle/>
          <a:p>
            <a:fld id="{BDEB6DFD-27C3-4BE1-B7E6-C736F27BA817}" type="slidenum">
              <a:rPr lang="en-US" smtClean="0"/>
              <a:t>‹#›</a:t>
            </a:fld>
            <a:endParaRPr lang="en-US"/>
          </a:p>
        </p:txBody>
      </p:sp>
    </p:spTree>
    <p:extLst>
      <p:ext uri="{BB962C8B-B14F-4D97-AF65-F5344CB8AC3E}">
        <p14:creationId xmlns:p14="http://schemas.microsoft.com/office/powerpoint/2010/main" val="4010333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PK"/>
              <a:t>Tue March 12, 2024</a:t>
            </a:r>
            <a:endParaRPr lang="en-US"/>
          </a:p>
        </p:txBody>
      </p:sp>
      <p:sp>
        <p:nvSpPr>
          <p:cNvPr id="6" name="Footer Placeholder 5"/>
          <p:cNvSpPr>
            <a:spLocks noGrp="1"/>
          </p:cNvSpPr>
          <p:nvPr>
            <p:ph type="ftr" sz="quarter" idx="11"/>
          </p:nvPr>
        </p:nvSpPr>
        <p:spPr/>
        <p:txBody>
          <a:bodyPr/>
          <a:lstStyle/>
          <a:p>
            <a:r>
              <a:rPr lang="nn-NO"/>
              <a:t>UCP Fall 2024 Programming Fundamentals</a:t>
            </a:r>
            <a:endParaRPr lang="en-US"/>
          </a:p>
        </p:txBody>
      </p:sp>
      <p:sp>
        <p:nvSpPr>
          <p:cNvPr id="7" name="Slide Number Placeholder 6"/>
          <p:cNvSpPr>
            <a:spLocks noGrp="1"/>
          </p:cNvSpPr>
          <p:nvPr>
            <p:ph type="sldNum" sz="quarter" idx="12"/>
          </p:nvPr>
        </p:nvSpPr>
        <p:spPr/>
        <p:txBody>
          <a:bodyPr/>
          <a:lstStyle/>
          <a:p>
            <a:fld id="{BDEB6DFD-27C3-4BE1-B7E6-C736F27BA817}" type="slidenum">
              <a:rPr lang="en-US" smtClean="0"/>
              <a:t>‹#›</a:t>
            </a:fld>
            <a:endParaRPr lang="en-US"/>
          </a:p>
        </p:txBody>
      </p:sp>
    </p:spTree>
    <p:extLst>
      <p:ext uri="{BB962C8B-B14F-4D97-AF65-F5344CB8AC3E}">
        <p14:creationId xmlns:p14="http://schemas.microsoft.com/office/powerpoint/2010/main" val="311808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PK"/>
              <a:t>Tue March 12, 2024</a:t>
            </a:r>
            <a:endParaRPr lang="en-US"/>
          </a:p>
        </p:txBody>
      </p:sp>
      <p:sp>
        <p:nvSpPr>
          <p:cNvPr id="8" name="Footer Placeholder 7"/>
          <p:cNvSpPr>
            <a:spLocks noGrp="1"/>
          </p:cNvSpPr>
          <p:nvPr>
            <p:ph type="ftr" sz="quarter" idx="11"/>
          </p:nvPr>
        </p:nvSpPr>
        <p:spPr/>
        <p:txBody>
          <a:bodyPr/>
          <a:lstStyle/>
          <a:p>
            <a:r>
              <a:rPr lang="nn-NO"/>
              <a:t>UCP Fall 2024 Programming Fundamentals</a:t>
            </a:r>
            <a:endParaRPr lang="en-US"/>
          </a:p>
        </p:txBody>
      </p:sp>
      <p:sp>
        <p:nvSpPr>
          <p:cNvPr id="9" name="Slide Number Placeholder 8"/>
          <p:cNvSpPr>
            <a:spLocks noGrp="1"/>
          </p:cNvSpPr>
          <p:nvPr>
            <p:ph type="sldNum" sz="quarter" idx="12"/>
          </p:nvPr>
        </p:nvSpPr>
        <p:spPr/>
        <p:txBody>
          <a:bodyPr/>
          <a:lstStyle/>
          <a:p>
            <a:fld id="{BDEB6DFD-27C3-4BE1-B7E6-C736F27BA817}" type="slidenum">
              <a:rPr lang="en-US" smtClean="0"/>
              <a:t>‹#›</a:t>
            </a:fld>
            <a:endParaRPr lang="en-US"/>
          </a:p>
        </p:txBody>
      </p:sp>
    </p:spTree>
    <p:extLst>
      <p:ext uri="{BB962C8B-B14F-4D97-AF65-F5344CB8AC3E}">
        <p14:creationId xmlns:p14="http://schemas.microsoft.com/office/powerpoint/2010/main" val="795187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PK"/>
              <a:t>Tue March 12, 2024</a:t>
            </a:r>
            <a:endParaRPr lang="en-US"/>
          </a:p>
        </p:txBody>
      </p:sp>
      <p:sp>
        <p:nvSpPr>
          <p:cNvPr id="4" name="Footer Placeholder 3"/>
          <p:cNvSpPr>
            <a:spLocks noGrp="1"/>
          </p:cNvSpPr>
          <p:nvPr>
            <p:ph type="ftr" sz="quarter" idx="11"/>
          </p:nvPr>
        </p:nvSpPr>
        <p:spPr/>
        <p:txBody>
          <a:bodyPr/>
          <a:lstStyle/>
          <a:p>
            <a:r>
              <a:rPr lang="nn-NO"/>
              <a:t>UCP Fall 2024 Programming Fundamentals</a:t>
            </a:r>
            <a:endParaRPr lang="en-US"/>
          </a:p>
        </p:txBody>
      </p:sp>
      <p:sp>
        <p:nvSpPr>
          <p:cNvPr id="5" name="Slide Number Placeholder 4"/>
          <p:cNvSpPr>
            <a:spLocks noGrp="1"/>
          </p:cNvSpPr>
          <p:nvPr>
            <p:ph type="sldNum" sz="quarter" idx="12"/>
          </p:nvPr>
        </p:nvSpPr>
        <p:spPr/>
        <p:txBody>
          <a:bodyPr/>
          <a:lstStyle/>
          <a:p>
            <a:fld id="{BDEB6DFD-27C3-4BE1-B7E6-C736F27BA817}" type="slidenum">
              <a:rPr lang="en-US" smtClean="0"/>
              <a:t>‹#›</a:t>
            </a:fld>
            <a:endParaRPr lang="en-US"/>
          </a:p>
        </p:txBody>
      </p:sp>
    </p:spTree>
    <p:extLst>
      <p:ext uri="{BB962C8B-B14F-4D97-AF65-F5344CB8AC3E}">
        <p14:creationId xmlns:p14="http://schemas.microsoft.com/office/powerpoint/2010/main" val="979430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PK"/>
              <a:t>Tue March 12, 2024</a:t>
            </a:r>
            <a:endParaRPr lang="en-US"/>
          </a:p>
        </p:txBody>
      </p:sp>
      <p:sp>
        <p:nvSpPr>
          <p:cNvPr id="3" name="Footer Placeholder 2"/>
          <p:cNvSpPr>
            <a:spLocks noGrp="1"/>
          </p:cNvSpPr>
          <p:nvPr>
            <p:ph type="ftr" sz="quarter" idx="11"/>
          </p:nvPr>
        </p:nvSpPr>
        <p:spPr/>
        <p:txBody>
          <a:bodyPr/>
          <a:lstStyle/>
          <a:p>
            <a:r>
              <a:rPr lang="nn-NO"/>
              <a:t>UCP Fall 2024 Programming Fundamentals</a:t>
            </a:r>
            <a:endParaRPr lang="en-US"/>
          </a:p>
        </p:txBody>
      </p:sp>
      <p:sp>
        <p:nvSpPr>
          <p:cNvPr id="4" name="Slide Number Placeholder 3"/>
          <p:cNvSpPr>
            <a:spLocks noGrp="1"/>
          </p:cNvSpPr>
          <p:nvPr>
            <p:ph type="sldNum" sz="quarter" idx="12"/>
          </p:nvPr>
        </p:nvSpPr>
        <p:spPr/>
        <p:txBody>
          <a:bodyPr/>
          <a:lstStyle/>
          <a:p>
            <a:fld id="{BDEB6DFD-27C3-4BE1-B7E6-C736F27BA817}" type="slidenum">
              <a:rPr lang="en-US" smtClean="0"/>
              <a:t>‹#›</a:t>
            </a:fld>
            <a:endParaRPr lang="en-US"/>
          </a:p>
        </p:txBody>
      </p:sp>
    </p:spTree>
    <p:extLst>
      <p:ext uri="{BB962C8B-B14F-4D97-AF65-F5344CB8AC3E}">
        <p14:creationId xmlns:p14="http://schemas.microsoft.com/office/powerpoint/2010/main" val="1621455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PK"/>
              <a:t>Tue March 12, 2024</a:t>
            </a:r>
            <a:endParaRPr lang="en-US"/>
          </a:p>
        </p:txBody>
      </p:sp>
      <p:sp>
        <p:nvSpPr>
          <p:cNvPr id="6" name="Footer Placeholder 5"/>
          <p:cNvSpPr>
            <a:spLocks noGrp="1"/>
          </p:cNvSpPr>
          <p:nvPr>
            <p:ph type="ftr" sz="quarter" idx="11"/>
          </p:nvPr>
        </p:nvSpPr>
        <p:spPr/>
        <p:txBody>
          <a:bodyPr/>
          <a:lstStyle/>
          <a:p>
            <a:r>
              <a:rPr lang="nn-NO"/>
              <a:t>UCP Fall 2024 Programming Fundamentals</a:t>
            </a:r>
            <a:endParaRPr lang="en-US"/>
          </a:p>
        </p:txBody>
      </p:sp>
      <p:sp>
        <p:nvSpPr>
          <p:cNvPr id="7" name="Slide Number Placeholder 6"/>
          <p:cNvSpPr>
            <a:spLocks noGrp="1"/>
          </p:cNvSpPr>
          <p:nvPr>
            <p:ph type="sldNum" sz="quarter" idx="12"/>
          </p:nvPr>
        </p:nvSpPr>
        <p:spPr/>
        <p:txBody>
          <a:bodyPr/>
          <a:lstStyle/>
          <a:p>
            <a:fld id="{BDEB6DFD-27C3-4BE1-B7E6-C736F27BA817}" type="slidenum">
              <a:rPr lang="en-US" smtClean="0"/>
              <a:t>‹#›</a:t>
            </a:fld>
            <a:endParaRPr lang="en-US"/>
          </a:p>
        </p:txBody>
      </p:sp>
    </p:spTree>
    <p:extLst>
      <p:ext uri="{BB962C8B-B14F-4D97-AF65-F5344CB8AC3E}">
        <p14:creationId xmlns:p14="http://schemas.microsoft.com/office/powerpoint/2010/main" val="1026222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PK"/>
              <a:t>Tue March 12, 2024</a:t>
            </a:r>
            <a:endParaRPr lang="en-US"/>
          </a:p>
        </p:txBody>
      </p:sp>
      <p:sp>
        <p:nvSpPr>
          <p:cNvPr id="6" name="Footer Placeholder 5"/>
          <p:cNvSpPr>
            <a:spLocks noGrp="1"/>
          </p:cNvSpPr>
          <p:nvPr>
            <p:ph type="ftr" sz="quarter" idx="11"/>
          </p:nvPr>
        </p:nvSpPr>
        <p:spPr/>
        <p:txBody>
          <a:bodyPr/>
          <a:lstStyle/>
          <a:p>
            <a:r>
              <a:rPr lang="nn-NO"/>
              <a:t>UCP Fall 2024 Programming Fundamentals</a:t>
            </a:r>
            <a:endParaRPr lang="en-US"/>
          </a:p>
        </p:txBody>
      </p:sp>
      <p:sp>
        <p:nvSpPr>
          <p:cNvPr id="7" name="Slide Number Placeholder 6"/>
          <p:cNvSpPr>
            <a:spLocks noGrp="1"/>
          </p:cNvSpPr>
          <p:nvPr>
            <p:ph type="sldNum" sz="quarter" idx="12"/>
          </p:nvPr>
        </p:nvSpPr>
        <p:spPr/>
        <p:txBody>
          <a:bodyPr/>
          <a:lstStyle/>
          <a:p>
            <a:fld id="{BDEB6DFD-27C3-4BE1-B7E6-C736F27BA817}" type="slidenum">
              <a:rPr lang="en-US" smtClean="0"/>
              <a:t>‹#›</a:t>
            </a:fld>
            <a:endParaRPr lang="en-US"/>
          </a:p>
        </p:txBody>
      </p:sp>
    </p:spTree>
    <p:extLst>
      <p:ext uri="{BB962C8B-B14F-4D97-AF65-F5344CB8AC3E}">
        <p14:creationId xmlns:p14="http://schemas.microsoft.com/office/powerpoint/2010/main" val="469726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PK"/>
              <a:t>Tue March 12, 2024</a:t>
            </a:r>
            <a:endParaRPr lang="en-US"/>
          </a:p>
        </p:txBody>
      </p:sp>
      <p:sp>
        <p:nvSpPr>
          <p:cNvPr id="5" name="Footer Placeholder 4"/>
          <p:cNvSpPr>
            <a:spLocks noGrp="1"/>
          </p:cNvSpPr>
          <p:nvPr>
            <p:ph type="ftr" sz="quarter" idx="11"/>
          </p:nvPr>
        </p:nvSpPr>
        <p:spPr/>
        <p:txBody>
          <a:bodyPr/>
          <a:lstStyle/>
          <a:p>
            <a:r>
              <a:rPr lang="nn-NO"/>
              <a:t>UCP Fall 2024 Programming Fundamentals</a:t>
            </a:r>
            <a:endParaRPr lang="en-US"/>
          </a:p>
        </p:txBody>
      </p:sp>
      <p:sp>
        <p:nvSpPr>
          <p:cNvPr id="6" name="Slide Number Placeholder 5"/>
          <p:cNvSpPr>
            <a:spLocks noGrp="1"/>
          </p:cNvSpPr>
          <p:nvPr>
            <p:ph type="sldNum" sz="quarter" idx="12"/>
          </p:nvPr>
        </p:nvSpPr>
        <p:spPr/>
        <p:txBody>
          <a:bodyPr/>
          <a:lstStyle/>
          <a:p>
            <a:fld id="{BDEB6DFD-27C3-4BE1-B7E6-C736F27BA817}" type="slidenum">
              <a:rPr lang="en-US" smtClean="0"/>
              <a:t>‹#›</a:t>
            </a:fld>
            <a:endParaRPr lang="en-US"/>
          </a:p>
        </p:txBody>
      </p:sp>
    </p:spTree>
    <p:extLst>
      <p:ext uri="{BB962C8B-B14F-4D97-AF65-F5344CB8AC3E}">
        <p14:creationId xmlns:p14="http://schemas.microsoft.com/office/powerpoint/2010/main" val="1494630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PK"/>
              <a:t>Tue March 12, 2024</a:t>
            </a:r>
            <a:endParaRPr lang="en-US"/>
          </a:p>
        </p:txBody>
      </p:sp>
      <p:sp>
        <p:nvSpPr>
          <p:cNvPr id="5" name="Footer Placeholder 4"/>
          <p:cNvSpPr>
            <a:spLocks noGrp="1"/>
          </p:cNvSpPr>
          <p:nvPr>
            <p:ph type="ftr" sz="quarter" idx="11"/>
          </p:nvPr>
        </p:nvSpPr>
        <p:spPr/>
        <p:txBody>
          <a:bodyPr/>
          <a:lstStyle/>
          <a:p>
            <a:r>
              <a:rPr lang="nn-NO"/>
              <a:t>UCP Fall 2024 Programming Fundamentals</a:t>
            </a:r>
            <a:endParaRPr lang="en-US"/>
          </a:p>
        </p:txBody>
      </p:sp>
      <p:sp>
        <p:nvSpPr>
          <p:cNvPr id="6" name="Slide Number Placeholder 5"/>
          <p:cNvSpPr>
            <a:spLocks noGrp="1"/>
          </p:cNvSpPr>
          <p:nvPr>
            <p:ph type="sldNum" sz="quarter" idx="12"/>
          </p:nvPr>
        </p:nvSpPr>
        <p:spPr/>
        <p:txBody>
          <a:bodyPr/>
          <a:lstStyle/>
          <a:p>
            <a:fld id="{BDEB6DFD-27C3-4BE1-B7E6-C736F27BA817}" type="slidenum">
              <a:rPr lang="en-US" smtClean="0"/>
              <a:t>‹#›</a:t>
            </a:fld>
            <a:endParaRPr lang="en-US"/>
          </a:p>
        </p:txBody>
      </p:sp>
    </p:spTree>
    <p:extLst>
      <p:ext uri="{BB962C8B-B14F-4D97-AF65-F5344CB8AC3E}">
        <p14:creationId xmlns:p14="http://schemas.microsoft.com/office/powerpoint/2010/main" val="1574813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PK"/>
              <a:t>Tue March 12, 2024</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n-NO"/>
              <a:t>UCP Fall 2024 Programming Fundamentals</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EB6DFD-27C3-4BE1-B7E6-C736F27BA817}" type="slidenum">
              <a:rPr lang="en-US" smtClean="0"/>
              <a:t>‹#›</a:t>
            </a:fld>
            <a:endParaRPr lang="en-US"/>
          </a:p>
        </p:txBody>
      </p:sp>
    </p:spTree>
    <p:extLst>
      <p:ext uri="{BB962C8B-B14F-4D97-AF65-F5344CB8AC3E}">
        <p14:creationId xmlns:p14="http://schemas.microsoft.com/office/powerpoint/2010/main" val="472077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133600" y="990601"/>
            <a:ext cx="7772400" cy="1809749"/>
          </a:xfrm>
        </p:spPr>
        <p:txBody>
          <a:bodyPr anchor="ctr">
            <a:normAutofit/>
          </a:bodyPr>
          <a:lstStyle/>
          <a:p>
            <a:r>
              <a:rPr lang="en-US" sz="2000" dirty="0"/>
              <a:t>PROGRAMMING FUNDAMENTALS B16</a:t>
            </a:r>
            <a:br>
              <a:rPr lang="en-US" sz="2000" dirty="0"/>
            </a:br>
            <a:r>
              <a:rPr lang="en-US" sz="2000" dirty="0"/>
              <a:t>SPRING 2025</a:t>
            </a:r>
            <a:br>
              <a:rPr lang="en-US" sz="2000" dirty="0"/>
            </a:br>
            <a:endParaRPr lang="en-US" sz="2000" dirty="0"/>
          </a:p>
        </p:txBody>
      </p:sp>
      <p:sp>
        <p:nvSpPr>
          <p:cNvPr id="2051" name="Rectangle 3"/>
          <p:cNvSpPr>
            <a:spLocks noGrp="1" noChangeArrowheads="1"/>
          </p:cNvSpPr>
          <p:nvPr>
            <p:ph type="subTitle" idx="1"/>
          </p:nvPr>
        </p:nvSpPr>
        <p:spPr>
          <a:xfrm>
            <a:off x="2819400" y="2800350"/>
            <a:ext cx="6400800" cy="2372932"/>
          </a:xfrm>
        </p:spPr>
        <p:txBody>
          <a:bodyPr>
            <a:normAutofit fontScale="70000" lnSpcReduction="20000"/>
          </a:bodyPr>
          <a:lstStyle/>
          <a:p>
            <a:pPr>
              <a:lnSpc>
                <a:spcPct val="80000"/>
              </a:lnSpc>
            </a:pPr>
            <a:r>
              <a:rPr lang="en-US" sz="4300" dirty="0"/>
              <a:t>Functions</a:t>
            </a:r>
          </a:p>
          <a:p>
            <a:pPr>
              <a:lnSpc>
                <a:spcPct val="80000"/>
              </a:lnSpc>
            </a:pPr>
            <a:endParaRPr lang="en-US" sz="2800" dirty="0"/>
          </a:p>
          <a:p>
            <a:pPr>
              <a:lnSpc>
                <a:spcPct val="80000"/>
              </a:lnSpc>
            </a:pPr>
            <a:r>
              <a:rPr lang="en-US" sz="2800" dirty="0"/>
              <a:t>Dr. Ahmad </a:t>
            </a:r>
            <a:r>
              <a:rPr lang="en-US" sz="2800" dirty="0" err="1"/>
              <a:t>Kazmi</a:t>
            </a:r>
            <a:endParaRPr lang="en-US" sz="2800" dirty="0"/>
          </a:p>
          <a:p>
            <a:pPr>
              <a:lnSpc>
                <a:spcPct val="80000"/>
              </a:lnSpc>
            </a:pPr>
            <a:r>
              <a:rPr lang="en-US" sz="2800" dirty="0"/>
              <a:t>Department of Computer Science</a:t>
            </a:r>
          </a:p>
          <a:p>
            <a:pPr>
              <a:lnSpc>
                <a:spcPct val="80000"/>
              </a:lnSpc>
            </a:pPr>
            <a:r>
              <a:rPr lang="en-US" sz="2800" dirty="0"/>
              <a:t>Faculty of Information Technology</a:t>
            </a:r>
          </a:p>
          <a:p>
            <a:pPr>
              <a:lnSpc>
                <a:spcPct val="80000"/>
              </a:lnSpc>
            </a:pPr>
            <a:r>
              <a:rPr lang="en-US" sz="2800" dirty="0"/>
              <a:t>Week 8 Lecture 23 &amp; 24</a:t>
            </a:r>
          </a:p>
          <a:p>
            <a:pPr>
              <a:lnSpc>
                <a:spcPct val="80000"/>
              </a:lnSpc>
            </a:pPr>
            <a:r>
              <a:rPr lang="en-US" sz="2800" dirty="0"/>
              <a:t>Tue April 29, 2025</a:t>
            </a:r>
          </a:p>
        </p:txBody>
      </p:sp>
    </p:spTree>
    <p:extLst>
      <p:ext uri="{BB962C8B-B14F-4D97-AF65-F5344CB8AC3E}">
        <p14:creationId xmlns:p14="http://schemas.microsoft.com/office/powerpoint/2010/main" val="217619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FD2D4-6726-455C-A646-989C39182AE0}"/>
              </a:ext>
            </a:extLst>
          </p:cNvPr>
          <p:cNvSpPr>
            <a:spLocks noGrp="1"/>
          </p:cNvSpPr>
          <p:nvPr>
            <p:ph type="title"/>
          </p:nvPr>
        </p:nvSpPr>
        <p:spPr>
          <a:xfrm>
            <a:off x="918634" y="262467"/>
            <a:ext cx="10515600" cy="629708"/>
          </a:xfrm>
        </p:spPr>
        <p:txBody>
          <a:bodyPr>
            <a:normAutofit fontScale="90000"/>
          </a:bodyPr>
          <a:lstStyle/>
          <a:p>
            <a:r>
              <a:rPr lang="en-US" dirty="0"/>
              <a:t>Outline</a:t>
            </a:r>
            <a:endParaRPr lang="en-PK" dirty="0"/>
          </a:p>
        </p:txBody>
      </p:sp>
      <p:sp>
        <p:nvSpPr>
          <p:cNvPr id="3" name="Content Placeholder 2">
            <a:extLst>
              <a:ext uri="{FF2B5EF4-FFF2-40B4-BE49-F238E27FC236}">
                <a16:creationId xmlns:a16="http://schemas.microsoft.com/office/drawing/2014/main" id="{7DCA8FB9-BDFD-4700-B2AE-7DDF8C56D43E}"/>
              </a:ext>
            </a:extLst>
          </p:cNvPr>
          <p:cNvSpPr>
            <a:spLocks noGrp="1"/>
          </p:cNvSpPr>
          <p:nvPr>
            <p:ph idx="1"/>
          </p:nvPr>
        </p:nvSpPr>
        <p:spPr>
          <a:xfrm>
            <a:off x="1" y="990600"/>
            <a:ext cx="12124266" cy="5604933"/>
          </a:xfrm>
        </p:spPr>
        <p:txBody>
          <a:bodyPr>
            <a:normAutofit lnSpcReduction="10000"/>
          </a:bodyPr>
          <a:lstStyle/>
          <a:p>
            <a:r>
              <a:rPr lang="en-US" dirty="0"/>
              <a:t>Announcements:</a:t>
            </a:r>
          </a:p>
          <a:p>
            <a:r>
              <a:rPr lang="en-US" dirty="0"/>
              <a:t>Please Sign Up on the Circulated Sheet if You want Extra Class on Fri May 02 from 4 to 6 m, If you signup them your attendance will be marked.</a:t>
            </a:r>
          </a:p>
          <a:p>
            <a:r>
              <a:rPr lang="en-US" dirty="0"/>
              <a:t>Worksheet One is Uploaded for  your Practice, See me During Office Hours for Any Issues Or Email your Availability</a:t>
            </a:r>
          </a:p>
          <a:p>
            <a:r>
              <a:rPr lang="en-US" dirty="0"/>
              <a:t>Today</a:t>
            </a:r>
          </a:p>
          <a:p>
            <a:pPr lvl="1"/>
            <a:r>
              <a:rPr lang="en-US" dirty="0"/>
              <a:t>Formal Quiz Two</a:t>
            </a:r>
          </a:p>
          <a:p>
            <a:pPr lvl="1"/>
            <a:r>
              <a:rPr lang="en-US" dirty="0"/>
              <a:t>Midterm Exam Pattern</a:t>
            </a:r>
          </a:p>
          <a:p>
            <a:pPr lvl="1"/>
            <a:r>
              <a:rPr lang="en-US" dirty="0"/>
              <a:t>Revision: </a:t>
            </a:r>
          </a:p>
          <a:p>
            <a:pPr lvl="2"/>
            <a:r>
              <a:rPr lang="en-US" dirty="0"/>
              <a:t>File Handling</a:t>
            </a:r>
          </a:p>
          <a:p>
            <a:pPr lvl="1"/>
            <a:r>
              <a:rPr lang="en-US" dirty="0"/>
              <a:t>Functions: Parameters By</a:t>
            </a:r>
          </a:p>
          <a:p>
            <a:pPr lvl="2"/>
            <a:r>
              <a:rPr lang="en-US" dirty="0"/>
              <a:t>Value</a:t>
            </a:r>
          </a:p>
          <a:p>
            <a:pPr lvl="2"/>
            <a:r>
              <a:rPr lang="en-US" dirty="0"/>
              <a:t>Arrays</a:t>
            </a:r>
          </a:p>
          <a:p>
            <a:pPr lvl="2"/>
            <a:r>
              <a:rPr lang="en-US" dirty="0"/>
              <a:t>Reference</a:t>
            </a:r>
          </a:p>
          <a:p>
            <a:pPr lvl="1"/>
            <a:r>
              <a:rPr lang="en-US" dirty="0"/>
              <a:t>Practice Examples</a:t>
            </a:r>
          </a:p>
          <a:p>
            <a:pPr lvl="1"/>
            <a:endParaRPr lang="en-PK" dirty="0"/>
          </a:p>
          <a:p>
            <a:endParaRPr lang="en-PK" dirty="0"/>
          </a:p>
        </p:txBody>
      </p:sp>
      <p:sp>
        <p:nvSpPr>
          <p:cNvPr id="4" name="Slide Number Placeholder 3">
            <a:extLst>
              <a:ext uri="{FF2B5EF4-FFF2-40B4-BE49-F238E27FC236}">
                <a16:creationId xmlns:a16="http://schemas.microsoft.com/office/drawing/2014/main" id="{B02E2D83-DBD4-4BA5-8997-70FFBA97F134}"/>
              </a:ext>
            </a:extLst>
          </p:cNvPr>
          <p:cNvSpPr>
            <a:spLocks noGrp="1"/>
          </p:cNvSpPr>
          <p:nvPr>
            <p:ph type="sldNum" sz="quarter" idx="12"/>
          </p:nvPr>
        </p:nvSpPr>
        <p:spPr/>
        <p:txBody>
          <a:bodyPr/>
          <a:lstStyle/>
          <a:p>
            <a:fld id="{BDEB6DFD-27C3-4BE1-B7E6-C736F27BA817}" type="slidenum">
              <a:rPr lang="en-US" smtClean="0"/>
              <a:t>2</a:t>
            </a:fld>
            <a:endParaRPr lang="en-US"/>
          </a:p>
        </p:txBody>
      </p:sp>
    </p:spTree>
    <p:extLst>
      <p:ext uri="{BB962C8B-B14F-4D97-AF65-F5344CB8AC3E}">
        <p14:creationId xmlns:p14="http://schemas.microsoft.com/office/powerpoint/2010/main" val="35431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E5A-EA7B-4200-A501-1EE1C4229EBF}"/>
              </a:ext>
            </a:extLst>
          </p:cNvPr>
          <p:cNvSpPr>
            <a:spLocks noGrp="1"/>
          </p:cNvSpPr>
          <p:nvPr>
            <p:ph type="title"/>
          </p:nvPr>
        </p:nvSpPr>
        <p:spPr>
          <a:xfrm>
            <a:off x="1524000" y="2422525"/>
            <a:ext cx="8777288" cy="2006600"/>
          </a:xfrm>
        </p:spPr>
        <p:txBody>
          <a:bodyPr>
            <a:normAutofit/>
          </a:bodyPr>
          <a:lstStyle/>
          <a:p>
            <a:pPr algn="ctr"/>
            <a:r>
              <a:rPr lang="en-US" dirty="0"/>
              <a:t>Formal Quiz 2</a:t>
            </a:r>
            <a:endParaRPr lang="en-PK" dirty="0"/>
          </a:p>
        </p:txBody>
      </p:sp>
      <p:sp>
        <p:nvSpPr>
          <p:cNvPr id="5" name="Slide Number Placeholder 4">
            <a:extLst>
              <a:ext uri="{FF2B5EF4-FFF2-40B4-BE49-F238E27FC236}">
                <a16:creationId xmlns:a16="http://schemas.microsoft.com/office/drawing/2014/main" id="{30456143-C25F-4F21-AE9C-9A45A01E8352}"/>
              </a:ext>
            </a:extLst>
          </p:cNvPr>
          <p:cNvSpPr>
            <a:spLocks noGrp="1"/>
          </p:cNvSpPr>
          <p:nvPr>
            <p:ph type="sldNum" sz="quarter" idx="12"/>
          </p:nvPr>
        </p:nvSpPr>
        <p:spPr/>
        <p:txBody>
          <a:bodyPr/>
          <a:lstStyle/>
          <a:p>
            <a:fld id="{BDEB6DFD-27C3-4BE1-B7E6-C736F27BA817}" type="slidenum">
              <a:rPr lang="en-US" smtClean="0"/>
              <a:t>3</a:t>
            </a:fld>
            <a:endParaRPr lang="en-US"/>
          </a:p>
        </p:txBody>
      </p:sp>
    </p:spTree>
    <p:extLst>
      <p:ext uri="{BB962C8B-B14F-4D97-AF65-F5344CB8AC3E}">
        <p14:creationId xmlns:p14="http://schemas.microsoft.com/office/powerpoint/2010/main" val="246365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E5A-EA7B-4200-A501-1EE1C4229EBF}"/>
              </a:ext>
            </a:extLst>
          </p:cNvPr>
          <p:cNvSpPr>
            <a:spLocks noGrp="1"/>
          </p:cNvSpPr>
          <p:nvPr>
            <p:ph type="title"/>
          </p:nvPr>
        </p:nvSpPr>
        <p:spPr>
          <a:xfrm>
            <a:off x="1524000" y="2422525"/>
            <a:ext cx="8777288" cy="2006600"/>
          </a:xfrm>
        </p:spPr>
        <p:txBody>
          <a:bodyPr>
            <a:normAutofit/>
          </a:bodyPr>
          <a:lstStyle/>
          <a:p>
            <a:pPr algn="ctr"/>
            <a:r>
              <a:rPr lang="en-US" dirty="0"/>
              <a:t>Midterm Syllabus and Pattern</a:t>
            </a:r>
            <a:endParaRPr lang="en-PK" dirty="0"/>
          </a:p>
        </p:txBody>
      </p:sp>
      <p:sp>
        <p:nvSpPr>
          <p:cNvPr id="5" name="Slide Number Placeholder 4">
            <a:extLst>
              <a:ext uri="{FF2B5EF4-FFF2-40B4-BE49-F238E27FC236}">
                <a16:creationId xmlns:a16="http://schemas.microsoft.com/office/drawing/2014/main" id="{30456143-C25F-4F21-AE9C-9A45A01E8352}"/>
              </a:ext>
            </a:extLst>
          </p:cNvPr>
          <p:cNvSpPr>
            <a:spLocks noGrp="1"/>
          </p:cNvSpPr>
          <p:nvPr>
            <p:ph type="sldNum" sz="quarter" idx="12"/>
          </p:nvPr>
        </p:nvSpPr>
        <p:spPr/>
        <p:txBody>
          <a:bodyPr/>
          <a:lstStyle/>
          <a:p>
            <a:fld id="{BDEB6DFD-27C3-4BE1-B7E6-C736F27BA817}" type="slidenum">
              <a:rPr lang="en-US" smtClean="0"/>
              <a:t>4</a:t>
            </a:fld>
            <a:endParaRPr lang="en-US"/>
          </a:p>
        </p:txBody>
      </p:sp>
    </p:spTree>
    <p:extLst>
      <p:ext uri="{BB962C8B-B14F-4D97-AF65-F5344CB8AC3E}">
        <p14:creationId xmlns:p14="http://schemas.microsoft.com/office/powerpoint/2010/main" val="224857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2378D-DF7C-4DC2-A0F9-878E368E8E4B}"/>
              </a:ext>
            </a:extLst>
          </p:cNvPr>
          <p:cNvSpPr>
            <a:spLocks noGrp="1"/>
          </p:cNvSpPr>
          <p:nvPr>
            <p:ph type="title"/>
          </p:nvPr>
        </p:nvSpPr>
        <p:spPr/>
        <p:txBody>
          <a:bodyPr/>
          <a:lstStyle/>
          <a:p>
            <a:r>
              <a:rPr lang="en-US" dirty="0"/>
              <a:t>PF Midterm Exam Syllabus</a:t>
            </a:r>
            <a:endParaRPr lang="en-PK" dirty="0"/>
          </a:p>
        </p:txBody>
      </p:sp>
      <p:sp>
        <p:nvSpPr>
          <p:cNvPr id="3" name="Content Placeholder 2">
            <a:extLst>
              <a:ext uri="{FF2B5EF4-FFF2-40B4-BE49-F238E27FC236}">
                <a16:creationId xmlns:a16="http://schemas.microsoft.com/office/drawing/2014/main" id="{FD133472-8C0A-4E93-BD71-428A70959730}"/>
              </a:ext>
            </a:extLst>
          </p:cNvPr>
          <p:cNvSpPr>
            <a:spLocks noGrp="1"/>
          </p:cNvSpPr>
          <p:nvPr>
            <p:ph idx="1"/>
          </p:nvPr>
        </p:nvSpPr>
        <p:spPr>
          <a:xfrm>
            <a:off x="838200" y="1481667"/>
            <a:ext cx="10515600" cy="5239808"/>
          </a:xfrm>
        </p:spPr>
        <p:txBody>
          <a:bodyPr/>
          <a:lstStyle/>
          <a:p>
            <a:pPr marL="0" indent="0">
              <a:buNone/>
            </a:pPr>
            <a:r>
              <a:rPr lang="en-US" dirty="0"/>
              <a:t>File Handling:</a:t>
            </a:r>
          </a:p>
          <a:p>
            <a:pPr lvl="1"/>
            <a:r>
              <a:rPr lang="en-US" dirty="0"/>
              <a:t>Reading from Text Files </a:t>
            </a:r>
          </a:p>
          <a:p>
            <a:pPr lvl="1"/>
            <a:r>
              <a:rPr lang="en-US" dirty="0"/>
              <a:t>Reading from CSV Files </a:t>
            </a:r>
          </a:p>
          <a:p>
            <a:pPr lvl="1"/>
            <a:r>
              <a:rPr lang="en-US" dirty="0"/>
              <a:t>Writing to Text Files </a:t>
            </a:r>
          </a:p>
          <a:p>
            <a:pPr lvl="1"/>
            <a:r>
              <a:rPr lang="en-US" dirty="0"/>
              <a:t>Writing to CSV Files </a:t>
            </a:r>
          </a:p>
          <a:p>
            <a:pPr lvl="1"/>
            <a:r>
              <a:rPr lang="en-US" dirty="0"/>
              <a:t>Reading Structure Data from Text or CSV Files</a:t>
            </a:r>
          </a:p>
          <a:p>
            <a:pPr lvl="1"/>
            <a:r>
              <a:rPr lang="en-US" dirty="0"/>
              <a:t>Writing Structure Data to Text or CSV Files</a:t>
            </a:r>
          </a:p>
          <a:p>
            <a:pPr marL="0" indent="0">
              <a:buNone/>
            </a:pPr>
            <a:r>
              <a:rPr lang="en-US" dirty="0"/>
              <a:t>Functions:</a:t>
            </a:r>
          </a:p>
          <a:p>
            <a:pPr lvl="1"/>
            <a:r>
              <a:rPr lang="en-US" dirty="0"/>
              <a:t>Passing Parameters by Value, by Reference and by Arrays</a:t>
            </a:r>
          </a:p>
          <a:p>
            <a:pPr lvl="1"/>
            <a:r>
              <a:rPr lang="en-US" dirty="0"/>
              <a:t>Function Prototypes</a:t>
            </a:r>
          </a:p>
        </p:txBody>
      </p:sp>
      <p:sp>
        <p:nvSpPr>
          <p:cNvPr id="4" name="Slide Number Placeholder 3">
            <a:extLst>
              <a:ext uri="{FF2B5EF4-FFF2-40B4-BE49-F238E27FC236}">
                <a16:creationId xmlns:a16="http://schemas.microsoft.com/office/drawing/2014/main" id="{14CACE73-2387-4D03-B5F7-B97BD14973BF}"/>
              </a:ext>
            </a:extLst>
          </p:cNvPr>
          <p:cNvSpPr>
            <a:spLocks noGrp="1"/>
          </p:cNvSpPr>
          <p:nvPr>
            <p:ph type="sldNum" sz="quarter" idx="12"/>
          </p:nvPr>
        </p:nvSpPr>
        <p:spPr/>
        <p:txBody>
          <a:bodyPr/>
          <a:lstStyle/>
          <a:p>
            <a:fld id="{BDEB6DFD-27C3-4BE1-B7E6-C736F27BA817}" type="slidenum">
              <a:rPr lang="en-US" smtClean="0"/>
              <a:t>5</a:t>
            </a:fld>
            <a:endParaRPr lang="en-US"/>
          </a:p>
        </p:txBody>
      </p:sp>
    </p:spTree>
    <p:extLst>
      <p:ext uri="{BB962C8B-B14F-4D97-AF65-F5344CB8AC3E}">
        <p14:creationId xmlns:p14="http://schemas.microsoft.com/office/powerpoint/2010/main" val="2273329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2378D-DF7C-4DC2-A0F9-878E368E8E4B}"/>
              </a:ext>
            </a:extLst>
          </p:cNvPr>
          <p:cNvSpPr>
            <a:spLocks noGrp="1"/>
          </p:cNvSpPr>
          <p:nvPr>
            <p:ph type="title"/>
          </p:nvPr>
        </p:nvSpPr>
        <p:spPr>
          <a:xfrm>
            <a:off x="838200" y="365126"/>
            <a:ext cx="10515600" cy="820208"/>
          </a:xfrm>
        </p:spPr>
        <p:txBody>
          <a:bodyPr/>
          <a:lstStyle/>
          <a:p>
            <a:r>
              <a:rPr lang="en-US" dirty="0"/>
              <a:t>PF Midterm Exam Style</a:t>
            </a:r>
            <a:endParaRPr lang="en-PK" dirty="0"/>
          </a:p>
        </p:txBody>
      </p:sp>
      <p:sp>
        <p:nvSpPr>
          <p:cNvPr id="3" name="Content Placeholder 2">
            <a:extLst>
              <a:ext uri="{FF2B5EF4-FFF2-40B4-BE49-F238E27FC236}">
                <a16:creationId xmlns:a16="http://schemas.microsoft.com/office/drawing/2014/main" id="{FD133472-8C0A-4E93-BD71-428A70959730}"/>
              </a:ext>
            </a:extLst>
          </p:cNvPr>
          <p:cNvSpPr>
            <a:spLocks noGrp="1"/>
          </p:cNvSpPr>
          <p:nvPr>
            <p:ph idx="1"/>
          </p:nvPr>
        </p:nvSpPr>
        <p:spPr>
          <a:xfrm>
            <a:off x="838199" y="1481666"/>
            <a:ext cx="11006667" cy="5147733"/>
          </a:xfrm>
        </p:spPr>
        <p:txBody>
          <a:bodyPr/>
          <a:lstStyle/>
          <a:p>
            <a:pPr marL="0" indent="0">
              <a:buNone/>
            </a:pPr>
            <a:r>
              <a:rPr lang="en-US" dirty="0"/>
              <a:t>Objective:</a:t>
            </a:r>
          </a:p>
          <a:p>
            <a:pPr lvl="1"/>
            <a:r>
              <a:rPr lang="en-US" dirty="0"/>
              <a:t>Multiple Choice Questions</a:t>
            </a:r>
          </a:p>
          <a:p>
            <a:pPr lvl="1"/>
            <a:r>
              <a:rPr lang="en-US" dirty="0"/>
              <a:t>Short Question</a:t>
            </a:r>
          </a:p>
          <a:p>
            <a:pPr lvl="2"/>
            <a:r>
              <a:rPr lang="en-US" dirty="0"/>
              <a:t>Writing Code Snippets</a:t>
            </a:r>
          </a:p>
          <a:p>
            <a:pPr lvl="2"/>
            <a:r>
              <a:rPr lang="en-US" dirty="0"/>
              <a:t>Dry Run</a:t>
            </a:r>
          </a:p>
          <a:p>
            <a:pPr lvl="2"/>
            <a:r>
              <a:rPr lang="en-US" dirty="0"/>
              <a:t>Error Finding and Correction</a:t>
            </a:r>
          </a:p>
          <a:p>
            <a:pPr lvl="2"/>
            <a:r>
              <a:rPr lang="en-US" dirty="0"/>
              <a:t>Etc.</a:t>
            </a:r>
          </a:p>
          <a:p>
            <a:pPr marL="0" indent="0">
              <a:buNone/>
            </a:pPr>
            <a:r>
              <a:rPr lang="en-US" dirty="0"/>
              <a:t>Subjective:</a:t>
            </a:r>
          </a:p>
          <a:p>
            <a:pPr lvl="1"/>
            <a:r>
              <a:rPr lang="en-US" dirty="0"/>
              <a:t>Writing Complete C++ Programs, other than main,  using more than one functions</a:t>
            </a:r>
          </a:p>
          <a:p>
            <a:pPr lvl="1"/>
            <a:r>
              <a:rPr lang="en-US" dirty="0"/>
              <a:t>No Restriction on how Parameters are Passed</a:t>
            </a:r>
          </a:p>
        </p:txBody>
      </p:sp>
      <p:sp>
        <p:nvSpPr>
          <p:cNvPr id="4" name="Slide Number Placeholder 3">
            <a:extLst>
              <a:ext uri="{FF2B5EF4-FFF2-40B4-BE49-F238E27FC236}">
                <a16:creationId xmlns:a16="http://schemas.microsoft.com/office/drawing/2014/main" id="{14CACE73-2387-4D03-B5F7-B97BD14973BF}"/>
              </a:ext>
            </a:extLst>
          </p:cNvPr>
          <p:cNvSpPr>
            <a:spLocks noGrp="1"/>
          </p:cNvSpPr>
          <p:nvPr>
            <p:ph type="sldNum" sz="quarter" idx="12"/>
          </p:nvPr>
        </p:nvSpPr>
        <p:spPr/>
        <p:txBody>
          <a:bodyPr/>
          <a:lstStyle/>
          <a:p>
            <a:fld id="{BDEB6DFD-27C3-4BE1-B7E6-C736F27BA817}" type="slidenum">
              <a:rPr lang="en-US" smtClean="0"/>
              <a:t>6</a:t>
            </a:fld>
            <a:endParaRPr lang="en-US"/>
          </a:p>
        </p:txBody>
      </p:sp>
    </p:spTree>
    <p:extLst>
      <p:ext uri="{BB962C8B-B14F-4D97-AF65-F5344CB8AC3E}">
        <p14:creationId xmlns:p14="http://schemas.microsoft.com/office/powerpoint/2010/main" val="1252899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E5A-EA7B-4200-A501-1EE1C4229EBF}"/>
              </a:ext>
            </a:extLst>
          </p:cNvPr>
          <p:cNvSpPr>
            <a:spLocks noGrp="1"/>
          </p:cNvSpPr>
          <p:nvPr>
            <p:ph type="title"/>
          </p:nvPr>
        </p:nvSpPr>
        <p:spPr>
          <a:xfrm>
            <a:off x="1524000" y="2422524"/>
            <a:ext cx="8777288" cy="2886075"/>
          </a:xfrm>
        </p:spPr>
        <p:txBody>
          <a:bodyPr>
            <a:normAutofit/>
          </a:bodyPr>
          <a:lstStyle/>
          <a:p>
            <a:pPr algn="ctr"/>
            <a:r>
              <a:rPr lang="en-US" dirty="0"/>
              <a:t>Midterm Instructions </a:t>
            </a:r>
            <a:br>
              <a:rPr lang="en-US" dirty="0"/>
            </a:br>
            <a:r>
              <a:rPr lang="en-US" dirty="0"/>
              <a:t>and </a:t>
            </a:r>
            <a:br>
              <a:rPr lang="en-US" dirty="0"/>
            </a:br>
            <a:r>
              <a:rPr lang="en-US" dirty="0"/>
              <a:t>Guidelines</a:t>
            </a:r>
            <a:endParaRPr lang="en-PK" dirty="0"/>
          </a:p>
        </p:txBody>
      </p:sp>
      <p:sp>
        <p:nvSpPr>
          <p:cNvPr id="5" name="Slide Number Placeholder 4">
            <a:extLst>
              <a:ext uri="{FF2B5EF4-FFF2-40B4-BE49-F238E27FC236}">
                <a16:creationId xmlns:a16="http://schemas.microsoft.com/office/drawing/2014/main" id="{30456143-C25F-4F21-AE9C-9A45A01E8352}"/>
              </a:ext>
            </a:extLst>
          </p:cNvPr>
          <p:cNvSpPr>
            <a:spLocks noGrp="1"/>
          </p:cNvSpPr>
          <p:nvPr>
            <p:ph type="sldNum" sz="quarter" idx="12"/>
          </p:nvPr>
        </p:nvSpPr>
        <p:spPr/>
        <p:txBody>
          <a:bodyPr/>
          <a:lstStyle/>
          <a:p>
            <a:fld id="{BDEB6DFD-27C3-4BE1-B7E6-C736F27BA817}" type="slidenum">
              <a:rPr lang="en-US" smtClean="0"/>
              <a:t>7</a:t>
            </a:fld>
            <a:endParaRPr lang="en-US"/>
          </a:p>
        </p:txBody>
      </p:sp>
    </p:spTree>
    <p:extLst>
      <p:ext uri="{BB962C8B-B14F-4D97-AF65-F5344CB8AC3E}">
        <p14:creationId xmlns:p14="http://schemas.microsoft.com/office/powerpoint/2010/main" val="2593672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CA7F9-8B07-458F-B09C-268533BA0130}"/>
              </a:ext>
            </a:extLst>
          </p:cNvPr>
          <p:cNvSpPr>
            <a:spLocks noGrp="1"/>
          </p:cNvSpPr>
          <p:nvPr>
            <p:ph type="title"/>
          </p:nvPr>
        </p:nvSpPr>
        <p:spPr>
          <a:xfrm>
            <a:off x="838200" y="136525"/>
            <a:ext cx="10515600" cy="600074"/>
          </a:xfrm>
        </p:spPr>
        <p:txBody>
          <a:bodyPr>
            <a:normAutofit fontScale="90000"/>
          </a:bodyPr>
          <a:lstStyle/>
          <a:p>
            <a:r>
              <a:rPr lang="en-US" dirty="0"/>
              <a:t>Midterm Made Easy </a:t>
            </a:r>
            <a:endParaRPr lang="en-PK" dirty="0"/>
          </a:p>
        </p:txBody>
      </p:sp>
      <p:sp>
        <p:nvSpPr>
          <p:cNvPr id="3" name="Content Placeholder 2">
            <a:extLst>
              <a:ext uri="{FF2B5EF4-FFF2-40B4-BE49-F238E27FC236}">
                <a16:creationId xmlns:a16="http://schemas.microsoft.com/office/drawing/2014/main" id="{E65AC8E9-0631-4C2C-8AEF-8AD03DAEF1F5}"/>
              </a:ext>
            </a:extLst>
          </p:cNvPr>
          <p:cNvSpPr>
            <a:spLocks noGrp="1"/>
          </p:cNvSpPr>
          <p:nvPr>
            <p:ph idx="1"/>
          </p:nvPr>
        </p:nvSpPr>
        <p:spPr>
          <a:xfrm>
            <a:off x="177800" y="804333"/>
            <a:ext cx="11176000" cy="6053667"/>
          </a:xfrm>
        </p:spPr>
        <p:txBody>
          <a:bodyPr>
            <a:normAutofit fontScale="92500" lnSpcReduction="10000"/>
          </a:bodyPr>
          <a:lstStyle/>
          <a:p>
            <a:pPr marL="0" indent="0">
              <a:buNone/>
            </a:pPr>
            <a:r>
              <a:rPr lang="en-US" dirty="0"/>
              <a:t>Compulsory Instructions (</a:t>
            </a:r>
            <a:r>
              <a:rPr lang="en-US" b="1" dirty="0"/>
              <a:t>must follow or lose marks)</a:t>
            </a:r>
          </a:p>
          <a:p>
            <a:pPr lvl="1"/>
            <a:r>
              <a:rPr lang="en-US" dirty="0"/>
              <a:t>Follow Good Code Writing Practice:</a:t>
            </a:r>
          </a:p>
          <a:p>
            <a:pPr lvl="2"/>
            <a:r>
              <a:rPr lang="en-US" dirty="0"/>
              <a:t>Each variable must be declared in a separate line and must be initialized</a:t>
            </a:r>
          </a:p>
          <a:p>
            <a:pPr lvl="2"/>
            <a:r>
              <a:rPr lang="en-US" dirty="0"/>
              <a:t>Use white spaces and indentation in Code to make it Readable</a:t>
            </a:r>
          </a:p>
          <a:p>
            <a:pPr lvl="2"/>
            <a:r>
              <a:rPr lang="en-US" dirty="0"/>
              <a:t>Always Write Size of Array in [ ] and Initialize the Array</a:t>
            </a:r>
          </a:p>
          <a:p>
            <a:pPr lvl="1"/>
            <a:r>
              <a:rPr lang="en-US" dirty="0"/>
              <a:t>Follow Code Writing Template (</a:t>
            </a:r>
            <a:r>
              <a:rPr lang="en-US" b="1" dirty="0"/>
              <a:t>given in these slides)</a:t>
            </a:r>
            <a:endParaRPr lang="en-US" dirty="0"/>
          </a:p>
          <a:p>
            <a:pPr lvl="1"/>
            <a:r>
              <a:rPr lang="en-US" dirty="0"/>
              <a:t>Read Question Paper Carefully and Follow Instructions</a:t>
            </a:r>
          </a:p>
          <a:p>
            <a:pPr lvl="1"/>
            <a:r>
              <a:rPr lang="en-US" dirty="0"/>
              <a:t>Don’t Include Any Libraries other than iostream and </a:t>
            </a:r>
            <a:r>
              <a:rPr lang="en-US" dirty="0" err="1"/>
              <a:t>fstream</a:t>
            </a:r>
            <a:endParaRPr lang="en-US" dirty="0"/>
          </a:p>
          <a:p>
            <a:pPr lvl="1"/>
            <a:r>
              <a:rPr lang="en-US" dirty="0"/>
              <a:t>Don’t use </a:t>
            </a:r>
            <a:r>
              <a:rPr lang="en-US" b="1" dirty="0"/>
              <a:t>string </a:t>
            </a:r>
            <a:r>
              <a:rPr lang="en-US" dirty="0"/>
              <a:t>and these built in functions </a:t>
            </a:r>
            <a:r>
              <a:rPr lang="en-US" b="1" dirty="0" err="1"/>
              <a:t>strlen</a:t>
            </a:r>
            <a:r>
              <a:rPr lang="en-US" b="1" dirty="0"/>
              <a:t>, </a:t>
            </a:r>
            <a:r>
              <a:rPr lang="en-US" b="1" dirty="0" err="1"/>
              <a:t>getline</a:t>
            </a:r>
            <a:r>
              <a:rPr lang="en-US" b="1" dirty="0"/>
              <a:t>, get </a:t>
            </a:r>
            <a:r>
              <a:rPr lang="en-US" dirty="0"/>
              <a:t>etc.</a:t>
            </a:r>
          </a:p>
          <a:p>
            <a:pPr lvl="1"/>
            <a:r>
              <a:rPr lang="en-US" dirty="0"/>
              <a:t>Don’t Use  any </a:t>
            </a:r>
            <a:r>
              <a:rPr lang="en-US" dirty="0" err="1"/>
              <a:t>cin</a:t>
            </a:r>
            <a:r>
              <a:rPr lang="en-US" dirty="0"/>
              <a:t>, </a:t>
            </a:r>
            <a:r>
              <a:rPr lang="en-US" dirty="0" err="1"/>
              <a:t>cout</a:t>
            </a:r>
            <a:r>
              <a:rPr lang="en-US" dirty="0"/>
              <a:t>, math, loops or logic in main</a:t>
            </a:r>
          </a:p>
          <a:p>
            <a:pPr lvl="1"/>
            <a:r>
              <a:rPr lang="en-US" dirty="0"/>
              <a:t>Main must only contain Variables Declarations and Function Calls</a:t>
            </a:r>
          </a:p>
          <a:p>
            <a:pPr marL="0" indent="0">
              <a:buNone/>
            </a:pPr>
            <a:r>
              <a:rPr lang="en-US" dirty="0"/>
              <a:t>Recommendations (</a:t>
            </a:r>
            <a:r>
              <a:rPr lang="en-US" b="1" dirty="0"/>
              <a:t>Saves Time and Less Errors)</a:t>
            </a:r>
          </a:p>
          <a:p>
            <a:pPr lvl="1"/>
            <a:r>
              <a:rPr lang="en-US" b="1" dirty="0"/>
              <a:t>Take 5 Minutes to Read Paper and Take Notes</a:t>
            </a:r>
          </a:p>
          <a:p>
            <a:pPr lvl="1"/>
            <a:r>
              <a:rPr lang="en-US" b="1" dirty="0"/>
              <a:t>Decide and Attempt the Easiest (May be Quickest) Question First</a:t>
            </a:r>
          </a:p>
          <a:p>
            <a:pPr lvl="1"/>
            <a:r>
              <a:rPr lang="en-US" b="1" dirty="0"/>
              <a:t>Write Only as Much Code as Required or Asked, e.g. </a:t>
            </a:r>
          </a:p>
          <a:p>
            <a:pPr lvl="2"/>
            <a:r>
              <a:rPr lang="en-US" b="1" dirty="0"/>
              <a:t>Don’t use “include ..” and “using namespace..” for Theory Exam Code</a:t>
            </a:r>
          </a:p>
          <a:p>
            <a:pPr lvl="2"/>
            <a:r>
              <a:rPr lang="en-US" b="1" dirty="0"/>
              <a:t>Don’t Write main function if not Required</a:t>
            </a:r>
          </a:p>
          <a:p>
            <a:pPr lvl="2"/>
            <a:r>
              <a:rPr lang="en-US" b="1" dirty="0"/>
              <a:t>Don’t Repeat Question Description in the Answer Sheet</a:t>
            </a:r>
            <a:endParaRPr lang="en-PK" dirty="0"/>
          </a:p>
        </p:txBody>
      </p:sp>
      <p:sp>
        <p:nvSpPr>
          <p:cNvPr id="4" name="Slide Number Placeholder 3">
            <a:extLst>
              <a:ext uri="{FF2B5EF4-FFF2-40B4-BE49-F238E27FC236}">
                <a16:creationId xmlns:a16="http://schemas.microsoft.com/office/drawing/2014/main" id="{77126308-0078-4DD5-88B8-793737FA5232}"/>
              </a:ext>
            </a:extLst>
          </p:cNvPr>
          <p:cNvSpPr>
            <a:spLocks noGrp="1"/>
          </p:cNvSpPr>
          <p:nvPr>
            <p:ph type="sldNum" sz="quarter" idx="12"/>
          </p:nvPr>
        </p:nvSpPr>
        <p:spPr/>
        <p:txBody>
          <a:bodyPr/>
          <a:lstStyle/>
          <a:p>
            <a:fld id="{BDEB6DFD-27C3-4BE1-B7E6-C736F27BA817}" type="slidenum">
              <a:rPr lang="en-US" smtClean="0"/>
              <a:t>8</a:t>
            </a:fld>
            <a:endParaRPr lang="en-US"/>
          </a:p>
        </p:txBody>
      </p:sp>
    </p:spTree>
    <p:extLst>
      <p:ext uri="{BB962C8B-B14F-4D97-AF65-F5344CB8AC3E}">
        <p14:creationId xmlns:p14="http://schemas.microsoft.com/office/powerpoint/2010/main" val="2812471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E5A-EA7B-4200-A501-1EE1C4229EBF}"/>
              </a:ext>
            </a:extLst>
          </p:cNvPr>
          <p:cNvSpPr>
            <a:spLocks noGrp="1"/>
          </p:cNvSpPr>
          <p:nvPr>
            <p:ph type="title"/>
          </p:nvPr>
        </p:nvSpPr>
        <p:spPr>
          <a:xfrm>
            <a:off x="1524000" y="2422525"/>
            <a:ext cx="8777288" cy="2006600"/>
          </a:xfrm>
        </p:spPr>
        <p:txBody>
          <a:bodyPr>
            <a:normAutofit/>
          </a:bodyPr>
          <a:lstStyle/>
          <a:p>
            <a:pPr algn="ctr"/>
            <a:r>
              <a:rPr lang="en-US" dirty="0"/>
              <a:t>Midterm Revision</a:t>
            </a:r>
            <a:endParaRPr lang="en-PK" dirty="0"/>
          </a:p>
        </p:txBody>
      </p:sp>
      <p:sp>
        <p:nvSpPr>
          <p:cNvPr id="5" name="Slide Number Placeholder 4">
            <a:extLst>
              <a:ext uri="{FF2B5EF4-FFF2-40B4-BE49-F238E27FC236}">
                <a16:creationId xmlns:a16="http://schemas.microsoft.com/office/drawing/2014/main" id="{30456143-C25F-4F21-AE9C-9A45A01E8352}"/>
              </a:ext>
            </a:extLst>
          </p:cNvPr>
          <p:cNvSpPr>
            <a:spLocks noGrp="1"/>
          </p:cNvSpPr>
          <p:nvPr>
            <p:ph type="sldNum" sz="quarter" idx="12"/>
          </p:nvPr>
        </p:nvSpPr>
        <p:spPr/>
        <p:txBody>
          <a:bodyPr/>
          <a:lstStyle/>
          <a:p>
            <a:fld id="{BDEB6DFD-27C3-4BE1-B7E6-C736F27BA817}" type="slidenum">
              <a:rPr lang="en-US" smtClean="0"/>
              <a:t>9</a:t>
            </a:fld>
            <a:endParaRPr lang="en-US"/>
          </a:p>
        </p:txBody>
      </p:sp>
    </p:spTree>
    <p:extLst>
      <p:ext uri="{BB962C8B-B14F-4D97-AF65-F5344CB8AC3E}">
        <p14:creationId xmlns:p14="http://schemas.microsoft.com/office/powerpoint/2010/main" val="2614147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E5A-EA7B-4200-A501-1EE1C4229EBF}"/>
              </a:ext>
            </a:extLst>
          </p:cNvPr>
          <p:cNvSpPr>
            <a:spLocks noGrp="1"/>
          </p:cNvSpPr>
          <p:nvPr>
            <p:ph type="title"/>
          </p:nvPr>
        </p:nvSpPr>
        <p:spPr>
          <a:xfrm>
            <a:off x="779929" y="2425700"/>
            <a:ext cx="10207159" cy="2006600"/>
          </a:xfrm>
        </p:spPr>
        <p:txBody>
          <a:bodyPr>
            <a:normAutofit/>
          </a:bodyPr>
          <a:lstStyle/>
          <a:p>
            <a:pPr algn="ctr"/>
            <a:r>
              <a:rPr lang="en-US" dirty="0"/>
              <a:t>C++ Code Writing Style Template</a:t>
            </a:r>
            <a:endParaRPr lang="en-PK" dirty="0"/>
          </a:p>
        </p:txBody>
      </p:sp>
      <p:sp>
        <p:nvSpPr>
          <p:cNvPr id="5" name="Slide Number Placeholder 4">
            <a:extLst>
              <a:ext uri="{FF2B5EF4-FFF2-40B4-BE49-F238E27FC236}">
                <a16:creationId xmlns:a16="http://schemas.microsoft.com/office/drawing/2014/main" id="{30456143-C25F-4F21-AE9C-9A45A01E8352}"/>
              </a:ext>
            </a:extLst>
          </p:cNvPr>
          <p:cNvSpPr>
            <a:spLocks noGrp="1"/>
          </p:cNvSpPr>
          <p:nvPr>
            <p:ph type="sldNum" sz="quarter" idx="12"/>
          </p:nvPr>
        </p:nvSpPr>
        <p:spPr/>
        <p:txBody>
          <a:bodyPr/>
          <a:lstStyle/>
          <a:p>
            <a:fld id="{BDEB6DFD-27C3-4BE1-B7E6-C736F27BA817}" type="slidenum">
              <a:rPr lang="en-US" smtClean="0"/>
              <a:t>10</a:t>
            </a:fld>
            <a:endParaRPr lang="en-US"/>
          </a:p>
        </p:txBody>
      </p:sp>
    </p:spTree>
    <p:extLst>
      <p:ext uri="{BB962C8B-B14F-4D97-AF65-F5344CB8AC3E}">
        <p14:creationId xmlns:p14="http://schemas.microsoft.com/office/powerpoint/2010/main" val="534043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C0648-281A-4A33-85A4-66738E3E0B6B}"/>
              </a:ext>
            </a:extLst>
          </p:cNvPr>
          <p:cNvSpPr>
            <a:spLocks noGrp="1"/>
          </p:cNvSpPr>
          <p:nvPr>
            <p:ph type="title"/>
          </p:nvPr>
        </p:nvSpPr>
        <p:spPr/>
        <p:txBody>
          <a:bodyPr/>
          <a:lstStyle/>
          <a:p>
            <a:r>
              <a:rPr lang="en-US" dirty="0"/>
              <a:t>Must Follow C++ Code Writing Style Template</a:t>
            </a:r>
            <a:endParaRPr lang="en-PK" dirty="0"/>
          </a:p>
        </p:txBody>
      </p:sp>
      <p:sp>
        <p:nvSpPr>
          <p:cNvPr id="3" name="Content Placeholder 2">
            <a:extLst>
              <a:ext uri="{FF2B5EF4-FFF2-40B4-BE49-F238E27FC236}">
                <a16:creationId xmlns:a16="http://schemas.microsoft.com/office/drawing/2014/main" id="{C9C7EEC0-7DE2-48B5-B4DA-1BD408B7FB63}"/>
              </a:ext>
            </a:extLst>
          </p:cNvPr>
          <p:cNvSpPr>
            <a:spLocks noGrp="1"/>
          </p:cNvSpPr>
          <p:nvPr>
            <p:ph idx="1"/>
          </p:nvPr>
        </p:nvSpPr>
        <p:spPr>
          <a:xfrm>
            <a:off x="255495" y="1479176"/>
            <a:ext cx="11725834" cy="5242299"/>
          </a:xfrm>
        </p:spPr>
        <p:txBody>
          <a:bodyPr>
            <a:normAutofit fontScale="92500" lnSpcReduction="10000"/>
          </a:bodyPr>
          <a:lstStyle/>
          <a:p>
            <a:pPr marL="0" indent="0">
              <a:buNone/>
            </a:pPr>
            <a:r>
              <a:rPr lang="en-US" b="1" dirty="0"/>
              <a:t>// 1. First Line of Code: Code File name e.g.  Stats.cpp</a:t>
            </a:r>
          </a:p>
          <a:p>
            <a:pPr marL="0" indent="0">
              <a:buNone/>
            </a:pPr>
            <a:r>
              <a:rPr lang="en-US" b="1" dirty="0"/>
              <a:t>// 2. all Includes, for the time being the followings are the only ones to use</a:t>
            </a:r>
          </a:p>
          <a:p>
            <a:pPr marL="0" indent="0">
              <a:buNone/>
            </a:pPr>
            <a:r>
              <a:rPr lang="en-US" dirty="0"/>
              <a:t>#include &lt;iostream&gt;</a:t>
            </a:r>
          </a:p>
          <a:p>
            <a:pPr marL="0" indent="0">
              <a:buNone/>
            </a:pPr>
            <a:r>
              <a:rPr lang="en-US" dirty="0"/>
              <a:t>#include &lt;</a:t>
            </a:r>
            <a:r>
              <a:rPr lang="en-US" dirty="0" err="1"/>
              <a:t>fstream</a:t>
            </a:r>
            <a:r>
              <a:rPr lang="en-US" dirty="0"/>
              <a:t>&gt;</a:t>
            </a:r>
          </a:p>
          <a:p>
            <a:pPr marL="0" indent="0">
              <a:buNone/>
            </a:pPr>
            <a:r>
              <a:rPr lang="en-US" b="1" dirty="0"/>
              <a:t>// 3. Write in comments the description of the program, see example below</a:t>
            </a:r>
          </a:p>
          <a:p>
            <a:pPr marL="0" indent="0">
              <a:buNone/>
            </a:pPr>
            <a:r>
              <a:rPr lang="en-US" dirty="0"/>
              <a:t>/* </a:t>
            </a:r>
          </a:p>
          <a:p>
            <a:pPr marL="0" indent="0">
              <a:buNone/>
            </a:pPr>
            <a:r>
              <a:rPr lang="en-US" dirty="0"/>
              <a:t>     Program to calculate sum, average, maximum and minimum values</a:t>
            </a:r>
          </a:p>
          <a:p>
            <a:pPr marL="0" indent="0">
              <a:buNone/>
            </a:pPr>
            <a:r>
              <a:rPr lang="en-US" dirty="0"/>
              <a:t>*/</a:t>
            </a:r>
            <a:endParaRPr lang="en-PK" dirty="0"/>
          </a:p>
          <a:p>
            <a:pPr marL="0" indent="0">
              <a:buNone/>
            </a:pPr>
            <a:r>
              <a:rPr lang="en-US" b="1" dirty="0"/>
              <a:t>// 4. Prototypes of all Functions</a:t>
            </a:r>
          </a:p>
          <a:p>
            <a:pPr marL="0" indent="0">
              <a:buNone/>
            </a:pPr>
            <a:r>
              <a:rPr lang="en-US" b="1" dirty="0"/>
              <a:t>// 5. Function main using Function Prototypes</a:t>
            </a:r>
          </a:p>
          <a:p>
            <a:pPr marL="0" indent="0">
              <a:buNone/>
            </a:pPr>
            <a:r>
              <a:rPr lang="en-US" b="1" dirty="0"/>
              <a:t>// 6. Code of all functions</a:t>
            </a:r>
            <a:endParaRPr lang="en-PK" b="1" dirty="0"/>
          </a:p>
        </p:txBody>
      </p:sp>
      <p:sp>
        <p:nvSpPr>
          <p:cNvPr id="4" name="Slide Number Placeholder 3">
            <a:extLst>
              <a:ext uri="{FF2B5EF4-FFF2-40B4-BE49-F238E27FC236}">
                <a16:creationId xmlns:a16="http://schemas.microsoft.com/office/drawing/2014/main" id="{6D9C228B-C76B-41A1-9374-7A70B050CD3C}"/>
              </a:ext>
            </a:extLst>
          </p:cNvPr>
          <p:cNvSpPr>
            <a:spLocks noGrp="1"/>
          </p:cNvSpPr>
          <p:nvPr>
            <p:ph type="sldNum" sz="quarter" idx="12"/>
          </p:nvPr>
        </p:nvSpPr>
        <p:spPr/>
        <p:txBody>
          <a:bodyPr/>
          <a:lstStyle/>
          <a:p>
            <a:fld id="{BDEB6DFD-27C3-4BE1-B7E6-C736F27BA817}" type="slidenum">
              <a:rPr lang="en-US" smtClean="0"/>
              <a:t>11</a:t>
            </a:fld>
            <a:endParaRPr lang="en-US"/>
          </a:p>
        </p:txBody>
      </p:sp>
    </p:spTree>
    <p:extLst>
      <p:ext uri="{BB962C8B-B14F-4D97-AF65-F5344CB8AC3E}">
        <p14:creationId xmlns:p14="http://schemas.microsoft.com/office/powerpoint/2010/main" val="3852542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E5A-EA7B-4200-A501-1EE1C4229EBF}"/>
              </a:ext>
            </a:extLst>
          </p:cNvPr>
          <p:cNvSpPr>
            <a:spLocks noGrp="1"/>
          </p:cNvSpPr>
          <p:nvPr>
            <p:ph type="title"/>
          </p:nvPr>
        </p:nvSpPr>
        <p:spPr>
          <a:xfrm>
            <a:off x="779929" y="2425700"/>
            <a:ext cx="10207159" cy="2006600"/>
          </a:xfrm>
        </p:spPr>
        <p:txBody>
          <a:bodyPr>
            <a:normAutofit/>
          </a:bodyPr>
          <a:lstStyle/>
          <a:p>
            <a:pPr algn="ctr"/>
            <a:r>
              <a:rPr lang="en-US" dirty="0"/>
              <a:t>File Reading and Writing</a:t>
            </a:r>
            <a:endParaRPr lang="en-PK" dirty="0"/>
          </a:p>
        </p:txBody>
      </p:sp>
      <p:sp>
        <p:nvSpPr>
          <p:cNvPr id="5" name="Slide Number Placeholder 4">
            <a:extLst>
              <a:ext uri="{FF2B5EF4-FFF2-40B4-BE49-F238E27FC236}">
                <a16:creationId xmlns:a16="http://schemas.microsoft.com/office/drawing/2014/main" id="{30456143-C25F-4F21-AE9C-9A45A01E8352}"/>
              </a:ext>
            </a:extLst>
          </p:cNvPr>
          <p:cNvSpPr>
            <a:spLocks noGrp="1"/>
          </p:cNvSpPr>
          <p:nvPr>
            <p:ph type="sldNum" sz="quarter" idx="12"/>
          </p:nvPr>
        </p:nvSpPr>
        <p:spPr/>
        <p:txBody>
          <a:bodyPr/>
          <a:lstStyle/>
          <a:p>
            <a:fld id="{BDEB6DFD-27C3-4BE1-B7E6-C736F27BA817}" type="slidenum">
              <a:rPr lang="en-US" smtClean="0"/>
              <a:t>12</a:t>
            </a:fld>
            <a:endParaRPr lang="en-US"/>
          </a:p>
        </p:txBody>
      </p:sp>
    </p:spTree>
    <p:extLst>
      <p:ext uri="{BB962C8B-B14F-4D97-AF65-F5344CB8AC3E}">
        <p14:creationId xmlns:p14="http://schemas.microsoft.com/office/powerpoint/2010/main" val="1538479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41562-111A-4BF6-9027-6BE67C5A345C}"/>
              </a:ext>
            </a:extLst>
          </p:cNvPr>
          <p:cNvSpPr>
            <a:spLocks noGrp="1"/>
          </p:cNvSpPr>
          <p:nvPr>
            <p:ph type="title"/>
          </p:nvPr>
        </p:nvSpPr>
        <p:spPr/>
        <p:txBody>
          <a:bodyPr/>
          <a:lstStyle/>
          <a:p>
            <a:r>
              <a:rPr lang="en-US" dirty="0"/>
              <a:t>Reading from Text Files</a:t>
            </a:r>
            <a:endParaRPr lang="en-PK" dirty="0"/>
          </a:p>
        </p:txBody>
      </p:sp>
      <p:sp>
        <p:nvSpPr>
          <p:cNvPr id="3" name="Content Placeholder 2">
            <a:extLst>
              <a:ext uri="{FF2B5EF4-FFF2-40B4-BE49-F238E27FC236}">
                <a16:creationId xmlns:a16="http://schemas.microsoft.com/office/drawing/2014/main" id="{991240E1-9566-4DC8-A8E7-AC846D770580}"/>
              </a:ext>
            </a:extLst>
          </p:cNvPr>
          <p:cNvSpPr>
            <a:spLocks noGrp="1"/>
          </p:cNvSpPr>
          <p:nvPr>
            <p:ph idx="1"/>
          </p:nvPr>
        </p:nvSpPr>
        <p:spPr>
          <a:xfrm>
            <a:off x="838200" y="1540933"/>
            <a:ext cx="10515600" cy="4636030"/>
          </a:xfrm>
        </p:spPr>
        <p:txBody>
          <a:bodyPr/>
          <a:lstStyle/>
          <a:p>
            <a:pPr marL="0" indent="0">
              <a:buNone/>
            </a:pPr>
            <a:r>
              <a:rPr lang="en-US" dirty="0"/>
              <a:t>Same as Reading from User:</a:t>
            </a:r>
          </a:p>
          <a:p>
            <a:pPr marL="514350" indent="-514350">
              <a:buFont typeface="+mj-lt"/>
              <a:buAutoNum type="arabicPeriod"/>
            </a:pPr>
            <a:r>
              <a:rPr lang="en-US" dirty="0"/>
              <a:t>Write Code as Your Are Reading from User</a:t>
            </a:r>
          </a:p>
          <a:p>
            <a:pPr marL="514350" indent="-514350">
              <a:buFont typeface="+mj-lt"/>
              <a:buAutoNum type="arabicPeriod"/>
            </a:pPr>
            <a:r>
              <a:rPr lang="en-US" dirty="0"/>
              <a:t>Reading from the File is Exactly Like Reading from User</a:t>
            </a:r>
          </a:p>
          <a:p>
            <a:pPr marL="514350" indent="-514350">
              <a:buFont typeface="+mj-lt"/>
              <a:buAutoNum type="arabicPeriod"/>
            </a:pPr>
            <a:r>
              <a:rPr lang="en-US" dirty="0"/>
              <a:t>File readers works Exactly like </a:t>
            </a:r>
            <a:r>
              <a:rPr lang="en-US" dirty="0" err="1"/>
              <a:t>cin</a:t>
            </a:r>
            <a:endParaRPr lang="en-US" dirty="0"/>
          </a:p>
          <a:p>
            <a:pPr marL="514350" indent="-514350">
              <a:buFont typeface="+mj-lt"/>
              <a:buAutoNum type="arabicPeriod"/>
            </a:pPr>
            <a:r>
              <a:rPr lang="en-US" dirty="0"/>
              <a:t>Make the Changes to make it Read from File</a:t>
            </a:r>
          </a:p>
          <a:p>
            <a:pPr marL="914400" lvl="1" indent="-457200">
              <a:buAutoNum type="alphaLcParenR"/>
            </a:pPr>
            <a:r>
              <a:rPr lang="en-US" dirty="0"/>
              <a:t>Add </a:t>
            </a:r>
            <a:r>
              <a:rPr lang="en-US" b="1" dirty="0"/>
              <a:t>#include &lt;</a:t>
            </a:r>
            <a:r>
              <a:rPr lang="en-US" b="1" dirty="0" err="1"/>
              <a:t>fstream</a:t>
            </a:r>
            <a:r>
              <a:rPr lang="en-US" b="1" dirty="0"/>
              <a:t>&gt; </a:t>
            </a:r>
          </a:p>
          <a:p>
            <a:pPr marL="914400" lvl="1" indent="-457200">
              <a:buAutoNum type="alphaLcParenR"/>
            </a:pPr>
            <a:r>
              <a:rPr lang="en-US" dirty="0"/>
              <a:t>In main add this as the first line</a:t>
            </a:r>
            <a:r>
              <a:rPr lang="en-US" b="1" dirty="0"/>
              <a:t>: </a:t>
            </a:r>
            <a:r>
              <a:rPr lang="en-US" b="1" dirty="0" err="1"/>
              <a:t>ifstream</a:t>
            </a:r>
            <a:r>
              <a:rPr lang="en-US" b="1" dirty="0"/>
              <a:t> reader(“values.txt”);</a:t>
            </a:r>
          </a:p>
          <a:p>
            <a:pPr marL="914400" lvl="1" indent="-457200">
              <a:buAutoNum type="alphaLcParenR"/>
            </a:pPr>
            <a:r>
              <a:rPr lang="en-US" b="1" dirty="0"/>
              <a:t>Replace </a:t>
            </a:r>
            <a:r>
              <a:rPr lang="en-US" b="1" dirty="0" err="1"/>
              <a:t>cin</a:t>
            </a:r>
            <a:r>
              <a:rPr lang="en-US" b="1" dirty="0"/>
              <a:t> with reader</a:t>
            </a:r>
          </a:p>
          <a:p>
            <a:pPr marL="914400" lvl="1" indent="-457200">
              <a:buAutoNum type="alphaLcParenR"/>
            </a:pPr>
            <a:r>
              <a:rPr lang="en-US" b="1" dirty="0"/>
              <a:t>Close file after Done Reading: </a:t>
            </a:r>
            <a:r>
              <a:rPr lang="en-US" b="1" dirty="0" err="1"/>
              <a:t>reader.close</a:t>
            </a:r>
            <a:r>
              <a:rPr lang="en-US" b="1" dirty="0"/>
              <a:t>();</a:t>
            </a:r>
          </a:p>
        </p:txBody>
      </p:sp>
      <p:sp>
        <p:nvSpPr>
          <p:cNvPr id="4" name="Slide Number Placeholder 3">
            <a:extLst>
              <a:ext uri="{FF2B5EF4-FFF2-40B4-BE49-F238E27FC236}">
                <a16:creationId xmlns:a16="http://schemas.microsoft.com/office/drawing/2014/main" id="{8829B2B1-CAD7-4383-A0A0-FD9FFE75B2BB}"/>
              </a:ext>
            </a:extLst>
          </p:cNvPr>
          <p:cNvSpPr>
            <a:spLocks noGrp="1"/>
          </p:cNvSpPr>
          <p:nvPr>
            <p:ph type="sldNum" sz="quarter" idx="12"/>
          </p:nvPr>
        </p:nvSpPr>
        <p:spPr/>
        <p:txBody>
          <a:bodyPr/>
          <a:lstStyle/>
          <a:p>
            <a:fld id="{BDEB6DFD-27C3-4BE1-B7E6-C736F27BA817}" type="slidenum">
              <a:rPr lang="en-US" smtClean="0"/>
              <a:t>13</a:t>
            </a:fld>
            <a:endParaRPr lang="en-US"/>
          </a:p>
        </p:txBody>
      </p:sp>
    </p:spTree>
    <p:extLst>
      <p:ext uri="{BB962C8B-B14F-4D97-AF65-F5344CB8AC3E}">
        <p14:creationId xmlns:p14="http://schemas.microsoft.com/office/powerpoint/2010/main" val="230324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41562-111A-4BF6-9027-6BE67C5A345C}"/>
              </a:ext>
            </a:extLst>
          </p:cNvPr>
          <p:cNvSpPr>
            <a:spLocks noGrp="1"/>
          </p:cNvSpPr>
          <p:nvPr>
            <p:ph type="title"/>
          </p:nvPr>
        </p:nvSpPr>
        <p:spPr/>
        <p:txBody>
          <a:bodyPr/>
          <a:lstStyle/>
          <a:p>
            <a:r>
              <a:rPr lang="en-US" dirty="0"/>
              <a:t>Reading from CSV Files</a:t>
            </a:r>
            <a:endParaRPr lang="en-PK" dirty="0"/>
          </a:p>
        </p:txBody>
      </p:sp>
      <p:sp>
        <p:nvSpPr>
          <p:cNvPr id="3" name="Content Placeholder 2">
            <a:extLst>
              <a:ext uri="{FF2B5EF4-FFF2-40B4-BE49-F238E27FC236}">
                <a16:creationId xmlns:a16="http://schemas.microsoft.com/office/drawing/2014/main" id="{991240E1-9566-4DC8-A8E7-AC846D770580}"/>
              </a:ext>
            </a:extLst>
          </p:cNvPr>
          <p:cNvSpPr>
            <a:spLocks noGrp="1"/>
          </p:cNvSpPr>
          <p:nvPr>
            <p:ph idx="1"/>
          </p:nvPr>
        </p:nvSpPr>
        <p:spPr>
          <a:xfrm>
            <a:off x="838200" y="1540933"/>
            <a:ext cx="10515600" cy="4636030"/>
          </a:xfrm>
        </p:spPr>
        <p:txBody>
          <a:bodyPr/>
          <a:lstStyle/>
          <a:p>
            <a:pPr marL="0" indent="0">
              <a:buNone/>
            </a:pPr>
            <a:r>
              <a:rPr lang="en-US" dirty="0"/>
              <a:t>Same as Reading from User:</a:t>
            </a:r>
          </a:p>
          <a:p>
            <a:pPr marL="514350" indent="-514350">
              <a:buFont typeface="+mj-lt"/>
              <a:buAutoNum type="arabicPeriod"/>
            </a:pPr>
            <a:r>
              <a:rPr lang="en-US" dirty="0"/>
              <a:t>Write Code as Your Are Reading from a Text File</a:t>
            </a:r>
          </a:p>
          <a:p>
            <a:pPr marL="514350" indent="-514350">
              <a:buFont typeface="+mj-lt"/>
              <a:buAutoNum type="arabicPeriod"/>
            </a:pPr>
            <a:r>
              <a:rPr lang="en-US" dirty="0"/>
              <a:t>Make these Changes to make it Read from CSV File</a:t>
            </a:r>
          </a:p>
          <a:p>
            <a:pPr marL="914400" lvl="1" indent="-457200">
              <a:buAutoNum type="alphaLcParenR"/>
            </a:pPr>
            <a:r>
              <a:rPr lang="en-US" b="1" dirty="0"/>
              <a:t>Note that the File Name has now a “.csv”</a:t>
            </a:r>
          </a:p>
          <a:p>
            <a:pPr marL="914400" lvl="1" indent="-457200">
              <a:buAutoNum type="alphaLcParenR"/>
            </a:pPr>
            <a:r>
              <a:rPr lang="en-US" b="1" dirty="0"/>
              <a:t>Declare a char Variable e.g. char </a:t>
            </a:r>
            <a:r>
              <a:rPr lang="en-US" b="1" dirty="0" err="1"/>
              <a:t>ch</a:t>
            </a:r>
            <a:r>
              <a:rPr lang="en-US" b="1" dirty="0"/>
              <a:t> = ‘,’;</a:t>
            </a:r>
          </a:p>
          <a:p>
            <a:pPr marL="914400" lvl="1" indent="-457200">
              <a:buAutoNum type="alphaLcParenR"/>
            </a:pPr>
            <a:r>
              <a:rPr lang="en-US" b="1" dirty="0"/>
              <a:t>Read the comma in variable </a:t>
            </a:r>
            <a:r>
              <a:rPr lang="en-US" b="1" dirty="0" err="1"/>
              <a:t>ch</a:t>
            </a:r>
            <a:r>
              <a:rPr lang="en-US" b="1" dirty="0"/>
              <a:t> and don’t use</a:t>
            </a:r>
          </a:p>
          <a:p>
            <a:pPr marL="0" indent="0">
              <a:buNone/>
            </a:pPr>
            <a:r>
              <a:rPr lang="en-US" b="1" dirty="0"/>
              <a:t>Example:</a:t>
            </a:r>
          </a:p>
          <a:p>
            <a:pPr marL="0" indent="0">
              <a:buNone/>
            </a:pPr>
            <a:r>
              <a:rPr lang="en-US" b="1" dirty="0"/>
              <a:t>          while(reader &gt;&gt; value) is now while(reader &gt;&gt; value &gt;&gt; </a:t>
            </a:r>
            <a:r>
              <a:rPr lang="en-US" b="1" dirty="0" err="1"/>
              <a:t>ch</a:t>
            </a:r>
            <a:r>
              <a:rPr lang="en-US" b="1" dirty="0"/>
              <a:t>)</a:t>
            </a:r>
          </a:p>
        </p:txBody>
      </p:sp>
      <p:sp>
        <p:nvSpPr>
          <p:cNvPr id="4" name="Slide Number Placeholder 3">
            <a:extLst>
              <a:ext uri="{FF2B5EF4-FFF2-40B4-BE49-F238E27FC236}">
                <a16:creationId xmlns:a16="http://schemas.microsoft.com/office/drawing/2014/main" id="{8829B2B1-CAD7-4383-A0A0-FD9FFE75B2BB}"/>
              </a:ext>
            </a:extLst>
          </p:cNvPr>
          <p:cNvSpPr>
            <a:spLocks noGrp="1"/>
          </p:cNvSpPr>
          <p:nvPr>
            <p:ph type="sldNum" sz="quarter" idx="12"/>
          </p:nvPr>
        </p:nvSpPr>
        <p:spPr/>
        <p:txBody>
          <a:bodyPr/>
          <a:lstStyle/>
          <a:p>
            <a:fld id="{BDEB6DFD-27C3-4BE1-B7E6-C736F27BA817}" type="slidenum">
              <a:rPr lang="en-US" smtClean="0"/>
              <a:t>14</a:t>
            </a:fld>
            <a:endParaRPr lang="en-US"/>
          </a:p>
        </p:txBody>
      </p:sp>
    </p:spTree>
    <p:extLst>
      <p:ext uri="{BB962C8B-B14F-4D97-AF65-F5344CB8AC3E}">
        <p14:creationId xmlns:p14="http://schemas.microsoft.com/office/powerpoint/2010/main" val="3541379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41562-111A-4BF6-9027-6BE67C5A345C}"/>
              </a:ext>
            </a:extLst>
          </p:cNvPr>
          <p:cNvSpPr>
            <a:spLocks noGrp="1"/>
          </p:cNvSpPr>
          <p:nvPr>
            <p:ph type="title"/>
          </p:nvPr>
        </p:nvSpPr>
        <p:spPr/>
        <p:txBody>
          <a:bodyPr/>
          <a:lstStyle/>
          <a:p>
            <a:r>
              <a:rPr lang="en-US" dirty="0"/>
              <a:t>Writing to Text Files</a:t>
            </a:r>
            <a:endParaRPr lang="en-PK" dirty="0"/>
          </a:p>
        </p:txBody>
      </p:sp>
      <p:sp>
        <p:nvSpPr>
          <p:cNvPr id="3" name="Content Placeholder 2">
            <a:extLst>
              <a:ext uri="{FF2B5EF4-FFF2-40B4-BE49-F238E27FC236}">
                <a16:creationId xmlns:a16="http://schemas.microsoft.com/office/drawing/2014/main" id="{991240E1-9566-4DC8-A8E7-AC846D770580}"/>
              </a:ext>
            </a:extLst>
          </p:cNvPr>
          <p:cNvSpPr>
            <a:spLocks noGrp="1"/>
          </p:cNvSpPr>
          <p:nvPr>
            <p:ph idx="1"/>
          </p:nvPr>
        </p:nvSpPr>
        <p:spPr>
          <a:xfrm>
            <a:off x="838200" y="1540933"/>
            <a:ext cx="10515600" cy="4636030"/>
          </a:xfrm>
        </p:spPr>
        <p:txBody>
          <a:bodyPr>
            <a:normAutofit fontScale="92500" lnSpcReduction="20000"/>
          </a:bodyPr>
          <a:lstStyle/>
          <a:p>
            <a:pPr marL="0" indent="0">
              <a:buNone/>
            </a:pPr>
            <a:r>
              <a:rPr lang="en-US" dirty="0"/>
              <a:t>Same as Displaying on Screen</a:t>
            </a:r>
          </a:p>
          <a:p>
            <a:pPr marL="514350" indent="-514350">
              <a:buFont typeface="+mj-lt"/>
              <a:buAutoNum type="arabicPeriod"/>
            </a:pPr>
            <a:r>
              <a:rPr lang="en-US" dirty="0"/>
              <a:t>Write Code as Your Are Displaying on Screen</a:t>
            </a:r>
          </a:p>
          <a:p>
            <a:pPr marL="514350" indent="-514350">
              <a:buFont typeface="+mj-lt"/>
              <a:buAutoNum type="arabicPeriod"/>
            </a:pPr>
            <a:r>
              <a:rPr lang="en-US" dirty="0"/>
              <a:t>Writing to File is Exactly Like Displaying on Screen</a:t>
            </a:r>
          </a:p>
          <a:p>
            <a:pPr marL="514350" indent="-514350">
              <a:buFont typeface="+mj-lt"/>
              <a:buAutoNum type="arabicPeriod"/>
            </a:pPr>
            <a:r>
              <a:rPr lang="en-US" dirty="0"/>
              <a:t>File writers works Exactly like </a:t>
            </a:r>
            <a:r>
              <a:rPr lang="en-US" dirty="0" err="1"/>
              <a:t>cout</a:t>
            </a:r>
            <a:endParaRPr lang="en-US" dirty="0"/>
          </a:p>
          <a:p>
            <a:pPr marL="514350" indent="-514350">
              <a:buFont typeface="+mj-lt"/>
              <a:buAutoNum type="arabicPeriod"/>
            </a:pPr>
            <a:r>
              <a:rPr lang="en-US" dirty="0"/>
              <a:t>Make the Changes to make it Write to File</a:t>
            </a:r>
          </a:p>
          <a:p>
            <a:pPr marL="914400" lvl="1" indent="-457200">
              <a:buAutoNum type="alphaLcParenR"/>
            </a:pPr>
            <a:r>
              <a:rPr lang="en-US" dirty="0"/>
              <a:t>Add </a:t>
            </a:r>
            <a:r>
              <a:rPr lang="en-US" b="1" dirty="0"/>
              <a:t>#include &lt;</a:t>
            </a:r>
            <a:r>
              <a:rPr lang="en-US" b="1" dirty="0" err="1"/>
              <a:t>fstream</a:t>
            </a:r>
            <a:r>
              <a:rPr lang="en-US" b="1" dirty="0"/>
              <a:t>&gt; </a:t>
            </a:r>
          </a:p>
          <a:p>
            <a:pPr marL="914400" lvl="1" indent="-457200">
              <a:buAutoNum type="alphaLcParenR"/>
            </a:pPr>
            <a:r>
              <a:rPr lang="en-US" dirty="0"/>
              <a:t>In main add this line</a:t>
            </a:r>
            <a:r>
              <a:rPr lang="en-US" b="1" dirty="0"/>
              <a:t>: </a:t>
            </a:r>
            <a:r>
              <a:rPr lang="en-US" b="1" dirty="0" err="1"/>
              <a:t>ofstream</a:t>
            </a:r>
            <a:r>
              <a:rPr lang="en-US" b="1" dirty="0"/>
              <a:t> writer(“values.txt”);</a:t>
            </a:r>
          </a:p>
          <a:p>
            <a:pPr marL="914400" lvl="1" indent="-457200">
              <a:buAutoNum type="alphaLcParenR"/>
            </a:pPr>
            <a:r>
              <a:rPr lang="en-US" b="1" dirty="0"/>
              <a:t>Replace </a:t>
            </a:r>
            <a:r>
              <a:rPr lang="en-US" b="1" dirty="0" err="1"/>
              <a:t>cout</a:t>
            </a:r>
            <a:r>
              <a:rPr lang="en-US" b="1" dirty="0"/>
              <a:t> with writer</a:t>
            </a:r>
          </a:p>
          <a:p>
            <a:pPr marL="914400" lvl="1" indent="-457200">
              <a:buAutoNum type="alphaLcParenR"/>
            </a:pPr>
            <a:r>
              <a:rPr lang="en-US" b="1" dirty="0"/>
              <a:t>Close file after Done Reading: </a:t>
            </a:r>
            <a:r>
              <a:rPr lang="en-US" b="1" dirty="0" err="1"/>
              <a:t>writer.close</a:t>
            </a:r>
            <a:r>
              <a:rPr lang="en-US" b="1" dirty="0"/>
              <a:t>();</a:t>
            </a:r>
          </a:p>
          <a:p>
            <a:pPr marL="0" indent="0">
              <a:buNone/>
            </a:pPr>
            <a:r>
              <a:rPr lang="en-US" b="1" dirty="0"/>
              <a:t>For Writing to CSB Files: Write a Comma After each value</a:t>
            </a:r>
          </a:p>
          <a:p>
            <a:pPr marL="0" indent="0">
              <a:buNone/>
            </a:pPr>
            <a:r>
              <a:rPr lang="en-US" b="1" dirty="0"/>
              <a:t>Example:</a:t>
            </a:r>
          </a:p>
          <a:p>
            <a:pPr marL="0" indent="0">
              <a:buNone/>
            </a:pPr>
            <a:r>
              <a:rPr lang="en-US" b="1" dirty="0"/>
              <a:t>          writer &lt;&lt; value; is followed by writer &lt;&lt; ‘,’;</a:t>
            </a:r>
          </a:p>
          <a:p>
            <a:pPr marL="0" indent="0">
              <a:buNone/>
            </a:pPr>
            <a:endParaRPr lang="en-US" b="1" dirty="0"/>
          </a:p>
          <a:p>
            <a:pPr marL="0" indent="0">
              <a:buNone/>
            </a:pPr>
            <a:endParaRPr lang="en-US" b="1" dirty="0"/>
          </a:p>
        </p:txBody>
      </p:sp>
      <p:sp>
        <p:nvSpPr>
          <p:cNvPr id="4" name="Slide Number Placeholder 3">
            <a:extLst>
              <a:ext uri="{FF2B5EF4-FFF2-40B4-BE49-F238E27FC236}">
                <a16:creationId xmlns:a16="http://schemas.microsoft.com/office/drawing/2014/main" id="{8829B2B1-CAD7-4383-A0A0-FD9FFE75B2BB}"/>
              </a:ext>
            </a:extLst>
          </p:cNvPr>
          <p:cNvSpPr>
            <a:spLocks noGrp="1"/>
          </p:cNvSpPr>
          <p:nvPr>
            <p:ph type="sldNum" sz="quarter" idx="12"/>
          </p:nvPr>
        </p:nvSpPr>
        <p:spPr/>
        <p:txBody>
          <a:bodyPr/>
          <a:lstStyle/>
          <a:p>
            <a:fld id="{BDEB6DFD-27C3-4BE1-B7E6-C736F27BA817}" type="slidenum">
              <a:rPr lang="en-US" smtClean="0"/>
              <a:t>15</a:t>
            </a:fld>
            <a:endParaRPr lang="en-US"/>
          </a:p>
        </p:txBody>
      </p:sp>
    </p:spTree>
    <p:extLst>
      <p:ext uri="{BB962C8B-B14F-4D97-AF65-F5344CB8AC3E}">
        <p14:creationId xmlns:p14="http://schemas.microsoft.com/office/powerpoint/2010/main" val="2527750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E5A-EA7B-4200-A501-1EE1C4229EBF}"/>
              </a:ext>
            </a:extLst>
          </p:cNvPr>
          <p:cNvSpPr>
            <a:spLocks noGrp="1"/>
          </p:cNvSpPr>
          <p:nvPr>
            <p:ph type="title"/>
          </p:nvPr>
        </p:nvSpPr>
        <p:spPr>
          <a:xfrm>
            <a:off x="779929" y="2425700"/>
            <a:ext cx="10207159" cy="2006600"/>
          </a:xfrm>
        </p:spPr>
        <p:txBody>
          <a:bodyPr>
            <a:normAutofit/>
          </a:bodyPr>
          <a:lstStyle/>
          <a:p>
            <a:pPr algn="ctr"/>
            <a:r>
              <a:rPr lang="en-US" dirty="0"/>
              <a:t>Practice of C++ Code in Functions</a:t>
            </a:r>
            <a:endParaRPr lang="en-PK" dirty="0"/>
          </a:p>
        </p:txBody>
      </p:sp>
      <p:sp>
        <p:nvSpPr>
          <p:cNvPr id="5" name="Slide Number Placeholder 4">
            <a:extLst>
              <a:ext uri="{FF2B5EF4-FFF2-40B4-BE49-F238E27FC236}">
                <a16:creationId xmlns:a16="http://schemas.microsoft.com/office/drawing/2014/main" id="{30456143-C25F-4F21-AE9C-9A45A01E8352}"/>
              </a:ext>
            </a:extLst>
          </p:cNvPr>
          <p:cNvSpPr>
            <a:spLocks noGrp="1"/>
          </p:cNvSpPr>
          <p:nvPr>
            <p:ph type="sldNum" sz="quarter" idx="12"/>
          </p:nvPr>
        </p:nvSpPr>
        <p:spPr/>
        <p:txBody>
          <a:bodyPr/>
          <a:lstStyle/>
          <a:p>
            <a:fld id="{BDEB6DFD-27C3-4BE1-B7E6-C736F27BA817}" type="slidenum">
              <a:rPr lang="en-US" smtClean="0"/>
              <a:t>16</a:t>
            </a:fld>
            <a:endParaRPr lang="en-US"/>
          </a:p>
        </p:txBody>
      </p:sp>
    </p:spTree>
    <p:extLst>
      <p:ext uri="{BB962C8B-B14F-4D97-AF65-F5344CB8AC3E}">
        <p14:creationId xmlns:p14="http://schemas.microsoft.com/office/powerpoint/2010/main" val="735157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E5A-EA7B-4200-A501-1EE1C4229EBF}"/>
              </a:ext>
            </a:extLst>
          </p:cNvPr>
          <p:cNvSpPr>
            <a:spLocks noGrp="1"/>
          </p:cNvSpPr>
          <p:nvPr>
            <p:ph type="title"/>
          </p:nvPr>
        </p:nvSpPr>
        <p:spPr>
          <a:xfrm>
            <a:off x="779929" y="2425700"/>
            <a:ext cx="10207159" cy="2006600"/>
          </a:xfrm>
        </p:spPr>
        <p:txBody>
          <a:bodyPr>
            <a:normAutofit/>
          </a:bodyPr>
          <a:lstStyle/>
          <a:p>
            <a:pPr algn="ctr"/>
            <a:r>
              <a:rPr lang="en-US" dirty="0"/>
              <a:t>C++ Functions</a:t>
            </a:r>
            <a:endParaRPr lang="en-PK" dirty="0"/>
          </a:p>
        </p:txBody>
      </p:sp>
      <p:sp>
        <p:nvSpPr>
          <p:cNvPr id="5" name="Slide Number Placeholder 4">
            <a:extLst>
              <a:ext uri="{FF2B5EF4-FFF2-40B4-BE49-F238E27FC236}">
                <a16:creationId xmlns:a16="http://schemas.microsoft.com/office/drawing/2014/main" id="{30456143-C25F-4F21-AE9C-9A45A01E8352}"/>
              </a:ext>
            </a:extLst>
          </p:cNvPr>
          <p:cNvSpPr>
            <a:spLocks noGrp="1"/>
          </p:cNvSpPr>
          <p:nvPr>
            <p:ph type="sldNum" sz="quarter" idx="12"/>
          </p:nvPr>
        </p:nvSpPr>
        <p:spPr/>
        <p:txBody>
          <a:bodyPr/>
          <a:lstStyle/>
          <a:p>
            <a:fld id="{BDEB6DFD-27C3-4BE1-B7E6-C736F27BA817}" type="slidenum">
              <a:rPr lang="en-US" smtClean="0"/>
              <a:t>17</a:t>
            </a:fld>
            <a:endParaRPr lang="en-US"/>
          </a:p>
        </p:txBody>
      </p:sp>
    </p:spTree>
    <p:extLst>
      <p:ext uri="{BB962C8B-B14F-4D97-AF65-F5344CB8AC3E}">
        <p14:creationId xmlns:p14="http://schemas.microsoft.com/office/powerpoint/2010/main" val="4101297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4EADE-EC27-45E0-8D86-8B817D3626C5}"/>
              </a:ext>
            </a:extLst>
          </p:cNvPr>
          <p:cNvSpPr>
            <a:spLocks noGrp="1"/>
          </p:cNvSpPr>
          <p:nvPr>
            <p:ph type="title"/>
          </p:nvPr>
        </p:nvSpPr>
        <p:spPr>
          <a:xfrm>
            <a:off x="838200" y="365126"/>
            <a:ext cx="10515600" cy="583142"/>
          </a:xfrm>
        </p:spPr>
        <p:txBody>
          <a:bodyPr>
            <a:normAutofit fontScale="90000"/>
          </a:bodyPr>
          <a:lstStyle/>
          <a:p>
            <a:r>
              <a:rPr lang="en-US" dirty="0"/>
              <a:t>Functions in C++</a:t>
            </a:r>
            <a:endParaRPr lang="en-PK" dirty="0"/>
          </a:p>
        </p:txBody>
      </p:sp>
      <p:sp>
        <p:nvSpPr>
          <p:cNvPr id="3" name="Content Placeholder 2">
            <a:extLst>
              <a:ext uri="{FF2B5EF4-FFF2-40B4-BE49-F238E27FC236}">
                <a16:creationId xmlns:a16="http://schemas.microsoft.com/office/drawing/2014/main" id="{DD2A4F06-0342-4556-808D-227EF4D367CC}"/>
              </a:ext>
            </a:extLst>
          </p:cNvPr>
          <p:cNvSpPr>
            <a:spLocks noGrp="1"/>
          </p:cNvSpPr>
          <p:nvPr>
            <p:ph idx="1"/>
          </p:nvPr>
        </p:nvSpPr>
        <p:spPr>
          <a:xfrm>
            <a:off x="0" y="948267"/>
            <a:ext cx="12098867" cy="5773207"/>
          </a:xfrm>
        </p:spPr>
        <p:txBody>
          <a:bodyPr>
            <a:normAutofit fontScale="92500" lnSpcReduction="10000"/>
          </a:bodyPr>
          <a:lstStyle/>
          <a:p>
            <a:pPr marL="0" indent="0">
              <a:buNone/>
            </a:pPr>
            <a:r>
              <a:rPr lang="en-US" dirty="0"/>
              <a:t>Why Use Functions in C++?</a:t>
            </a:r>
          </a:p>
          <a:p>
            <a:pPr lvl="1"/>
            <a:r>
              <a:rPr lang="en-US" dirty="0"/>
              <a:t>Avoids Code Repetition</a:t>
            </a:r>
          </a:p>
          <a:p>
            <a:pPr lvl="1"/>
            <a:r>
              <a:rPr lang="en-US" dirty="0"/>
              <a:t>A Function can be used many times</a:t>
            </a:r>
          </a:p>
          <a:p>
            <a:pPr lvl="1"/>
            <a:r>
              <a:rPr lang="en-US" dirty="0"/>
              <a:t>Functions make the Code Modular</a:t>
            </a:r>
          </a:p>
          <a:p>
            <a:pPr marL="0" indent="0">
              <a:buNone/>
            </a:pPr>
            <a:r>
              <a:rPr lang="en-US" dirty="0"/>
              <a:t>What are Function?</a:t>
            </a:r>
          </a:p>
          <a:p>
            <a:pPr lvl="1"/>
            <a:r>
              <a:rPr lang="en-US" dirty="0"/>
              <a:t>Code Modules to be Used Again and Again</a:t>
            </a:r>
          </a:p>
          <a:p>
            <a:pPr lvl="1"/>
            <a:r>
              <a:rPr lang="en-US" dirty="0"/>
              <a:t>Each Function has</a:t>
            </a:r>
          </a:p>
          <a:p>
            <a:pPr lvl="2"/>
            <a:r>
              <a:rPr lang="en-US" dirty="0"/>
              <a:t>Return Type: a Data Type or void</a:t>
            </a:r>
          </a:p>
          <a:p>
            <a:pPr lvl="2"/>
            <a:r>
              <a:rPr lang="en-US" dirty="0"/>
              <a:t>Zero or more Parameters wit each Parameter </a:t>
            </a:r>
            <a:r>
              <a:rPr lang="en-US" dirty="0" err="1"/>
              <a:t>hs</a:t>
            </a:r>
            <a:r>
              <a:rPr lang="en-US" dirty="0"/>
              <a:t> a Data Type</a:t>
            </a:r>
          </a:p>
          <a:p>
            <a:pPr lvl="2"/>
            <a:r>
              <a:rPr lang="en-US" dirty="0"/>
              <a:t>Code body that codes the working of the Function</a:t>
            </a:r>
          </a:p>
          <a:p>
            <a:pPr marL="0" indent="0">
              <a:buNone/>
            </a:pPr>
            <a:r>
              <a:rPr lang="en-US" dirty="0"/>
              <a:t>What are Parameters to Functions?</a:t>
            </a:r>
          </a:p>
          <a:p>
            <a:pPr lvl="1"/>
            <a:r>
              <a:rPr lang="en-US" dirty="0"/>
              <a:t>Arguments that are Passed to the Functions</a:t>
            </a:r>
          </a:p>
          <a:p>
            <a:pPr lvl="1"/>
            <a:r>
              <a:rPr lang="en-US" dirty="0"/>
              <a:t>Passed </a:t>
            </a:r>
            <a:r>
              <a:rPr lang="en-US" b="1" dirty="0"/>
              <a:t>By-Value Parameters </a:t>
            </a:r>
            <a:r>
              <a:rPr lang="en-US" dirty="0"/>
              <a:t>Must Have a Corresponding </a:t>
            </a:r>
            <a:r>
              <a:rPr lang="en-US" b="1" dirty="0"/>
              <a:t>Local Variable to Receive a Value</a:t>
            </a:r>
          </a:p>
          <a:p>
            <a:pPr lvl="1"/>
            <a:r>
              <a:rPr lang="en-US" dirty="0"/>
              <a:t>Passed </a:t>
            </a:r>
            <a:r>
              <a:rPr lang="en-US" b="1" dirty="0"/>
              <a:t>By-Reference Parameters </a:t>
            </a:r>
            <a:r>
              <a:rPr lang="en-US" dirty="0"/>
              <a:t>Must Have a Corresponding </a:t>
            </a:r>
            <a:r>
              <a:rPr lang="en-US" b="1" dirty="0"/>
              <a:t>Variable Name for the Memory Address that is Passed. But no Local Variables are Created.</a:t>
            </a:r>
          </a:p>
          <a:p>
            <a:pPr lvl="1"/>
            <a:r>
              <a:rPr lang="en-US" b="1" dirty="0"/>
              <a:t>Arrays have Same Value as that of the Address, therefore arrays are always passed by reference</a:t>
            </a:r>
          </a:p>
        </p:txBody>
      </p:sp>
      <p:sp>
        <p:nvSpPr>
          <p:cNvPr id="4" name="Slide Number Placeholder 3">
            <a:extLst>
              <a:ext uri="{FF2B5EF4-FFF2-40B4-BE49-F238E27FC236}">
                <a16:creationId xmlns:a16="http://schemas.microsoft.com/office/drawing/2014/main" id="{CBCB2D31-CE63-4D07-9E2E-63F8D20C1DA2}"/>
              </a:ext>
            </a:extLst>
          </p:cNvPr>
          <p:cNvSpPr>
            <a:spLocks noGrp="1"/>
          </p:cNvSpPr>
          <p:nvPr>
            <p:ph type="sldNum" sz="quarter" idx="12"/>
          </p:nvPr>
        </p:nvSpPr>
        <p:spPr/>
        <p:txBody>
          <a:bodyPr/>
          <a:lstStyle/>
          <a:p>
            <a:fld id="{BDEB6DFD-27C3-4BE1-B7E6-C736F27BA817}" type="slidenum">
              <a:rPr lang="en-US" smtClean="0"/>
              <a:t>18</a:t>
            </a:fld>
            <a:endParaRPr lang="en-US"/>
          </a:p>
        </p:txBody>
      </p:sp>
    </p:spTree>
    <p:extLst>
      <p:ext uri="{BB962C8B-B14F-4D97-AF65-F5344CB8AC3E}">
        <p14:creationId xmlns:p14="http://schemas.microsoft.com/office/powerpoint/2010/main" val="3100467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E5A-EA7B-4200-A501-1EE1C4229EBF}"/>
              </a:ext>
            </a:extLst>
          </p:cNvPr>
          <p:cNvSpPr>
            <a:spLocks noGrp="1"/>
          </p:cNvSpPr>
          <p:nvPr>
            <p:ph type="title"/>
          </p:nvPr>
        </p:nvSpPr>
        <p:spPr>
          <a:xfrm>
            <a:off x="779929" y="2425700"/>
            <a:ext cx="10207159" cy="2006600"/>
          </a:xfrm>
        </p:spPr>
        <p:txBody>
          <a:bodyPr>
            <a:normAutofit/>
          </a:bodyPr>
          <a:lstStyle/>
          <a:p>
            <a:pPr algn="ctr"/>
            <a:r>
              <a:rPr lang="en-US" dirty="0"/>
              <a:t>Practice of C++ Code in Functions</a:t>
            </a:r>
            <a:endParaRPr lang="en-PK" dirty="0"/>
          </a:p>
        </p:txBody>
      </p:sp>
      <p:sp>
        <p:nvSpPr>
          <p:cNvPr id="5" name="Slide Number Placeholder 4">
            <a:extLst>
              <a:ext uri="{FF2B5EF4-FFF2-40B4-BE49-F238E27FC236}">
                <a16:creationId xmlns:a16="http://schemas.microsoft.com/office/drawing/2014/main" id="{30456143-C25F-4F21-AE9C-9A45A01E8352}"/>
              </a:ext>
            </a:extLst>
          </p:cNvPr>
          <p:cNvSpPr>
            <a:spLocks noGrp="1"/>
          </p:cNvSpPr>
          <p:nvPr>
            <p:ph type="sldNum" sz="quarter" idx="12"/>
          </p:nvPr>
        </p:nvSpPr>
        <p:spPr/>
        <p:txBody>
          <a:bodyPr/>
          <a:lstStyle/>
          <a:p>
            <a:fld id="{BDEB6DFD-27C3-4BE1-B7E6-C736F27BA817}" type="slidenum">
              <a:rPr lang="en-US" smtClean="0"/>
              <a:t>19</a:t>
            </a:fld>
            <a:endParaRPr lang="en-US"/>
          </a:p>
        </p:txBody>
      </p:sp>
    </p:spTree>
    <p:extLst>
      <p:ext uri="{BB962C8B-B14F-4D97-AF65-F5344CB8AC3E}">
        <p14:creationId xmlns:p14="http://schemas.microsoft.com/office/powerpoint/2010/main" val="636736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78219-6E83-4084-BC08-0D485D64DE65}"/>
              </a:ext>
            </a:extLst>
          </p:cNvPr>
          <p:cNvSpPr>
            <a:spLocks noGrp="1"/>
          </p:cNvSpPr>
          <p:nvPr>
            <p:ph type="title"/>
          </p:nvPr>
        </p:nvSpPr>
        <p:spPr>
          <a:xfrm>
            <a:off x="322729" y="365125"/>
            <a:ext cx="11698942" cy="1325563"/>
          </a:xfrm>
        </p:spPr>
        <p:txBody>
          <a:bodyPr>
            <a:normAutofit/>
          </a:bodyPr>
          <a:lstStyle/>
          <a:p>
            <a:r>
              <a:rPr lang="en-US" sz="3600" dirty="0"/>
              <a:t>C++ Code in Functions: Practice Learning Process</a:t>
            </a:r>
            <a:br>
              <a:rPr lang="en-US" sz="3600" dirty="0"/>
            </a:br>
            <a:r>
              <a:rPr lang="en-US" sz="3600" b="1" dirty="0"/>
              <a:t>DON’T USE IN EXAM OR YOU WILL HAVE SHORTGAE OF TIME</a:t>
            </a:r>
            <a:endParaRPr lang="en-PK" sz="3600" dirty="0"/>
          </a:p>
        </p:txBody>
      </p:sp>
      <p:sp>
        <p:nvSpPr>
          <p:cNvPr id="3" name="Content Placeholder 2">
            <a:extLst>
              <a:ext uri="{FF2B5EF4-FFF2-40B4-BE49-F238E27FC236}">
                <a16:creationId xmlns:a16="http://schemas.microsoft.com/office/drawing/2014/main" id="{8D79FE67-0DB9-47D7-B510-B31E30689844}"/>
              </a:ext>
            </a:extLst>
          </p:cNvPr>
          <p:cNvSpPr>
            <a:spLocks noGrp="1"/>
          </p:cNvSpPr>
          <p:nvPr>
            <p:ph idx="1"/>
          </p:nvPr>
        </p:nvSpPr>
        <p:spPr>
          <a:xfrm>
            <a:off x="322729" y="1825624"/>
            <a:ext cx="11071412" cy="5032375"/>
          </a:xfrm>
        </p:spPr>
        <p:txBody>
          <a:bodyPr/>
          <a:lstStyle/>
          <a:p>
            <a:pPr marL="514350" indent="-514350">
              <a:buFont typeface="+mj-lt"/>
              <a:buAutoNum type="arabicPeriod"/>
            </a:pPr>
            <a:r>
              <a:rPr lang="en-US" dirty="0"/>
              <a:t>Write Code in main only just as you have written in ITC, compile and run</a:t>
            </a:r>
          </a:p>
          <a:p>
            <a:pPr marL="514350" indent="-514350">
              <a:buFont typeface="+mj-lt"/>
              <a:buAutoNum type="arabicPeriod"/>
            </a:pPr>
            <a:r>
              <a:rPr lang="en-US" dirty="0"/>
              <a:t>Select Portions of code  that can be replaced with functions</a:t>
            </a:r>
          </a:p>
          <a:p>
            <a:pPr marL="514350" indent="-514350">
              <a:buFont typeface="+mj-lt"/>
              <a:buAutoNum type="arabicPeriod"/>
            </a:pPr>
            <a:r>
              <a:rPr lang="en-US" dirty="0"/>
              <a:t>Decide the names of the Functions, Parameters and data type and return type of function</a:t>
            </a:r>
          </a:p>
          <a:p>
            <a:pPr marL="514350" indent="-514350">
              <a:buFont typeface="+mj-lt"/>
              <a:buAutoNum type="arabicPeriod"/>
            </a:pPr>
            <a:r>
              <a:rPr lang="en-US" dirty="0"/>
              <a:t>Write Function prototypes above main and replace portion of code with call to function one at a time</a:t>
            </a:r>
          </a:p>
          <a:p>
            <a:pPr marL="514350" indent="-514350">
              <a:buFont typeface="+mj-lt"/>
              <a:buAutoNum type="arabicPeriod"/>
            </a:pPr>
            <a:r>
              <a:rPr lang="en-US" dirty="0"/>
              <a:t>Compile and run</a:t>
            </a:r>
          </a:p>
          <a:p>
            <a:pPr marL="514350" indent="-514350">
              <a:buFont typeface="+mj-lt"/>
              <a:buAutoNum type="arabicPeriod"/>
            </a:pPr>
            <a:r>
              <a:rPr lang="en-US" dirty="0"/>
              <a:t>Go To Step 2</a:t>
            </a:r>
            <a:endParaRPr lang="en-PK" dirty="0"/>
          </a:p>
        </p:txBody>
      </p:sp>
      <p:sp>
        <p:nvSpPr>
          <p:cNvPr id="4" name="Slide Number Placeholder 3">
            <a:extLst>
              <a:ext uri="{FF2B5EF4-FFF2-40B4-BE49-F238E27FC236}">
                <a16:creationId xmlns:a16="http://schemas.microsoft.com/office/drawing/2014/main" id="{070AC764-C9DA-47BF-97E8-A38248971CE0}"/>
              </a:ext>
            </a:extLst>
          </p:cNvPr>
          <p:cNvSpPr>
            <a:spLocks noGrp="1"/>
          </p:cNvSpPr>
          <p:nvPr>
            <p:ph type="sldNum" sz="quarter" idx="12"/>
          </p:nvPr>
        </p:nvSpPr>
        <p:spPr/>
        <p:txBody>
          <a:bodyPr/>
          <a:lstStyle/>
          <a:p>
            <a:fld id="{BDEB6DFD-27C3-4BE1-B7E6-C736F27BA817}" type="slidenum">
              <a:rPr lang="en-US" smtClean="0"/>
              <a:t>20</a:t>
            </a:fld>
            <a:endParaRPr lang="en-US"/>
          </a:p>
        </p:txBody>
      </p:sp>
    </p:spTree>
    <p:extLst>
      <p:ext uri="{BB962C8B-B14F-4D97-AF65-F5344CB8AC3E}">
        <p14:creationId xmlns:p14="http://schemas.microsoft.com/office/powerpoint/2010/main" val="3354443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044A8-E711-41C9-BC83-E3792CF8B276}"/>
              </a:ext>
            </a:extLst>
          </p:cNvPr>
          <p:cNvSpPr>
            <a:spLocks noGrp="1"/>
          </p:cNvSpPr>
          <p:nvPr>
            <p:ph type="title"/>
          </p:nvPr>
        </p:nvSpPr>
        <p:spPr>
          <a:xfrm>
            <a:off x="838200" y="136525"/>
            <a:ext cx="10515600" cy="820208"/>
          </a:xfrm>
        </p:spPr>
        <p:txBody>
          <a:bodyPr/>
          <a:lstStyle/>
          <a:p>
            <a:r>
              <a:rPr lang="en-US" dirty="0"/>
              <a:t>Example 1</a:t>
            </a:r>
            <a:endParaRPr lang="en-PK" dirty="0"/>
          </a:p>
        </p:txBody>
      </p:sp>
      <p:sp>
        <p:nvSpPr>
          <p:cNvPr id="3" name="Content Placeholder 2">
            <a:extLst>
              <a:ext uri="{FF2B5EF4-FFF2-40B4-BE49-F238E27FC236}">
                <a16:creationId xmlns:a16="http://schemas.microsoft.com/office/drawing/2014/main" id="{A5972F6C-81E9-4247-B7FA-35D781DE0EF0}"/>
              </a:ext>
            </a:extLst>
          </p:cNvPr>
          <p:cNvSpPr>
            <a:spLocks noGrp="1"/>
          </p:cNvSpPr>
          <p:nvPr>
            <p:ph idx="1"/>
          </p:nvPr>
        </p:nvSpPr>
        <p:spPr>
          <a:xfrm>
            <a:off x="838200" y="956733"/>
            <a:ext cx="10515600" cy="5220230"/>
          </a:xfrm>
        </p:spPr>
        <p:txBody>
          <a:bodyPr>
            <a:normAutofit lnSpcReduction="10000"/>
          </a:bodyPr>
          <a:lstStyle/>
          <a:p>
            <a:pPr marL="0" indent="0">
              <a:buNone/>
            </a:pPr>
            <a:r>
              <a:rPr lang="en-US" dirty="0"/>
              <a:t>Write Complete C++ Code that reads All Decimal Values from a file “values.txt” in an Array, calculate sum and average, display on screen.</a:t>
            </a:r>
          </a:p>
          <a:p>
            <a:pPr marL="0" indent="0">
              <a:buNone/>
            </a:pPr>
            <a:endParaRPr lang="en-US" dirty="0"/>
          </a:p>
          <a:p>
            <a:pPr marL="0" indent="0">
              <a:buNone/>
            </a:pPr>
            <a:r>
              <a:rPr lang="en-US" b="1" dirty="0"/>
              <a:t>Must use Following Functions:</a:t>
            </a:r>
          </a:p>
          <a:p>
            <a:pPr marL="514350" indent="-514350">
              <a:buFont typeface="+mj-lt"/>
              <a:buAutoNum type="arabicPeriod"/>
            </a:pPr>
            <a:r>
              <a:rPr lang="en-US" b="1" dirty="0"/>
              <a:t>read: </a:t>
            </a:r>
            <a:r>
              <a:rPr lang="en-US" dirty="0"/>
              <a:t>that reads  Decimal Values, one by one, from file “values.txt”</a:t>
            </a:r>
          </a:p>
          <a:p>
            <a:pPr marL="514350" indent="-514350">
              <a:buFont typeface="+mj-lt"/>
              <a:buAutoNum type="arabicPeriod"/>
            </a:pPr>
            <a:endParaRPr lang="en-US" dirty="0"/>
          </a:p>
          <a:p>
            <a:pPr marL="514350" indent="-514350">
              <a:buFont typeface="+mj-lt"/>
              <a:buAutoNum type="arabicPeriod"/>
            </a:pPr>
            <a:r>
              <a:rPr lang="en-US" b="1" dirty="0"/>
              <a:t>Add: </a:t>
            </a:r>
            <a:r>
              <a:rPr lang="en-US" dirty="0"/>
              <a:t> that adds 2 Decimal values and returns</a:t>
            </a:r>
          </a:p>
          <a:p>
            <a:pPr marL="514350" indent="-514350">
              <a:buFont typeface="+mj-lt"/>
              <a:buAutoNum type="arabicPeriod"/>
            </a:pPr>
            <a:endParaRPr lang="en-US" dirty="0"/>
          </a:p>
          <a:p>
            <a:pPr marL="514350" indent="-514350">
              <a:buFont typeface="+mj-lt"/>
              <a:buAutoNum type="arabicPeriod"/>
            </a:pPr>
            <a:r>
              <a:rPr lang="en-US" b="1" dirty="0"/>
              <a:t>Average</a:t>
            </a:r>
            <a:r>
              <a:rPr lang="en-US" dirty="0"/>
              <a:t>: that calculates Average rom Sum and Number</a:t>
            </a:r>
          </a:p>
          <a:p>
            <a:pPr marL="514350" indent="-514350">
              <a:buFont typeface="+mj-lt"/>
              <a:buAutoNum type="arabicPeriod"/>
            </a:pPr>
            <a:endParaRPr lang="en-US" dirty="0"/>
          </a:p>
          <a:p>
            <a:pPr marL="514350" indent="-514350">
              <a:buFont typeface="+mj-lt"/>
              <a:buAutoNum type="arabicPeriod"/>
            </a:pPr>
            <a:r>
              <a:rPr lang="en-US" b="1" dirty="0"/>
              <a:t>display: </a:t>
            </a:r>
            <a:r>
              <a:rPr lang="en-US" dirty="0"/>
              <a:t>that displays Sum and Average Decimals on screen</a:t>
            </a:r>
            <a:endParaRPr lang="en-PK" dirty="0"/>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DD10A6BA-E471-4062-98C5-8B69D991EE2C}"/>
              </a:ext>
            </a:extLst>
          </p:cNvPr>
          <p:cNvSpPr>
            <a:spLocks noGrp="1"/>
          </p:cNvSpPr>
          <p:nvPr>
            <p:ph type="sldNum" sz="quarter" idx="12"/>
          </p:nvPr>
        </p:nvSpPr>
        <p:spPr/>
        <p:txBody>
          <a:bodyPr/>
          <a:lstStyle/>
          <a:p>
            <a:fld id="{BDEB6DFD-27C3-4BE1-B7E6-C736F27BA817}" type="slidenum">
              <a:rPr lang="en-US" smtClean="0"/>
              <a:t>21</a:t>
            </a:fld>
            <a:endParaRPr lang="en-US"/>
          </a:p>
        </p:txBody>
      </p:sp>
    </p:spTree>
    <p:extLst>
      <p:ext uri="{BB962C8B-B14F-4D97-AF65-F5344CB8AC3E}">
        <p14:creationId xmlns:p14="http://schemas.microsoft.com/office/powerpoint/2010/main" val="1575149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044A8-E711-41C9-BC83-E3792CF8B276}"/>
              </a:ext>
            </a:extLst>
          </p:cNvPr>
          <p:cNvSpPr>
            <a:spLocks noGrp="1"/>
          </p:cNvSpPr>
          <p:nvPr>
            <p:ph type="title"/>
          </p:nvPr>
        </p:nvSpPr>
        <p:spPr>
          <a:xfrm>
            <a:off x="838200" y="136525"/>
            <a:ext cx="10515600" cy="820208"/>
          </a:xfrm>
        </p:spPr>
        <p:txBody>
          <a:bodyPr/>
          <a:lstStyle/>
          <a:p>
            <a:r>
              <a:rPr lang="en-US" dirty="0"/>
              <a:t>Example 2</a:t>
            </a:r>
            <a:endParaRPr lang="en-PK" dirty="0"/>
          </a:p>
        </p:txBody>
      </p:sp>
      <p:sp>
        <p:nvSpPr>
          <p:cNvPr id="3" name="Content Placeholder 2">
            <a:extLst>
              <a:ext uri="{FF2B5EF4-FFF2-40B4-BE49-F238E27FC236}">
                <a16:creationId xmlns:a16="http://schemas.microsoft.com/office/drawing/2014/main" id="{A5972F6C-81E9-4247-B7FA-35D781DE0EF0}"/>
              </a:ext>
            </a:extLst>
          </p:cNvPr>
          <p:cNvSpPr>
            <a:spLocks noGrp="1"/>
          </p:cNvSpPr>
          <p:nvPr>
            <p:ph idx="1"/>
          </p:nvPr>
        </p:nvSpPr>
        <p:spPr>
          <a:xfrm>
            <a:off x="838200" y="956733"/>
            <a:ext cx="10515600" cy="5220230"/>
          </a:xfrm>
        </p:spPr>
        <p:txBody>
          <a:bodyPr/>
          <a:lstStyle/>
          <a:p>
            <a:pPr marL="0" indent="0">
              <a:buNone/>
            </a:pPr>
            <a:r>
              <a:rPr lang="en-US" dirty="0"/>
              <a:t>Write Complete C++ Code that reads a word from a user, calculate length, display word and length on screen.</a:t>
            </a:r>
          </a:p>
          <a:p>
            <a:pPr marL="0" indent="0">
              <a:buNone/>
            </a:pPr>
            <a:endParaRPr lang="en-US" dirty="0"/>
          </a:p>
          <a:p>
            <a:pPr marL="0" indent="0">
              <a:buNone/>
            </a:pPr>
            <a:r>
              <a:rPr lang="en-US" b="1" dirty="0"/>
              <a:t>Must use Following Functions:</a:t>
            </a:r>
          </a:p>
          <a:p>
            <a:pPr marL="514350" indent="-514350">
              <a:buFont typeface="+mj-lt"/>
              <a:buAutoNum type="arabicPeriod"/>
            </a:pPr>
            <a:r>
              <a:rPr lang="en-US" b="1" dirty="0"/>
              <a:t>read: </a:t>
            </a:r>
            <a:r>
              <a:rPr lang="en-US" dirty="0"/>
              <a:t>that reads a Word from a user</a:t>
            </a:r>
          </a:p>
          <a:p>
            <a:pPr marL="514350" indent="-514350">
              <a:buFont typeface="+mj-lt"/>
              <a:buAutoNum type="arabicPeriod"/>
            </a:pPr>
            <a:endParaRPr lang="en-US" dirty="0"/>
          </a:p>
          <a:p>
            <a:pPr marL="514350" indent="-514350">
              <a:buFont typeface="+mj-lt"/>
              <a:buAutoNum type="arabicPeriod"/>
            </a:pPr>
            <a:r>
              <a:rPr lang="en-US" b="1" dirty="0"/>
              <a:t>length: </a:t>
            </a:r>
            <a:r>
              <a:rPr lang="en-US" dirty="0"/>
              <a:t> that calculates length of a </a:t>
            </a:r>
            <a:r>
              <a:rPr lang="en-US" dirty="0" err="1"/>
              <a:t>Cstring</a:t>
            </a:r>
            <a:endParaRPr lang="en-US" dirty="0"/>
          </a:p>
          <a:p>
            <a:pPr marL="0" indent="0">
              <a:buNone/>
            </a:pPr>
            <a:endParaRPr lang="en-US" dirty="0"/>
          </a:p>
          <a:p>
            <a:pPr marL="514350" indent="-514350">
              <a:buFont typeface="+mj-lt"/>
              <a:buAutoNum type="arabicPeriod"/>
            </a:pPr>
            <a:r>
              <a:rPr lang="en-US" b="1" dirty="0"/>
              <a:t>display: </a:t>
            </a:r>
            <a:r>
              <a:rPr lang="en-US" dirty="0"/>
              <a:t>that displays a </a:t>
            </a:r>
            <a:r>
              <a:rPr lang="en-US" dirty="0" err="1"/>
              <a:t>Cstring</a:t>
            </a:r>
            <a:r>
              <a:rPr lang="en-US" dirty="0"/>
              <a:t> on screen</a:t>
            </a:r>
            <a:endParaRPr lang="en-PK" dirty="0"/>
          </a:p>
        </p:txBody>
      </p:sp>
      <p:sp>
        <p:nvSpPr>
          <p:cNvPr id="4" name="Slide Number Placeholder 3">
            <a:extLst>
              <a:ext uri="{FF2B5EF4-FFF2-40B4-BE49-F238E27FC236}">
                <a16:creationId xmlns:a16="http://schemas.microsoft.com/office/drawing/2014/main" id="{DD10A6BA-E471-4062-98C5-8B69D991EE2C}"/>
              </a:ext>
            </a:extLst>
          </p:cNvPr>
          <p:cNvSpPr>
            <a:spLocks noGrp="1"/>
          </p:cNvSpPr>
          <p:nvPr>
            <p:ph type="sldNum" sz="quarter" idx="12"/>
          </p:nvPr>
        </p:nvSpPr>
        <p:spPr/>
        <p:txBody>
          <a:bodyPr/>
          <a:lstStyle/>
          <a:p>
            <a:fld id="{BDEB6DFD-27C3-4BE1-B7E6-C736F27BA817}" type="slidenum">
              <a:rPr lang="en-US" smtClean="0"/>
              <a:t>22</a:t>
            </a:fld>
            <a:endParaRPr lang="en-US"/>
          </a:p>
        </p:txBody>
      </p:sp>
    </p:spTree>
    <p:extLst>
      <p:ext uri="{BB962C8B-B14F-4D97-AF65-F5344CB8AC3E}">
        <p14:creationId xmlns:p14="http://schemas.microsoft.com/office/powerpoint/2010/main" val="3012616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044A8-E711-41C9-BC83-E3792CF8B276}"/>
              </a:ext>
            </a:extLst>
          </p:cNvPr>
          <p:cNvSpPr>
            <a:spLocks noGrp="1"/>
          </p:cNvSpPr>
          <p:nvPr>
            <p:ph type="title"/>
          </p:nvPr>
        </p:nvSpPr>
        <p:spPr>
          <a:xfrm>
            <a:off x="838200" y="136525"/>
            <a:ext cx="10515600" cy="820208"/>
          </a:xfrm>
        </p:spPr>
        <p:txBody>
          <a:bodyPr/>
          <a:lstStyle/>
          <a:p>
            <a:r>
              <a:rPr lang="en-US" dirty="0"/>
              <a:t>Example 3: Simple from File</a:t>
            </a:r>
            <a:endParaRPr lang="en-PK" dirty="0"/>
          </a:p>
        </p:txBody>
      </p:sp>
      <p:sp>
        <p:nvSpPr>
          <p:cNvPr id="3" name="Content Placeholder 2">
            <a:extLst>
              <a:ext uri="{FF2B5EF4-FFF2-40B4-BE49-F238E27FC236}">
                <a16:creationId xmlns:a16="http://schemas.microsoft.com/office/drawing/2014/main" id="{A5972F6C-81E9-4247-B7FA-35D781DE0EF0}"/>
              </a:ext>
            </a:extLst>
          </p:cNvPr>
          <p:cNvSpPr>
            <a:spLocks noGrp="1"/>
          </p:cNvSpPr>
          <p:nvPr>
            <p:ph idx="1"/>
          </p:nvPr>
        </p:nvSpPr>
        <p:spPr>
          <a:xfrm>
            <a:off x="838200" y="956733"/>
            <a:ext cx="10515600" cy="5220230"/>
          </a:xfrm>
        </p:spPr>
        <p:txBody>
          <a:bodyPr/>
          <a:lstStyle/>
          <a:p>
            <a:pPr marL="0" indent="0">
              <a:buNone/>
            </a:pPr>
            <a:r>
              <a:rPr lang="en-US" dirty="0"/>
              <a:t>Write Complete C++ Code that checks a file “prices.txt” containing Prices on separate Lines displays line numbers and corresponding price on Screen. Now Display the Prices in Sorted Descending Order.</a:t>
            </a:r>
          </a:p>
          <a:p>
            <a:pPr marL="0" indent="0">
              <a:buNone/>
            </a:pPr>
            <a:endParaRPr lang="en-US" dirty="0"/>
          </a:p>
          <a:p>
            <a:pPr marL="0" indent="0">
              <a:buNone/>
            </a:pPr>
            <a:r>
              <a:rPr lang="en-US" b="1" dirty="0"/>
              <a:t>Must use Following Functions:</a:t>
            </a:r>
          </a:p>
          <a:p>
            <a:pPr marL="514350" indent="-514350">
              <a:buFont typeface="+mj-lt"/>
              <a:buAutoNum type="arabicPeriod"/>
            </a:pPr>
            <a:r>
              <a:rPr lang="en-US" b="1" dirty="0"/>
              <a:t>read: </a:t>
            </a:r>
            <a:r>
              <a:rPr lang="en-US" dirty="0"/>
              <a:t>that reads All Decimal Values, in an Array, from file “values.txt”</a:t>
            </a:r>
          </a:p>
          <a:p>
            <a:pPr marL="514350" indent="-514350">
              <a:buFont typeface="+mj-lt"/>
              <a:buAutoNum type="arabicPeriod"/>
            </a:pPr>
            <a:r>
              <a:rPr lang="en-US" b="1" dirty="0"/>
              <a:t>display: </a:t>
            </a:r>
            <a:r>
              <a:rPr lang="en-US" dirty="0"/>
              <a:t>that displays Line # and Price on screen</a:t>
            </a:r>
          </a:p>
          <a:p>
            <a:pPr marL="514350" indent="-514350">
              <a:buFont typeface="+mj-lt"/>
              <a:buAutoNum type="arabicPeriod"/>
            </a:pPr>
            <a:endParaRPr lang="en-US" b="1" dirty="0"/>
          </a:p>
          <a:p>
            <a:pPr marL="514350" indent="-514350">
              <a:buFont typeface="+mj-lt"/>
              <a:buAutoNum type="arabicPeriod"/>
            </a:pPr>
            <a:r>
              <a:rPr lang="en-US" b="1" dirty="0"/>
              <a:t>sort: </a:t>
            </a:r>
            <a:r>
              <a:rPr lang="en-US" dirty="0"/>
              <a:t>that sorts a double array in Descending Order</a:t>
            </a:r>
            <a:endParaRPr lang="en-PK" b="1" dirty="0"/>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DD10A6BA-E471-4062-98C5-8B69D991EE2C}"/>
              </a:ext>
            </a:extLst>
          </p:cNvPr>
          <p:cNvSpPr>
            <a:spLocks noGrp="1"/>
          </p:cNvSpPr>
          <p:nvPr>
            <p:ph type="sldNum" sz="quarter" idx="12"/>
          </p:nvPr>
        </p:nvSpPr>
        <p:spPr/>
        <p:txBody>
          <a:bodyPr/>
          <a:lstStyle/>
          <a:p>
            <a:fld id="{BDEB6DFD-27C3-4BE1-B7E6-C736F27BA817}" type="slidenum">
              <a:rPr lang="en-US" smtClean="0"/>
              <a:t>23</a:t>
            </a:fld>
            <a:endParaRPr lang="en-US"/>
          </a:p>
        </p:txBody>
      </p:sp>
    </p:spTree>
    <p:extLst>
      <p:ext uri="{BB962C8B-B14F-4D97-AF65-F5344CB8AC3E}">
        <p14:creationId xmlns:p14="http://schemas.microsoft.com/office/powerpoint/2010/main" val="1109187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044A8-E711-41C9-BC83-E3792CF8B276}"/>
              </a:ext>
            </a:extLst>
          </p:cNvPr>
          <p:cNvSpPr>
            <a:spLocks noGrp="1"/>
          </p:cNvSpPr>
          <p:nvPr>
            <p:ph type="title"/>
          </p:nvPr>
        </p:nvSpPr>
        <p:spPr>
          <a:xfrm>
            <a:off x="838200" y="136525"/>
            <a:ext cx="10515600" cy="820208"/>
          </a:xfrm>
        </p:spPr>
        <p:txBody>
          <a:bodyPr/>
          <a:lstStyle/>
          <a:p>
            <a:r>
              <a:rPr lang="en-US" dirty="0"/>
              <a:t>Example 4: Moderate from File</a:t>
            </a:r>
            <a:endParaRPr lang="en-PK" dirty="0"/>
          </a:p>
        </p:txBody>
      </p:sp>
      <p:sp>
        <p:nvSpPr>
          <p:cNvPr id="3" name="Content Placeholder 2">
            <a:extLst>
              <a:ext uri="{FF2B5EF4-FFF2-40B4-BE49-F238E27FC236}">
                <a16:creationId xmlns:a16="http://schemas.microsoft.com/office/drawing/2014/main" id="{A5972F6C-81E9-4247-B7FA-35D781DE0EF0}"/>
              </a:ext>
            </a:extLst>
          </p:cNvPr>
          <p:cNvSpPr>
            <a:spLocks noGrp="1"/>
          </p:cNvSpPr>
          <p:nvPr>
            <p:ph idx="1"/>
          </p:nvPr>
        </p:nvSpPr>
        <p:spPr>
          <a:xfrm>
            <a:off x="838200" y="956733"/>
            <a:ext cx="10515600" cy="5220230"/>
          </a:xfrm>
        </p:spPr>
        <p:txBody>
          <a:bodyPr/>
          <a:lstStyle/>
          <a:p>
            <a:pPr marL="0" indent="0">
              <a:buNone/>
            </a:pPr>
            <a:r>
              <a:rPr lang="en-US" dirty="0"/>
              <a:t>Write Complete C++ Code that first read a price value from the user and then Finds if a file “prices.txt” contains this Price. If file contains this price then display the Line #, otherwise display -1 to show that File does not contain the value</a:t>
            </a:r>
          </a:p>
          <a:p>
            <a:pPr marL="0" indent="0">
              <a:buNone/>
            </a:pPr>
            <a:r>
              <a:rPr lang="en-US" b="1" dirty="0"/>
              <a:t>Must use Following Functions:</a:t>
            </a:r>
          </a:p>
          <a:p>
            <a:pPr marL="514350" indent="-514350">
              <a:buFont typeface="+mj-lt"/>
              <a:buAutoNum type="arabicPeriod"/>
            </a:pPr>
            <a:r>
              <a:rPr lang="en-US" b="1" dirty="0"/>
              <a:t>read: </a:t>
            </a:r>
            <a:r>
              <a:rPr lang="en-US" dirty="0"/>
              <a:t>that reads a single decimal value from the user</a:t>
            </a:r>
          </a:p>
          <a:p>
            <a:pPr marL="514350" indent="-514350">
              <a:buFont typeface="+mj-lt"/>
              <a:buAutoNum type="arabicPeriod"/>
            </a:pPr>
            <a:r>
              <a:rPr lang="en-US" b="1" dirty="0"/>
              <a:t>check</a:t>
            </a:r>
            <a:r>
              <a:rPr lang="en-US" dirty="0"/>
              <a:t>: that checks if a decimal value is present in file “prices.txt” and returns lie number or -1</a:t>
            </a:r>
          </a:p>
          <a:p>
            <a:pPr marL="514350" indent="-514350">
              <a:buFont typeface="+mj-lt"/>
              <a:buAutoNum type="arabicPeriod"/>
            </a:pPr>
            <a:endParaRPr lang="en-US" dirty="0"/>
          </a:p>
          <a:p>
            <a:pPr marL="514350" indent="-514350">
              <a:buFont typeface="+mj-lt"/>
              <a:buAutoNum type="arabicPeriod"/>
            </a:pPr>
            <a:r>
              <a:rPr lang="en-US" b="1" dirty="0"/>
              <a:t>display: </a:t>
            </a:r>
            <a:r>
              <a:rPr lang="en-US" dirty="0"/>
              <a:t>that displays Line # on screen</a:t>
            </a:r>
            <a:endParaRPr lang="en-PK" dirty="0"/>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DD10A6BA-E471-4062-98C5-8B69D991EE2C}"/>
              </a:ext>
            </a:extLst>
          </p:cNvPr>
          <p:cNvSpPr>
            <a:spLocks noGrp="1"/>
          </p:cNvSpPr>
          <p:nvPr>
            <p:ph type="sldNum" sz="quarter" idx="12"/>
          </p:nvPr>
        </p:nvSpPr>
        <p:spPr/>
        <p:txBody>
          <a:bodyPr/>
          <a:lstStyle/>
          <a:p>
            <a:fld id="{BDEB6DFD-27C3-4BE1-B7E6-C736F27BA817}" type="slidenum">
              <a:rPr lang="en-US" smtClean="0"/>
              <a:t>24</a:t>
            </a:fld>
            <a:endParaRPr lang="en-US"/>
          </a:p>
        </p:txBody>
      </p:sp>
    </p:spTree>
    <p:extLst>
      <p:ext uri="{BB962C8B-B14F-4D97-AF65-F5344CB8AC3E}">
        <p14:creationId xmlns:p14="http://schemas.microsoft.com/office/powerpoint/2010/main" val="2960927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044A8-E711-41C9-BC83-E3792CF8B276}"/>
              </a:ext>
            </a:extLst>
          </p:cNvPr>
          <p:cNvSpPr>
            <a:spLocks noGrp="1"/>
          </p:cNvSpPr>
          <p:nvPr>
            <p:ph type="title"/>
          </p:nvPr>
        </p:nvSpPr>
        <p:spPr>
          <a:xfrm>
            <a:off x="838200" y="136525"/>
            <a:ext cx="10515600" cy="820208"/>
          </a:xfrm>
        </p:spPr>
        <p:txBody>
          <a:bodyPr/>
          <a:lstStyle/>
          <a:p>
            <a:r>
              <a:rPr lang="en-US" dirty="0"/>
              <a:t>Example 5: Moderate from File</a:t>
            </a:r>
            <a:endParaRPr lang="en-PK" dirty="0"/>
          </a:p>
        </p:txBody>
      </p:sp>
      <p:sp>
        <p:nvSpPr>
          <p:cNvPr id="3" name="Content Placeholder 2">
            <a:extLst>
              <a:ext uri="{FF2B5EF4-FFF2-40B4-BE49-F238E27FC236}">
                <a16:creationId xmlns:a16="http://schemas.microsoft.com/office/drawing/2014/main" id="{A5972F6C-81E9-4247-B7FA-35D781DE0EF0}"/>
              </a:ext>
            </a:extLst>
          </p:cNvPr>
          <p:cNvSpPr>
            <a:spLocks noGrp="1"/>
          </p:cNvSpPr>
          <p:nvPr>
            <p:ph idx="1"/>
          </p:nvPr>
        </p:nvSpPr>
        <p:spPr>
          <a:xfrm>
            <a:off x="838200" y="956733"/>
            <a:ext cx="10515600" cy="5220230"/>
          </a:xfrm>
        </p:spPr>
        <p:txBody>
          <a:bodyPr/>
          <a:lstStyle/>
          <a:p>
            <a:pPr marL="0" indent="0">
              <a:buNone/>
            </a:pPr>
            <a:r>
              <a:rPr lang="en-US" dirty="0"/>
              <a:t>Write Complete C++ Code that first reads all decimal values, in an array, from file “values.txt”.  Now Checks if values of the array are present in another file “prices.txt” and if for each price that is found display line # and price on screen</a:t>
            </a:r>
          </a:p>
          <a:p>
            <a:pPr marL="0" indent="0">
              <a:buNone/>
            </a:pPr>
            <a:r>
              <a:rPr lang="en-US" b="1" dirty="0"/>
              <a:t>Must use Following Functions:</a:t>
            </a:r>
          </a:p>
          <a:p>
            <a:pPr marL="514350" indent="-514350">
              <a:buFont typeface="+mj-lt"/>
              <a:buAutoNum type="arabicPeriod"/>
            </a:pPr>
            <a:r>
              <a:rPr lang="en-US" b="1" dirty="0"/>
              <a:t>read: </a:t>
            </a:r>
            <a:r>
              <a:rPr lang="en-US" dirty="0"/>
              <a:t>that reads all decimal value from file “values.txt” in an array</a:t>
            </a:r>
          </a:p>
          <a:p>
            <a:pPr marL="514350" indent="-514350">
              <a:buFont typeface="+mj-lt"/>
              <a:buAutoNum type="arabicPeriod"/>
            </a:pPr>
            <a:r>
              <a:rPr lang="en-US" b="1" dirty="0"/>
              <a:t>check</a:t>
            </a:r>
            <a:r>
              <a:rPr lang="en-US" dirty="0"/>
              <a:t>: that checks if a decimal value is present in file “prices.txt” and returns line number or -1</a:t>
            </a:r>
          </a:p>
          <a:p>
            <a:pPr marL="514350" indent="-514350">
              <a:buFont typeface="+mj-lt"/>
              <a:buAutoNum type="arabicPeriod"/>
            </a:pPr>
            <a:endParaRPr lang="en-US" dirty="0"/>
          </a:p>
          <a:p>
            <a:pPr marL="514350" indent="-514350">
              <a:buFont typeface="+mj-lt"/>
              <a:buAutoNum type="arabicPeriod"/>
            </a:pPr>
            <a:r>
              <a:rPr lang="en-US" b="1" dirty="0"/>
              <a:t>display: </a:t>
            </a:r>
            <a:r>
              <a:rPr lang="en-US" dirty="0"/>
              <a:t>that displays Line # and a decimal value on screen</a:t>
            </a:r>
            <a:endParaRPr lang="en-PK" dirty="0"/>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DD10A6BA-E471-4062-98C5-8B69D991EE2C}"/>
              </a:ext>
            </a:extLst>
          </p:cNvPr>
          <p:cNvSpPr>
            <a:spLocks noGrp="1"/>
          </p:cNvSpPr>
          <p:nvPr>
            <p:ph type="sldNum" sz="quarter" idx="12"/>
          </p:nvPr>
        </p:nvSpPr>
        <p:spPr/>
        <p:txBody>
          <a:bodyPr/>
          <a:lstStyle/>
          <a:p>
            <a:fld id="{BDEB6DFD-27C3-4BE1-B7E6-C736F27BA817}" type="slidenum">
              <a:rPr lang="en-US" smtClean="0"/>
              <a:t>25</a:t>
            </a:fld>
            <a:endParaRPr lang="en-US"/>
          </a:p>
        </p:txBody>
      </p:sp>
    </p:spTree>
    <p:extLst>
      <p:ext uri="{BB962C8B-B14F-4D97-AF65-F5344CB8AC3E}">
        <p14:creationId xmlns:p14="http://schemas.microsoft.com/office/powerpoint/2010/main" val="3023262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044A8-E711-41C9-BC83-E3792CF8B276}"/>
              </a:ext>
            </a:extLst>
          </p:cNvPr>
          <p:cNvSpPr>
            <a:spLocks noGrp="1"/>
          </p:cNvSpPr>
          <p:nvPr>
            <p:ph type="title"/>
          </p:nvPr>
        </p:nvSpPr>
        <p:spPr>
          <a:xfrm>
            <a:off x="838200" y="136525"/>
            <a:ext cx="10515600" cy="460587"/>
          </a:xfrm>
        </p:spPr>
        <p:txBody>
          <a:bodyPr>
            <a:noAutofit/>
          </a:bodyPr>
          <a:lstStyle/>
          <a:p>
            <a:r>
              <a:rPr lang="en-US" sz="3200" dirty="0"/>
              <a:t>Example 6: Moderate from File</a:t>
            </a:r>
            <a:endParaRPr lang="en-PK" sz="3200" dirty="0"/>
          </a:p>
        </p:txBody>
      </p:sp>
      <p:sp>
        <p:nvSpPr>
          <p:cNvPr id="3" name="Content Placeholder 2">
            <a:extLst>
              <a:ext uri="{FF2B5EF4-FFF2-40B4-BE49-F238E27FC236}">
                <a16:creationId xmlns:a16="http://schemas.microsoft.com/office/drawing/2014/main" id="{A5972F6C-81E9-4247-B7FA-35D781DE0EF0}"/>
              </a:ext>
            </a:extLst>
          </p:cNvPr>
          <p:cNvSpPr>
            <a:spLocks noGrp="1"/>
          </p:cNvSpPr>
          <p:nvPr>
            <p:ph idx="1"/>
          </p:nvPr>
        </p:nvSpPr>
        <p:spPr>
          <a:xfrm>
            <a:off x="838200" y="597112"/>
            <a:ext cx="10515600" cy="6124363"/>
          </a:xfrm>
        </p:spPr>
        <p:txBody>
          <a:bodyPr>
            <a:normAutofit/>
          </a:bodyPr>
          <a:lstStyle/>
          <a:p>
            <a:pPr marL="0" indent="0">
              <a:buNone/>
            </a:pPr>
            <a:r>
              <a:rPr lang="en-US" dirty="0"/>
              <a:t>A File “product.csv” contains the following data.</a:t>
            </a:r>
          </a:p>
          <a:p>
            <a:pPr marL="0" indent="0">
              <a:buNone/>
            </a:pPr>
            <a:endParaRPr lang="en-US" dirty="0"/>
          </a:p>
          <a:p>
            <a:pPr marL="0" indent="0">
              <a:buNone/>
            </a:pPr>
            <a:endParaRPr lang="en-US" dirty="0"/>
          </a:p>
          <a:p>
            <a:pPr marL="0" indent="0">
              <a:buNone/>
            </a:pPr>
            <a:r>
              <a:rPr lang="en-US" dirty="0"/>
              <a:t>Another File “sales.csv” contains the following data.</a:t>
            </a:r>
          </a:p>
          <a:p>
            <a:pPr marL="0" indent="0">
              <a:buNone/>
            </a:pPr>
            <a:endParaRPr lang="en-US" dirty="0"/>
          </a:p>
          <a:p>
            <a:pPr marL="0" indent="0">
              <a:buNone/>
            </a:pPr>
            <a:endParaRPr lang="en-US" dirty="0"/>
          </a:p>
          <a:p>
            <a:pPr marL="0" indent="0">
              <a:buNone/>
            </a:pPr>
            <a:r>
              <a:rPr lang="en-US" dirty="0"/>
              <a:t>Write a C++ Code that calculates profit of each product and saves in a file “profit.csv” in the following format</a:t>
            </a:r>
          </a:p>
          <a:p>
            <a:pPr marL="0" indent="0">
              <a:buNone/>
            </a:pPr>
            <a:endParaRPr lang="en-US" dirty="0"/>
          </a:p>
        </p:txBody>
      </p:sp>
      <p:sp>
        <p:nvSpPr>
          <p:cNvPr id="4" name="Slide Number Placeholder 3">
            <a:extLst>
              <a:ext uri="{FF2B5EF4-FFF2-40B4-BE49-F238E27FC236}">
                <a16:creationId xmlns:a16="http://schemas.microsoft.com/office/drawing/2014/main" id="{DD10A6BA-E471-4062-98C5-8B69D991EE2C}"/>
              </a:ext>
            </a:extLst>
          </p:cNvPr>
          <p:cNvSpPr>
            <a:spLocks noGrp="1"/>
          </p:cNvSpPr>
          <p:nvPr>
            <p:ph type="sldNum" sz="quarter" idx="12"/>
          </p:nvPr>
        </p:nvSpPr>
        <p:spPr/>
        <p:txBody>
          <a:bodyPr/>
          <a:lstStyle/>
          <a:p>
            <a:fld id="{BDEB6DFD-27C3-4BE1-B7E6-C736F27BA817}" type="slidenum">
              <a:rPr lang="en-US" smtClean="0"/>
              <a:t>26</a:t>
            </a:fld>
            <a:endParaRPr lang="en-US"/>
          </a:p>
        </p:txBody>
      </p:sp>
      <p:graphicFrame>
        <p:nvGraphicFramePr>
          <p:cNvPr id="5" name="Table 4">
            <a:extLst>
              <a:ext uri="{FF2B5EF4-FFF2-40B4-BE49-F238E27FC236}">
                <a16:creationId xmlns:a16="http://schemas.microsoft.com/office/drawing/2014/main" id="{751513F5-B12E-420D-A5E7-8B2A790677C3}"/>
              </a:ext>
            </a:extLst>
          </p:cNvPr>
          <p:cNvGraphicFramePr>
            <a:graphicFrameLocks noGrp="1"/>
          </p:cNvGraphicFramePr>
          <p:nvPr>
            <p:extLst>
              <p:ext uri="{D42A27DB-BD31-4B8C-83A1-F6EECF244321}">
                <p14:modId xmlns:p14="http://schemas.microsoft.com/office/powerpoint/2010/main" val="2957596375"/>
              </p:ext>
            </p:extLst>
          </p:nvPr>
        </p:nvGraphicFramePr>
        <p:xfrm>
          <a:off x="1344287" y="1057699"/>
          <a:ext cx="3439380" cy="1188720"/>
        </p:xfrm>
        <a:graphic>
          <a:graphicData uri="http://schemas.openxmlformats.org/drawingml/2006/table">
            <a:tbl>
              <a:tblPr firstRow="1" bandRow="1">
                <a:tableStyleId>{5C22544A-7EE6-4342-B048-85BDC9FD1C3A}</a:tableStyleId>
              </a:tblPr>
              <a:tblGrid>
                <a:gridCol w="3439380">
                  <a:extLst>
                    <a:ext uri="{9D8B030D-6E8A-4147-A177-3AD203B41FA5}">
                      <a16:colId xmlns:a16="http://schemas.microsoft.com/office/drawing/2014/main" val="4292112378"/>
                    </a:ext>
                  </a:extLst>
                </a:gridCol>
              </a:tblGrid>
              <a:tr h="370840">
                <a:tc>
                  <a:txBody>
                    <a:bodyPr/>
                    <a:lstStyle/>
                    <a:p>
                      <a:r>
                        <a:rPr lang="en-US" dirty="0"/>
                        <a:t>No., </a:t>
                      </a:r>
                      <a:r>
                        <a:rPr lang="en-US" dirty="0" err="1"/>
                        <a:t>ProductID</a:t>
                      </a:r>
                      <a:r>
                        <a:rPr lang="en-US" dirty="0"/>
                        <a:t>, Name, Cost,</a:t>
                      </a:r>
                    </a:p>
                    <a:p>
                      <a:r>
                        <a:rPr lang="en-US" dirty="0"/>
                        <a:t>1, 123,  Pen, 215.25,</a:t>
                      </a:r>
                    </a:p>
                    <a:p>
                      <a:r>
                        <a:rPr lang="en-US" dirty="0"/>
                        <a:t>2, 234, Marker, 350.5,</a:t>
                      </a:r>
                    </a:p>
                    <a:p>
                      <a:r>
                        <a:rPr lang="en-US" dirty="0"/>
                        <a:t>3, 345, register, 325.75</a:t>
                      </a:r>
                      <a:endParaRPr lang="en-PK" dirty="0"/>
                    </a:p>
                  </a:txBody>
                  <a:tcPr/>
                </a:tc>
                <a:extLst>
                  <a:ext uri="{0D108BD9-81ED-4DB2-BD59-A6C34878D82A}">
                    <a16:rowId xmlns:a16="http://schemas.microsoft.com/office/drawing/2014/main" val="2688885361"/>
                  </a:ext>
                </a:extLst>
              </a:tr>
            </a:tbl>
          </a:graphicData>
        </a:graphic>
      </p:graphicFrame>
      <p:graphicFrame>
        <p:nvGraphicFramePr>
          <p:cNvPr id="6" name="Table 5">
            <a:extLst>
              <a:ext uri="{FF2B5EF4-FFF2-40B4-BE49-F238E27FC236}">
                <a16:creationId xmlns:a16="http://schemas.microsoft.com/office/drawing/2014/main" id="{0C3DE246-B000-4A11-A373-02232AED2970}"/>
              </a:ext>
            </a:extLst>
          </p:cNvPr>
          <p:cNvGraphicFramePr>
            <a:graphicFrameLocks noGrp="1"/>
          </p:cNvGraphicFramePr>
          <p:nvPr>
            <p:extLst>
              <p:ext uri="{D42A27DB-BD31-4B8C-83A1-F6EECF244321}">
                <p14:modId xmlns:p14="http://schemas.microsoft.com/office/powerpoint/2010/main" val="2466624666"/>
              </p:ext>
            </p:extLst>
          </p:nvPr>
        </p:nvGraphicFramePr>
        <p:xfrm>
          <a:off x="1344287" y="2512906"/>
          <a:ext cx="3439380" cy="1188720"/>
        </p:xfrm>
        <a:graphic>
          <a:graphicData uri="http://schemas.openxmlformats.org/drawingml/2006/table">
            <a:tbl>
              <a:tblPr firstRow="1" bandRow="1">
                <a:tableStyleId>{5C22544A-7EE6-4342-B048-85BDC9FD1C3A}</a:tableStyleId>
              </a:tblPr>
              <a:tblGrid>
                <a:gridCol w="3439380">
                  <a:extLst>
                    <a:ext uri="{9D8B030D-6E8A-4147-A177-3AD203B41FA5}">
                      <a16:colId xmlns:a16="http://schemas.microsoft.com/office/drawing/2014/main" val="4292112378"/>
                    </a:ext>
                  </a:extLst>
                </a:gridCol>
              </a:tblGrid>
              <a:tr h="0">
                <a:tc>
                  <a:txBody>
                    <a:bodyPr/>
                    <a:lstStyle/>
                    <a:p>
                      <a:r>
                        <a:rPr lang="en-US" dirty="0"/>
                        <a:t>No., </a:t>
                      </a:r>
                      <a:r>
                        <a:rPr lang="en-US" dirty="0" err="1"/>
                        <a:t>ProductID</a:t>
                      </a:r>
                      <a:r>
                        <a:rPr lang="en-US" dirty="0"/>
                        <a:t>, Price,</a:t>
                      </a:r>
                    </a:p>
                    <a:p>
                      <a:r>
                        <a:rPr lang="en-US" dirty="0"/>
                        <a:t>1,  123, 315.25,</a:t>
                      </a:r>
                    </a:p>
                    <a:p>
                      <a:r>
                        <a:rPr lang="en-US" dirty="0"/>
                        <a:t>2,  234, 450.5,</a:t>
                      </a:r>
                    </a:p>
                    <a:p>
                      <a:r>
                        <a:rPr lang="en-US" dirty="0"/>
                        <a:t>3,  345, 425.75</a:t>
                      </a:r>
                      <a:endParaRPr lang="en-PK" dirty="0"/>
                    </a:p>
                  </a:txBody>
                  <a:tcPr/>
                </a:tc>
                <a:extLst>
                  <a:ext uri="{0D108BD9-81ED-4DB2-BD59-A6C34878D82A}">
                    <a16:rowId xmlns:a16="http://schemas.microsoft.com/office/drawing/2014/main" val="2688885361"/>
                  </a:ext>
                </a:extLst>
              </a:tr>
            </a:tbl>
          </a:graphicData>
        </a:graphic>
      </p:graphicFrame>
      <p:graphicFrame>
        <p:nvGraphicFramePr>
          <p:cNvPr id="7" name="Table 6">
            <a:extLst>
              <a:ext uri="{FF2B5EF4-FFF2-40B4-BE49-F238E27FC236}">
                <a16:creationId xmlns:a16="http://schemas.microsoft.com/office/drawing/2014/main" id="{93D5B408-95D9-4AED-A0F9-71F709B69463}"/>
              </a:ext>
            </a:extLst>
          </p:cNvPr>
          <p:cNvGraphicFramePr>
            <a:graphicFrameLocks noGrp="1"/>
          </p:cNvGraphicFramePr>
          <p:nvPr>
            <p:extLst>
              <p:ext uri="{D42A27DB-BD31-4B8C-83A1-F6EECF244321}">
                <p14:modId xmlns:p14="http://schemas.microsoft.com/office/powerpoint/2010/main" val="2376833580"/>
              </p:ext>
            </p:extLst>
          </p:nvPr>
        </p:nvGraphicFramePr>
        <p:xfrm>
          <a:off x="1344287" y="4527972"/>
          <a:ext cx="3439380" cy="1188720"/>
        </p:xfrm>
        <a:graphic>
          <a:graphicData uri="http://schemas.openxmlformats.org/drawingml/2006/table">
            <a:tbl>
              <a:tblPr firstRow="1" bandRow="1">
                <a:tableStyleId>{5C22544A-7EE6-4342-B048-85BDC9FD1C3A}</a:tableStyleId>
              </a:tblPr>
              <a:tblGrid>
                <a:gridCol w="3439380">
                  <a:extLst>
                    <a:ext uri="{9D8B030D-6E8A-4147-A177-3AD203B41FA5}">
                      <a16:colId xmlns:a16="http://schemas.microsoft.com/office/drawing/2014/main" val="4292112378"/>
                    </a:ext>
                  </a:extLst>
                </a:gridCol>
              </a:tblGrid>
              <a:tr h="0">
                <a:tc>
                  <a:txBody>
                    <a:bodyPr/>
                    <a:lstStyle/>
                    <a:p>
                      <a:r>
                        <a:rPr lang="en-US" dirty="0"/>
                        <a:t>No., </a:t>
                      </a:r>
                      <a:r>
                        <a:rPr lang="en-US" dirty="0" err="1"/>
                        <a:t>ProductID</a:t>
                      </a:r>
                      <a:r>
                        <a:rPr lang="en-US" dirty="0"/>
                        <a:t>, Profit,</a:t>
                      </a:r>
                    </a:p>
                    <a:p>
                      <a:r>
                        <a:rPr lang="en-US" dirty="0"/>
                        <a:t>1, 123, 46.46,</a:t>
                      </a:r>
                    </a:p>
                    <a:p>
                      <a:r>
                        <a:rPr lang="en-US" dirty="0"/>
                        <a:t>2, 234, 28.53,</a:t>
                      </a:r>
                    </a:p>
                    <a:p>
                      <a:r>
                        <a:rPr lang="en-US" dirty="0"/>
                        <a:t>3, 345, 30.7</a:t>
                      </a:r>
                    </a:p>
                  </a:txBody>
                  <a:tcPr/>
                </a:tc>
                <a:extLst>
                  <a:ext uri="{0D108BD9-81ED-4DB2-BD59-A6C34878D82A}">
                    <a16:rowId xmlns:a16="http://schemas.microsoft.com/office/drawing/2014/main" val="2688885361"/>
                  </a:ext>
                </a:extLst>
              </a:tr>
            </a:tbl>
          </a:graphicData>
        </a:graphic>
      </p:graphicFrame>
    </p:spTree>
    <p:extLst>
      <p:ext uri="{BB962C8B-B14F-4D97-AF65-F5344CB8AC3E}">
        <p14:creationId xmlns:p14="http://schemas.microsoft.com/office/powerpoint/2010/main" val="1142830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A1EEB-4653-4D88-8B8A-44A24C851FCB}"/>
              </a:ext>
            </a:extLst>
          </p:cNvPr>
          <p:cNvSpPr>
            <a:spLocks noGrp="1"/>
          </p:cNvSpPr>
          <p:nvPr>
            <p:ph type="title"/>
          </p:nvPr>
        </p:nvSpPr>
        <p:spPr>
          <a:xfrm>
            <a:off x="188259" y="365126"/>
            <a:ext cx="11793070" cy="616510"/>
          </a:xfrm>
        </p:spPr>
        <p:txBody>
          <a:bodyPr>
            <a:normAutofit fontScale="90000"/>
          </a:bodyPr>
          <a:lstStyle/>
          <a:p>
            <a:r>
              <a:rPr lang="en-US" dirty="0"/>
              <a:t>Example of Code in terms of Functions</a:t>
            </a:r>
            <a:endParaRPr lang="en-PK" dirty="0"/>
          </a:p>
        </p:txBody>
      </p:sp>
      <p:sp>
        <p:nvSpPr>
          <p:cNvPr id="3" name="Content Placeholder 2">
            <a:extLst>
              <a:ext uri="{FF2B5EF4-FFF2-40B4-BE49-F238E27FC236}">
                <a16:creationId xmlns:a16="http://schemas.microsoft.com/office/drawing/2014/main" id="{8D6FA8DA-67E0-4BE9-9ABC-A3AC74E706FD}"/>
              </a:ext>
            </a:extLst>
          </p:cNvPr>
          <p:cNvSpPr>
            <a:spLocks noGrp="1"/>
          </p:cNvSpPr>
          <p:nvPr>
            <p:ph idx="1"/>
          </p:nvPr>
        </p:nvSpPr>
        <p:spPr>
          <a:xfrm>
            <a:off x="210671" y="981636"/>
            <a:ext cx="12079941" cy="5876364"/>
          </a:xfrm>
        </p:spPr>
        <p:txBody>
          <a:bodyPr>
            <a:normAutofit/>
          </a:bodyPr>
          <a:lstStyle/>
          <a:p>
            <a:pPr marL="0" indent="0">
              <a:buNone/>
            </a:pPr>
            <a:r>
              <a:rPr lang="en-US" dirty="0"/>
              <a:t>Write a complete C++ Program that reads prices from a file, </a:t>
            </a:r>
            <a:r>
              <a:rPr lang="en-US" b="1" dirty="0"/>
              <a:t>read path from user</a:t>
            </a:r>
            <a:r>
              <a:rPr lang="en-US" dirty="0"/>
              <a:t>, in an </a:t>
            </a:r>
            <a:r>
              <a:rPr lang="en-US" b="1" dirty="0"/>
              <a:t>array</a:t>
            </a:r>
            <a:r>
              <a:rPr lang="en-US" dirty="0"/>
              <a:t> and then displays </a:t>
            </a:r>
            <a:r>
              <a:rPr lang="en-US" b="1" dirty="0"/>
              <a:t>Maximum</a:t>
            </a:r>
            <a:r>
              <a:rPr lang="en-US" dirty="0"/>
              <a:t> and </a:t>
            </a:r>
            <a:r>
              <a:rPr lang="en-US" b="1" dirty="0"/>
              <a:t>Minimum</a:t>
            </a:r>
            <a:r>
              <a:rPr lang="en-US" dirty="0"/>
              <a:t> prices.</a:t>
            </a:r>
          </a:p>
          <a:p>
            <a:pPr marL="0" indent="0">
              <a:buNone/>
            </a:pPr>
            <a:r>
              <a:rPr lang="en-US" b="1" dirty="0"/>
              <a:t>Constraints:</a:t>
            </a:r>
          </a:p>
          <a:p>
            <a:pPr lvl="1"/>
            <a:r>
              <a:rPr lang="en-US" dirty="0"/>
              <a:t>All Functions, other than main, must have </a:t>
            </a:r>
            <a:r>
              <a:rPr lang="en-US" b="1" dirty="0"/>
              <a:t>void</a:t>
            </a:r>
            <a:r>
              <a:rPr lang="en-US" dirty="0"/>
              <a:t> return type</a:t>
            </a:r>
          </a:p>
          <a:p>
            <a:pPr lvl="1"/>
            <a:r>
              <a:rPr lang="en-US" dirty="0"/>
              <a:t>Main </a:t>
            </a:r>
            <a:r>
              <a:rPr lang="en-US" b="1" dirty="0"/>
              <a:t>must not </a:t>
            </a:r>
            <a:r>
              <a:rPr lang="en-US" dirty="0"/>
              <a:t>contain any </a:t>
            </a:r>
            <a:r>
              <a:rPr lang="en-US" b="1" dirty="0" err="1"/>
              <a:t>cin</a:t>
            </a:r>
            <a:r>
              <a:rPr lang="en-US" b="1" dirty="0"/>
              <a:t>, </a:t>
            </a:r>
            <a:r>
              <a:rPr lang="en-US" b="1" dirty="0" err="1"/>
              <a:t>cout</a:t>
            </a:r>
            <a:r>
              <a:rPr lang="en-US" b="1" dirty="0"/>
              <a:t>, file reading or math</a:t>
            </a:r>
          </a:p>
          <a:p>
            <a:pPr lvl="1"/>
            <a:r>
              <a:rPr lang="en-US" b="1" dirty="0"/>
              <a:t>Use at least 3 functions</a:t>
            </a:r>
          </a:p>
          <a:p>
            <a:pPr marL="0" indent="0">
              <a:buNone/>
            </a:pPr>
            <a:r>
              <a:rPr lang="en-US" b="1" dirty="0"/>
              <a:t>Process of Writing Code:</a:t>
            </a:r>
          </a:p>
          <a:p>
            <a:pPr marL="0" indent="0">
              <a:buNone/>
            </a:pPr>
            <a:r>
              <a:rPr lang="en-US" b="1" dirty="0"/>
              <a:t>Step 1:</a:t>
            </a:r>
            <a:r>
              <a:rPr lang="en-US" dirty="0"/>
              <a:t> Decide names of functions: read, </a:t>
            </a:r>
            <a:r>
              <a:rPr lang="en-US" dirty="0" err="1"/>
              <a:t>getPath</a:t>
            </a:r>
            <a:r>
              <a:rPr lang="en-US" dirty="0"/>
              <a:t>, calculate, display</a:t>
            </a:r>
          </a:p>
          <a:p>
            <a:pPr marL="0" indent="0">
              <a:buNone/>
            </a:pPr>
            <a:r>
              <a:rPr lang="en-US" b="1" dirty="0"/>
              <a:t>Step 2:</a:t>
            </a:r>
            <a:r>
              <a:rPr lang="en-US" dirty="0"/>
              <a:t> Decide parameters of each function:</a:t>
            </a:r>
          </a:p>
          <a:p>
            <a:pPr marL="0" indent="0">
              <a:buNone/>
            </a:pPr>
            <a:r>
              <a:rPr lang="en-US" b="1" dirty="0"/>
              <a:t>Step 3:</a:t>
            </a:r>
            <a:r>
              <a:rPr lang="en-US" dirty="0"/>
              <a:t> Write Function Prototypes</a:t>
            </a:r>
          </a:p>
          <a:p>
            <a:pPr marL="0" indent="0">
              <a:buNone/>
            </a:pPr>
            <a:r>
              <a:rPr lang="en-US" b="1" dirty="0"/>
              <a:t>Step 4:</a:t>
            </a:r>
            <a:r>
              <a:rPr lang="en-US" dirty="0"/>
              <a:t> Write Code of main using Function Prototypes</a:t>
            </a:r>
          </a:p>
          <a:p>
            <a:pPr marL="0" indent="0">
              <a:buNone/>
            </a:pPr>
            <a:r>
              <a:rPr lang="en-US" b="1" dirty="0"/>
              <a:t>Step 5:</a:t>
            </a:r>
            <a:r>
              <a:rPr lang="en-US" dirty="0"/>
              <a:t> Write codes of all functions</a:t>
            </a:r>
          </a:p>
          <a:p>
            <a:pPr lvl="1"/>
            <a:endParaRPr lang="en-PK" dirty="0"/>
          </a:p>
        </p:txBody>
      </p:sp>
      <p:sp>
        <p:nvSpPr>
          <p:cNvPr id="4" name="Slide Number Placeholder 3">
            <a:extLst>
              <a:ext uri="{FF2B5EF4-FFF2-40B4-BE49-F238E27FC236}">
                <a16:creationId xmlns:a16="http://schemas.microsoft.com/office/drawing/2014/main" id="{2B6537B1-40A9-4005-B233-AC3AE3556D2F}"/>
              </a:ext>
            </a:extLst>
          </p:cNvPr>
          <p:cNvSpPr>
            <a:spLocks noGrp="1"/>
          </p:cNvSpPr>
          <p:nvPr>
            <p:ph type="sldNum" sz="quarter" idx="12"/>
          </p:nvPr>
        </p:nvSpPr>
        <p:spPr/>
        <p:txBody>
          <a:bodyPr/>
          <a:lstStyle/>
          <a:p>
            <a:fld id="{BDEB6DFD-27C3-4BE1-B7E6-C736F27BA817}" type="slidenum">
              <a:rPr lang="en-US" smtClean="0"/>
              <a:t>27</a:t>
            </a:fld>
            <a:endParaRPr lang="en-US"/>
          </a:p>
        </p:txBody>
      </p:sp>
    </p:spTree>
    <p:extLst>
      <p:ext uri="{BB962C8B-B14F-4D97-AF65-F5344CB8AC3E}">
        <p14:creationId xmlns:p14="http://schemas.microsoft.com/office/powerpoint/2010/main" val="767819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A1EEB-4653-4D88-8B8A-44A24C851FCB}"/>
              </a:ext>
            </a:extLst>
          </p:cNvPr>
          <p:cNvSpPr>
            <a:spLocks noGrp="1"/>
          </p:cNvSpPr>
          <p:nvPr>
            <p:ph type="title"/>
          </p:nvPr>
        </p:nvSpPr>
        <p:spPr>
          <a:xfrm>
            <a:off x="188259" y="365126"/>
            <a:ext cx="11793070" cy="616510"/>
          </a:xfrm>
        </p:spPr>
        <p:txBody>
          <a:bodyPr>
            <a:normAutofit fontScale="90000"/>
          </a:bodyPr>
          <a:lstStyle/>
          <a:p>
            <a:r>
              <a:rPr lang="en-US" dirty="0"/>
              <a:t>Class Activity</a:t>
            </a:r>
            <a:endParaRPr lang="en-PK" dirty="0"/>
          </a:p>
        </p:txBody>
      </p:sp>
      <p:sp>
        <p:nvSpPr>
          <p:cNvPr id="3" name="Content Placeholder 2">
            <a:extLst>
              <a:ext uri="{FF2B5EF4-FFF2-40B4-BE49-F238E27FC236}">
                <a16:creationId xmlns:a16="http://schemas.microsoft.com/office/drawing/2014/main" id="{8D6FA8DA-67E0-4BE9-9ABC-A3AC74E706FD}"/>
              </a:ext>
            </a:extLst>
          </p:cNvPr>
          <p:cNvSpPr>
            <a:spLocks noGrp="1"/>
          </p:cNvSpPr>
          <p:nvPr>
            <p:ph idx="1"/>
          </p:nvPr>
        </p:nvSpPr>
        <p:spPr>
          <a:xfrm>
            <a:off x="210671" y="981636"/>
            <a:ext cx="12079941" cy="5876364"/>
          </a:xfrm>
        </p:spPr>
        <p:txBody>
          <a:bodyPr>
            <a:normAutofit/>
          </a:bodyPr>
          <a:lstStyle/>
          <a:p>
            <a:pPr marL="0" indent="0">
              <a:buNone/>
            </a:pPr>
            <a:r>
              <a:rPr lang="en-US" dirty="0"/>
              <a:t>Write a complete C++ Program that reads First and Last Names from a user in 2 </a:t>
            </a:r>
            <a:r>
              <a:rPr lang="en-US" dirty="0" err="1"/>
              <a:t>Cstrings</a:t>
            </a:r>
            <a:r>
              <a:rPr lang="en-US" dirty="0"/>
              <a:t>, displays </a:t>
            </a:r>
            <a:r>
              <a:rPr lang="en-US" b="1" dirty="0"/>
              <a:t>Each </a:t>
            </a:r>
            <a:r>
              <a:rPr lang="en-US" b="1" dirty="0" err="1"/>
              <a:t>Cstring</a:t>
            </a:r>
            <a:r>
              <a:rPr lang="en-US" b="1" dirty="0"/>
              <a:t> in all UPPERCASE on screen</a:t>
            </a:r>
            <a:r>
              <a:rPr lang="en-US" dirty="0"/>
              <a:t>.</a:t>
            </a:r>
          </a:p>
          <a:p>
            <a:pPr marL="0" indent="0">
              <a:buNone/>
            </a:pPr>
            <a:r>
              <a:rPr lang="en-US" b="1" dirty="0"/>
              <a:t>Constraints:</a:t>
            </a:r>
          </a:p>
          <a:p>
            <a:pPr lvl="1"/>
            <a:r>
              <a:rPr lang="en-US" dirty="0"/>
              <a:t>All Functions, other than main, must have </a:t>
            </a:r>
            <a:r>
              <a:rPr lang="en-US" b="1" dirty="0"/>
              <a:t>void</a:t>
            </a:r>
            <a:r>
              <a:rPr lang="en-US" dirty="0"/>
              <a:t> return type</a:t>
            </a:r>
          </a:p>
          <a:p>
            <a:pPr lvl="1"/>
            <a:r>
              <a:rPr lang="en-US" dirty="0"/>
              <a:t>Main </a:t>
            </a:r>
            <a:r>
              <a:rPr lang="en-US" b="1" dirty="0"/>
              <a:t>must not </a:t>
            </a:r>
            <a:r>
              <a:rPr lang="en-US" dirty="0"/>
              <a:t>contain any </a:t>
            </a:r>
            <a:r>
              <a:rPr lang="en-US" b="1" dirty="0" err="1"/>
              <a:t>cin</a:t>
            </a:r>
            <a:r>
              <a:rPr lang="en-US" b="1" dirty="0"/>
              <a:t>, </a:t>
            </a:r>
            <a:r>
              <a:rPr lang="en-US" b="1" dirty="0" err="1"/>
              <a:t>cout</a:t>
            </a:r>
            <a:r>
              <a:rPr lang="en-US" b="1" dirty="0"/>
              <a:t>, file reading or math</a:t>
            </a:r>
          </a:p>
          <a:p>
            <a:pPr lvl="1"/>
            <a:r>
              <a:rPr lang="en-US" b="1" dirty="0"/>
              <a:t>Use at least 4 functions</a:t>
            </a:r>
          </a:p>
          <a:p>
            <a:pPr marL="0" indent="0">
              <a:buNone/>
            </a:pPr>
            <a:r>
              <a:rPr lang="en-US" b="1" dirty="0"/>
              <a:t>Show the following Steps of Process of Writing Code:</a:t>
            </a:r>
          </a:p>
          <a:p>
            <a:pPr marL="0" indent="0">
              <a:buNone/>
            </a:pPr>
            <a:r>
              <a:rPr lang="en-US" b="1" dirty="0"/>
              <a:t>Step 1:</a:t>
            </a:r>
            <a:r>
              <a:rPr lang="en-US" dirty="0"/>
              <a:t> Decide names of functions</a:t>
            </a:r>
          </a:p>
          <a:p>
            <a:pPr marL="0" indent="0">
              <a:buNone/>
            </a:pPr>
            <a:r>
              <a:rPr lang="en-US" b="1" dirty="0"/>
              <a:t>Step 2:</a:t>
            </a:r>
            <a:r>
              <a:rPr lang="en-US" dirty="0"/>
              <a:t> Decide parameters of each function:</a:t>
            </a:r>
          </a:p>
          <a:p>
            <a:pPr marL="0" indent="0">
              <a:buNone/>
            </a:pPr>
            <a:r>
              <a:rPr lang="en-US" b="1" dirty="0"/>
              <a:t>Step 3:</a:t>
            </a:r>
            <a:r>
              <a:rPr lang="en-US" dirty="0"/>
              <a:t> Write Function Prototypes</a:t>
            </a:r>
          </a:p>
          <a:p>
            <a:pPr marL="0" indent="0">
              <a:buNone/>
            </a:pPr>
            <a:r>
              <a:rPr lang="en-US" b="1" dirty="0"/>
              <a:t>Step 4:</a:t>
            </a:r>
            <a:r>
              <a:rPr lang="en-US" dirty="0"/>
              <a:t> Write Code of main using Function Prototypes</a:t>
            </a:r>
          </a:p>
          <a:p>
            <a:pPr marL="0" indent="0">
              <a:buNone/>
            </a:pPr>
            <a:r>
              <a:rPr lang="en-US" b="1" dirty="0"/>
              <a:t>Step 5:</a:t>
            </a:r>
            <a:r>
              <a:rPr lang="en-US" dirty="0"/>
              <a:t> Write codes of all functions</a:t>
            </a:r>
          </a:p>
          <a:p>
            <a:pPr lvl="1"/>
            <a:endParaRPr lang="en-PK" dirty="0"/>
          </a:p>
        </p:txBody>
      </p:sp>
      <p:sp>
        <p:nvSpPr>
          <p:cNvPr id="4" name="Slide Number Placeholder 3">
            <a:extLst>
              <a:ext uri="{FF2B5EF4-FFF2-40B4-BE49-F238E27FC236}">
                <a16:creationId xmlns:a16="http://schemas.microsoft.com/office/drawing/2014/main" id="{2B6537B1-40A9-4005-B233-AC3AE3556D2F}"/>
              </a:ext>
            </a:extLst>
          </p:cNvPr>
          <p:cNvSpPr>
            <a:spLocks noGrp="1"/>
          </p:cNvSpPr>
          <p:nvPr>
            <p:ph type="sldNum" sz="quarter" idx="12"/>
          </p:nvPr>
        </p:nvSpPr>
        <p:spPr/>
        <p:txBody>
          <a:bodyPr/>
          <a:lstStyle/>
          <a:p>
            <a:fld id="{BDEB6DFD-27C3-4BE1-B7E6-C736F27BA817}" type="slidenum">
              <a:rPr lang="en-US" smtClean="0"/>
              <a:t>28</a:t>
            </a:fld>
            <a:endParaRPr lang="en-US"/>
          </a:p>
        </p:txBody>
      </p:sp>
    </p:spTree>
    <p:extLst>
      <p:ext uri="{BB962C8B-B14F-4D97-AF65-F5344CB8AC3E}">
        <p14:creationId xmlns:p14="http://schemas.microsoft.com/office/powerpoint/2010/main" val="1717813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A1EEB-4653-4D88-8B8A-44A24C851FCB}"/>
              </a:ext>
            </a:extLst>
          </p:cNvPr>
          <p:cNvSpPr>
            <a:spLocks noGrp="1"/>
          </p:cNvSpPr>
          <p:nvPr>
            <p:ph type="title"/>
          </p:nvPr>
        </p:nvSpPr>
        <p:spPr>
          <a:xfrm>
            <a:off x="188259" y="365126"/>
            <a:ext cx="11793070" cy="616510"/>
          </a:xfrm>
        </p:spPr>
        <p:txBody>
          <a:bodyPr>
            <a:normAutofit fontScale="90000"/>
          </a:bodyPr>
          <a:lstStyle/>
          <a:p>
            <a:r>
              <a:rPr lang="en-US" dirty="0"/>
              <a:t>Example</a:t>
            </a:r>
            <a:endParaRPr lang="en-PK" dirty="0"/>
          </a:p>
        </p:txBody>
      </p:sp>
      <p:sp>
        <p:nvSpPr>
          <p:cNvPr id="3" name="Content Placeholder 2">
            <a:extLst>
              <a:ext uri="{FF2B5EF4-FFF2-40B4-BE49-F238E27FC236}">
                <a16:creationId xmlns:a16="http://schemas.microsoft.com/office/drawing/2014/main" id="{8D6FA8DA-67E0-4BE9-9ABC-A3AC74E706FD}"/>
              </a:ext>
            </a:extLst>
          </p:cNvPr>
          <p:cNvSpPr>
            <a:spLocks noGrp="1"/>
          </p:cNvSpPr>
          <p:nvPr>
            <p:ph idx="1"/>
          </p:nvPr>
        </p:nvSpPr>
        <p:spPr>
          <a:xfrm>
            <a:off x="210671" y="981636"/>
            <a:ext cx="12079941" cy="5876364"/>
          </a:xfrm>
        </p:spPr>
        <p:txBody>
          <a:bodyPr>
            <a:normAutofit/>
          </a:bodyPr>
          <a:lstStyle/>
          <a:p>
            <a:pPr marL="0" indent="0">
              <a:buNone/>
            </a:pPr>
            <a:r>
              <a:rPr lang="en-US" dirty="0"/>
              <a:t>Write a complete C++ Program that reads </a:t>
            </a:r>
            <a:r>
              <a:rPr lang="en-US" b="1" dirty="0"/>
              <a:t>exactly </a:t>
            </a:r>
            <a:r>
              <a:rPr lang="en-US" dirty="0"/>
              <a:t>5 words from user. Displays </a:t>
            </a:r>
            <a:r>
              <a:rPr lang="en-US" b="1" dirty="0"/>
              <a:t> Each word on a Separate Line on screen.</a:t>
            </a:r>
          </a:p>
          <a:p>
            <a:pPr marL="0" indent="0">
              <a:buNone/>
            </a:pPr>
            <a:r>
              <a:rPr lang="en-US" b="1" dirty="0"/>
              <a:t>Constraints:</a:t>
            </a:r>
          </a:p>
          <a:p>
            <a:pPr lvl="1"/>
            <a:r>
              <a:rPr lang="en-US" dirty="0"/>
              <a:t>All Functions, other than main, must have </a:t>
            </a:r>
            <a:r>
              <a:rPr lang="en-US" b="1" dirty="0"/>
              <a:t>void</a:t>
            </a:r>
            <a:r>
              <a:rPr lang="en-US" dirty="0"/>
              <a:t> return type</a:t>
            </a:r>
          </a:p>
          <a:p>
            <a:pPr lvl="1"/>
            <a:r>
              <a:rPr lang="en-US" dirty="0"/>
              <a:t>Main </a:t>
            </a:r>
            <a:r>
              <a:rPr lang="en-US" b="1" dirty="0"/>
              <a:t>must not </a:t>
            </a:r>
            <a:r>
              <a:rPr lang="en-US" dirty="0"/>
              <a:t>contain any </a:t>
            </a:r>
            <a:r>
              <a:rPr lang="en-US" b="1" dirty="0" err="1"/>
              <a:t>cin</a:t>
            </a:r>
            <a:r>
              <a:rPr lang="en-US" b="1" dirty="0"/>
              <a:t>, </a:t>
            </a:r>
            <a:r>
              <a:rPr lang="en-US" b="1" dirty="0" err="1"/>
              <a:t>cout</a:t>
            </a:r>
            <a:r>
              <a:rPr lang="en-US" b="1" dirty="0"/>
              <a:t>, file reading or math</a:t>
            </a:r>
          </a:p>
          <a:p>
            <a:pPr lvl="1"/>
            <a:r>
              <a:rPr lang="en-US" b="1" dirty="0"/>
              <a:t>Use at least 4 functions</a:t>
            </a:r>
          </a:p>
          <a:p>
            <a:pPr marL="0" indent="0">
              <a:buNone/>
            </a:pPr>
            <a:r>
              <a:rPr lang="en-US" b="1" dirty="0"/>
              <a:t>Show the following Steps of Process of Writing Code:</a:t>
            </a:r>
          </a:p>
          <a:p>
            <a:pPr marL="0" indent="0">
              <a:buNone/>
            </a:pPr>
            <a:r>
              <a:rPr lang="en-US" b="1" dirty="0"/>
              <a:t>Step 1:</a:t>
            </a:r>
            <a:r>
              <a:rPr lang="en-US" dirty="0"/>
              <a:t> Decide names of functions: </a:t>
            </a:r>
          </a:p>
          <a:p>
            <a:pPr marL="0" indent="0">
              <a:buNone/>
            </a:pPr>
            <a:r>
              <a:rPr lang="en-US" b="1" dirty="0"/>
              <a:t>Step 2:</a:t>
            </a:r>
            <a:r>
              <a:rPr lang="en-US" dirty="0"/>
              <a:t> Decide parameters of each function:</a:t>
            </a:r>
          </a:p>
          <a:p>
            <a:pPr marL="0" indent="0">
              <a:buNone/>
            </a:pPr>
            <a:r>
              <a:rPr lang="en-US" b="1" dirty="0"/>
              <a:t>Step 3:</a:t>
            </a:r>
            <a:r>
              <a:rPr lang="en-US" dirty="0"/>
              <a:t> Write Function Prototypes</a:t>
            </a:r>
          </a:p>
          <a:p>
            <a:pPr marL="0" indent="0">
              <a:buNone/>
            </a:pPr>
            <a:r>
              <a:rPr lang="en-US" b="1" dirty="0"/>
              <a:t>Step 4:</a:t>
            </a:r>
            <a:r>
              <a:rPr lang="en-US" dirty="0"/>
              <a:t> Write Code of main using Function Prototypes</a:t>
            </a:r>
          </a:p>
          <a:p>
            <a:pPr marL="0" indent="0">
              <a:buNone/>
            </a:pPr>
            <a:r>
              <a:rPr lang="en-US" b="1" dirty="0"/>
              <a:t>Step 5:</a:t>
            </a:r>
            <a:r>
              <a:rPr lang="en-US" dirty="0"/>
              <a:t> Write codes of all functions</a:t>
            </a:r>
          </a:p>
          <a:p>
            <a:pPr lvl="1"/>
            <a:endParaRPr lang="en-PK" dirty="0"/>
          </a:p>
        </p:txBody>
      </p:sp>
      <p:sp>
        <p:nvSpPr>
          <p:cNvPr id="4" name="Slide Number Placeholder 3">
            <a:extLst>
              <a:ext uri="{FF2B5EF4-FFF2-40B4-BE49-F238E27FC236}">
                <a16:creationId xmlns:a16="http://schemas.microsoft.com/office/drawing/2014/main" id="{2B6537B1-40A9-4005-B233-AC3AE3556D2F}"/>
              </a:ext>
            </a:extLst>
          </p:cNvPr>
          <p:cNvSpPr>
            <a:spLocks noGrp="1"/>
          </p:cNvSpPr>
          <p:nvPr>
            <p:ph type="sldNum" sz="quarter" idx="12"/>
          </p:nvPr>
        </p:nvSpPr>
        <p:spPr/>
        <p:txBody>
          <a:bodyPr/>
          <a:lstStyle/>
          <a:p>
            <a:fld id="{BDEB6DFD-27C3-4BE1-B7E6-C736F27BA817}" type="slidenum">
              <a:rPr lang="en-US" smtClean="0"/>
              <a:t>29</a:t>
            </a:fld>
            <a:endParaRPr lang="en-US"/>
          </a:p>
        </p:txBody>
      </p:sp>
    </p:spTree>
    <p:extLst>
      <p:ext uri="{BB962C8B-B14F-4D97-AF65-F5344CB8AC3E}">
        <p14:creationId xmlns:p14="http://schemas.microsoft.com/office/powerpoint/2010/main" val="1404757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A1EEB-4653-4D88-8B8A-44A24C851FCB}"/>
              </a:ext>
            </a:extLst>
          </p:cNvPr>
          <p:cNvSpPr>
            <a:spLocks noGrp="1"/>
          </p:cNvSpPr>
          <p:nvPr>
            <p:ph type="title"/>
          </p:nvPr>
        </p:nvSpPr>
        <p:spPr>
          <a:xfrm>
            <a:off x="188259" y="365126"/>
            <a:ext cx="11793070" cy="616510"/>
          </a:xfrm>
        </p:spPr>
        <p:txBody>
          <a:bodyPr>
            <a:normAutofit fontScale="90000"/>
          </a:bodyPr>
          <a:lstStyle/>
          <a:p>
            <a:r>
              <a:rPr lang="en-US" dirty="0"/>
              <a:t>Example</a:t>
            </a:r>
            <a:endParaRPr lang="en-PK" dirty="0"/>
          </a:p>
        </p:txBody>
      </p:sp>
      <p:sp>
        <p:nvSpPr>
          <p:cNvPr id="3" name="Content Placeholder 2">
            <a:extLst>
              <a:ext uri="{FF2B5EF4-FFF2-40B4-BE49-F238E27FC236}">
                <a16:creationId xmlns:a16="http://schemas.microsoft.com/office/drawing/2014/main" id="{8D6FA8DA-67E0-4BE9-9ABC-A3AC74E706FD}"/>
              </a:ext>
            </a:extLst>
          </p:cNvPr>
          <p:cNvSpPr>
            <a:spLocks noGrp="1"/>
          </p:cNvSpPr>
          <p:nvPr>
            <p:ph idx="1"/>
          </p:nvPr>
        </p:nvSpPr>
        <p:spPr>
          <a:xfrm>
            <a:off x="210671" y="981636"/>
            <a:ext cx="12079941" cy="5876364"/>
          </a:xfrm>
        </p:spPr>
        <p:txBody>
          <a:bodyPr>
            <a:normAutofit/>
          </a:bodyPr>
          <a:lstStyle/>
          <a:p>
            <a:pPr marL="0" indent="0">
              <a:buNone/>
            </a:pPr>
            <a:r>
              <a:rPr lang="en-US" dirty="0"/>
              <a:t>Write a complete C++ Program that reads </a:t>
            </a:r>
            <a:r>
              <a:rPr lang="en-US" b="1" dirty="0"/>
              <a:t>a Sentence</a:t>
            </a:r>
            <a:r>
              <a:rPr lang="en-US" dirty="0"/>
              <a:t> from user. Displays </a:t>
            </a:r>
            <a:r>
              <a:rPr lang="en-US" b="1" dirty="0"/>
              <a:t> Each word on a Separate Line on screen.</a:t>
            </a:r>
          </a:p>
          <a:p>
            <a:pPr marL="0" indent="0">
              <a:buNone/>
            </a:pPr>
            <a:r>
              <a:rPr lang="en-US" b="1" dirty="0"/>
              <a:t>Constraints:</a:t>
            </a:r>
          </a:p>
          <a:p>
            <a:pPr lvl="1"/>
            <a:r>
              <a:rPr lang="en-US" dirty="0"/>
              <a:t>All Functions, other than main, must have </a:t>
            </a:r>
            <a:r>
              <a:rPr lang="en-US" b="1" dirty="0"/>
              <a:t>void</a:t>
            </a:r>
            <a:r>
              <a:rPr lang="en-US" dirty="0"/>
              <a:t> return type</a:t>
            </a:r>
          </a:p>
          <a:p>
            <a:pPr lvl="1"/>
            <a:r>
              <a:rPr lang="en-US" dirty="0"/>
              <a:t>Main </a:t>
            </a:r>
            <a:r>
              <a:rPr lang="en-US" b="1" dirty="0"/>
              <a:t>must not </a:t>
            </a:r>
            <a:r>
              <a:rPr lang="en-US" dirty="0"/>
              <a:t>contain any </a:t>
            </a:r>
            <a:r>
              <a:rPr lang="en-US" b="1" dirty="0" err="1"/>
              <a:t>cin</a:t>
            </a:r>
            <a:r>
              <a:rPr lang="en-US" b="1" dirty="0"/>
              <a:t>, </a:t>
            </a:r>
            <a:r>
              <a:rPr lang="en-US" b="1" dirty="0" err="1"/>
              <a:t>cout</a:t>
            </a:r>
            <a:r>
              <a:rPr lang="en-US" b="1" dirty="0"/>
              <a:t>, file reading or math</a:t>
            </a:r>
          </a:p>
          <a:p>
            <a:pPr lvl="1"/>
            <a:r>
              <a:rPr lang="en-US" b="1" dirty="0"/>
              <a:t>Use at least 4 functions</a:t>
            </a:r>
          </a:p>
          <a:p>
            <a:pPr marL="0" indent="0">
              <a:buNone/>
            </a:pPr>
            <a:r>
              <a:rPr lang="en-US" b="1" dirty="0"/>
              <a:t>Show the following Steps of Process of Writing Code:</a:t>
            </a:r>
          </a:p>
          <a:p>
            <a:pPr marL="0" indent="0">
              <a:buNone/>
            </a:pPr>
            <a:r>
              <a:rPr lang="en-US" b="1" dirty="0"/>
              <a:t>Step 1:</a:t>
            </a:r>
            <a:r>
              <a:rPr lang="en-US" dirty="0"/>
              <a:t> Decide names of functions: </a:t>
            </a:r>
          </a:p>
          <a:p>
            <a:pPr marL="0" indent="0">
              <a:buNone/>
            </a:pPr>
            <a:r>
              <a:rPr lang="en-US" b="1" dirty="0"/>
              <a:t>Step 2:</a:t>
            </a:r>
            <a:r>
              <a:rPr lang="en-US" dirty="0"/>
              <a:t> Decide parameters of each function:</a:t>
            </a:r>
          </a:p>
          <a:p>
            <a:pPr marL="0" indent="0">
              <a:buNone/>
            </a:pPr>
            <a:r>
              <a:rPr lang="en-US" b="1" dirty="0"/>
              <a:t>Step 3:</a:t>
            </a:r>
            <a:r>
              <a:rPr lang="en-US" dirty="0"/>
              <a:t> Write Function Prototypes</a:t>
            </a:r>
          </a:p>
          <a:p>
            <a:pPr marL="0" indent="0">
              <a:buNone/>
            </a:pPr>
            <a:r>
              <a:rPr lang="en-US" b="1" dirty="0"/>
              <a:t>Step 4:</a:t>
            </a:r>
            <a:r>
              <a:rPr lang="en-US" dirty="0"/>
              <a:t> Write Code of main using Function Prototypes</a:t>
            </a:r>
          </a:p>
          <a:p>
            <a:pPr marL="0" indent="0">
              <a:buNone/>
            </a:pPr>
            <a:r>
              <a:rPr lang="en-US" b="1" dirty="0"/>
              <a:t>Step 5:</a:t>
            </a:r>
            <a:r>
              <a:rPr lang="en-US" dirty="0"/>
              <a:t> Write codes of all functions</a:t>
            </a:r>
          </a:p>
          <a:p>
            <a:pPr lvl="1"/>
            <a:endParaRPr lang="en-PK" dirty="0"/>
          </a:p>
        </p:txBody>
      </p:sp>
      <p:sp>
        <p:nvSpPr>
          <p:cNvPr id="4" name="Slide Number Placeholder 3">
            <a:extLst>
              <a:ext uri="{FF2B5EF4-FFF2-40B4-BE49-F238E27FC236}">
                <a16:creationId xmlns:a16="http://schemas.microsoft.com/office/drawing/2014/main" id="{2B6537B1-40A9-4005-B233-AC3AE3556D2F}"/>
              </a:ext>
            </a:extLst>
          </p:cNvPr>
          <p:cNvSpPr>
            <a:spLocks noGrp="1"/>
          </p:cNvSpPr>
          <p:nvPr>
            <p:ph type="sldNum" sz="quarter" idx="12"/>
          </p:nvPr>
        </p:nvSpPr>
        <p:spPr/>
        <p:txBody>
          <a:bodyPr/>
          <a:lstStyle/>
          <a:p>
            <a:fld id="{BDEB6DFD-27C3-4BE1-B7E6-C736F27BA817}" type="slidenum">
              <a:rPr lang="en-US" smtClean="0"/>
              <a:t>30</a:t>
            </a:fld>
            <a:endParaRPr lang="en-US"/>
          </a:p>
        </p:txBody>
      </p:sp>
    </p:spTree>
    <p:extLst>
      <p:ext uri="{BB962C8B-B14F-4D97-AF65-F5344CB8AC3E}">
        <p14:creationId xmlns:p14="http://schemas.microsoft.com/office/powerpoint/2010/main" val="978755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A1EEB-4653-4D88-8B8A-44A24C851FCB}"/>
              </a:ext>
            </a:extLst>
          </p:cNvPr>
          <p:cNvSpPr>
            <a:spLocks noGrp="1"/>
          </p:cNvSpPr>
          <p:nvPr>
            <p:ph type="title"/>
          </p:nvPr>
        </p:nvSpPr>
        <p:spPr>
          <a:xfrm>
            <a:off x="188259" y="365126"/>
            <a:ext cx="11793070" cy="616510"/>
          </a:xfrm>
        </p:spPr>
        <p:txBody>
          <a:bodyPr>
            <a:normAutofit fontScale="90000"/>
          </a:bodyPr>
          <a:lstStyle/>
          <a:p>
            <a:r>
              <a:rPr lang="en-US" dirty="0"/>
              <a:t>Example</a:t>
            </a:r>
            <a:endParaRPr lang="en-PK" dirty="0"/>
          </a:p>
        </p:txBody>
      </p:sp>
      <p:sp>
        <p:nvSpPr>
          <p:cNvPr id="3" name="Content Placeholder 2">
            <a:extLst>
              <a:ext uri="{FF2B5EF4-FFF2-40B4-BE49-F238E27FC236}">
                <a16:creationId xmlns:a16="http://schemas.microsoft.com/office/drawing/2014/main" id="{8D6FA8DA-67E0-4BE9-9ABC-A3AC74E706FD}"/>
              </a:ext>
            </a:extLst>
          </p:cNvPr>
          <p:cNvSpPr>
            <a:spLocks noGrp="1"/>
          </p:cNvSpPr>
          <p:nvPr>
            <p:ph idx="1"/>
          </p:nvPr>
        </p:nvSpPr>
        <p:spPr>
          <a:xfrm>
            <a:off x="210671" y="981636"/>
            <a:ext cx="12079941" cy="5876364"/>
          </a:xfrm>
        </p:spPr>
        <p:txBody>
          <a:bodyPr>
            <a:normAutofit/>
          </a:bodyPr>
          <a:lstStyle/>
          <a:p>
            <a:pPr marL="0" indent="0">
              <a:buNone/>
            </a:pPr>
            <a:r>
              <a:rPr lang="en-US" dirty="0"/>
              <a:t>Write a complete C++ Program that reads </a:t>
            </a:r>
            <a:r>
              <a:rPr lang="en-US" b="1" dirty="0"/>
              <a:t>a para </a:t>
            </a:r>
            <a:r>
              <a:rPr lang="en-US" dirty="0"/>
              <a:t> from a file </a:t>
            </a:r>
            <a:r>
              <a:rPr lang="en-US" b="1" dirty="0"/>
              <a:t>para.txt </a:t>
            </a:r>
            <a:r>
              <a:rPr lang="en-US" dirty="0"/>
              <a:t>and Displays </a:t>
            </a:r>
            <a:r>
              <a:rPr lang="en-US" b="1" dirty="0"/>
              <a:t> Each word on a Separate Line on screen.</a:t>
            </a:r>
          </a:p>
          <a:p>
            <a:pPr marL="0" indent="0">
              <a:buNone/>
            </a:pPr>
            <a:r>
              <a:rPr lang="en-US" b="1" dirty="0"/>
              <a:t>Constraints:</a:t>
            </a:r>
          </a:p>
          <a:p>
            <a:pPr lvl="1"/>
            <a:r>
              <a:rPr lang="en-US" dirty="0"/>
              <a:t>All Functions, other than main, must have </a:t>
            </a:r>
            <a:r>
              <a:rPr lang="en-US" b="1" dirty="0"/>
              <a:t>void</a:t>
            </a:r>
            <a:r>
              <a:rPr lang="en-US" dirty="0"/>
              <a:t> return type</a:t>
            </a:r>
          </a:p>
          <a:p>
            <a:pPr lvl="1"/>
            <a:r>
              <a:rPr lang="en-US" dirty="0"/>
              <a:t>Main </a:t>
            </a:r>
            <a:r>
              <a:rPr lang="en-US" b="1" dirty="0"/>
              <a:t>must not </a:t>
            </a:r>
            <a:r>
              <a:rPr lang="en-US" dirty="0"/>
              <a:t>contain any </a:t>
            </a:r>
            <a:r>
              <a:rPr lang="en-US" b="1" dirty="0" err="1"/>
              <a:t>cin</a:t>
            </a:r>
            <a:r>
              <a:rPr lang="en-US" b="1" dirty="0"/>
              <a:t>, </a:t>
            </a:r>
            <a:r>
              <a:rPr lang="en-US" b="1" dirty="0" err="1"/>
              <a:t>cout</a:t>
            </a:r>
            <a:r>
              <a:rPr lang="en-US" b="1" dirty="0"/>
              <a:t>, file reading or math</a:t>
            </a:r>
          </a:p>
          <a:p>
            <a:pPr lvl="1"/>
            <a:r>
              <a:rPr lang="en-US" b="1" dirty="0"/>
              <a:t>Use at least 4 functions</a:t>
            </a:r>
          </a:p>
          <a:p>
            <a:pPr marL="0" indent="0">
              <a:buNone/>
            </a:pPr>
            <a:r>
              <a:rPr lang="en-US" b="1" dirty="0"/>
              <a:t>Show the following Steps of Process of Writing Code:</a:t>
            </a:r>
          </a:p>
          <a:p>
            <a:pPr marL="0" indent="0">
              <a:buNone/>
            </a:pPr>
            <a:r>
              <a:rPr lang="en-US" b="1" dirty="0"/>
              <a:t>Step 1:</a:t>
            </a:r>
            <a:r>
              <a:rPr lang="en-US" dirty="0"/>
              <a:t> Decide names of functions: </a:t>
            </a:r>
          </a:p>
          <a:p>
            <a:pPr marL="0" indent="0">
              <a:buNone/>
            </a:pPr>
            <a:r>
              <a:rPr lang="en-US" b="1" dirty="0"/>
              <a:t>Step 2:</a:t>
            </a:r>
            <a:r>
              <a:rPr lang="en-US" dirty="0"/>
              <a:t> Decide parameters of each function:</a:t>
            </a:r>
          </a:p>
          <a:p>
            <a:pPr marL="0" indent="0">
              <a:buNone/>
            </a:pPr>
            <a:r>
              <a:rPr lang="en-US" b="1" dirty="0"/>
              <a:t>Step 3:</a:t>
            </a:r>
            <a:r>
              <a:rPr lang="en-US" dirty="0"/>
              <a:t> Write Function Prototypes</a:t>
            </a:r>
          </a:p>
          <a:p>
            <a:pPr marL="0" indent="0">
              <a:buNone/>
            </a:pPr>
            <a:r>
              <a:rPr lang="en-US" b="1" dirty="0"/>
              <a:t>Step 4:</a:t>
            </a:r>
            <a:r>
              <a:rPr lang="en-US" dirty="0"/>
              <a:t> Write Code of main using Function Prototypes</a:t>
            </a:r>
          </a:p>
          <a:p>
            <a:pPr marL="0" indent="0">
              <a:buNone/>
            </a:pPr>
            <a:r>
              <a:rPr lang="en-US" b="1" dirty="0"/>
              <a:t>Step 5:</a:t>
            </a:r>
            <a:r>
              <a:rPr lang="en-US" dirty="0"/>
              <a:t> Write codes of all functions</a:t>
            </a:r>
          </a:p>
          <a:p>
            <a:pPr lvl="1"/>
            <a:endParaRPr lang="en-PK" dirty="0"/>
          </a:p>
        </p:txBody>
      </p:sp>
      <p:sp>
        <p:nvSpPr>
          <p:cNvPr id="4" name="Slide Number Placeholder 3">
            <a:extLst>
              <a:ext uri="{FF2B5EF4-FFF2-40B4-BE49-F238E27FC236}">
                <a16:creationId xmlns:a16="http://schemas.microsoft.com/office/drawing/2014/main" id="{2B6537B1-40A9-4005-B233-AC3AE3556D2F}"/>
              </a:ext>
            </a:extLst>
          </p:cNvPr>
          <p:cNvSpPr>
            <a:spLocks noGrp="1"/>
          </p:cNvSpPr>
          <p:nvPr>
            <p:ph type="sldNum" sz="quarter" idx="12"/>
          </p:nvPr>
        </p:nvSpPr>
        <p:spPr/>
        <p:txBody>
          <a:bodyPr/>
          <a:lstStyle/>
          <a:p>
            <a:fld id="{BDEB6DFD-27C3-4BE1-B7E6-C736F27BA817}" type="slidenum">
              <a:rPr lang="en-US" smtClean="0"/>
              <a:t>31</a:t>
            </a:fld>
            <a:endParaRPr lang="en-US"/>
          </a:p>
        </p:txBody>
      </p:sp>
    </p:spTree>
    <p:extLst>
      <p:ext uri="{BB962C8B-B14F-4D97-AF65-F5344CB8AC3E}">
        <p14:creationId xmlns:p14="http://schemas.microsoft.com/office/powerpoint/2010/main" val="3198985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A1EEB-4653-4D88-8B8A-44A24C851FCB}"/>
              </a:ext>
            </a:extLst>
          </p:cNvPr>
          <p:cNvSpPr>
            <a:spLocks noGrp="1"/>
          </p:cNvSpPr>
          <p:nvPr>
            <p:ph type="title"/>
          </p:nvPr>
        </p:nvSpPr>
        <p:spPr>
          <a:xfrm>
            <a:off x="188259" y="365126"/>
            <a:ext cx="11793070" cy="616510"/>
          </a:xfrm>
        </p:spPr>
        <p:txBody>
          <a:bodyPr>
            <a:normAutofit fontScale="90000"/>
          </a:bodyPr>
          <a:lstStyle/>
          <a:p>
            <a:r>
              <a:rPr lang="en-US" dirty="0"/>
              <a:t>Example</a:t>
            </a:r>
            <a:endParaRPr lang="en-PK" dirty="0"/>
          </a:p>
        </p:txBody>
      </p:sp>
      <p:sp>
        <p:nvSpPr>
          <p:cNvPr id="3" name="Content Placeholder 2">
            <a:extLst>
              <a:ext uri="{FF2B5EF4-FFF2-40B4-BE49-F238E27FC236}">
                <a16:creationId xmlns:a16="http://schemas.microsoft.com/office/drawing/2014/main" id="{8D6FA8DA-67E0-4BE9-9ABC-A3AC74E706FD}"/>
              </a:ext>
            </a:extLst>
          </p:cNvPr>
          <p:cNvSpPr>
            <a:spLocks noGrp="1"/>
          </p:cNvSpPr>
          <p:nvPr>
            <p:ph idx="1"/>
          </p:nvPr>
        </p:nvSpPr>
        <p:spPr>
          <a:xfrm>
            <a:off x="210671" y="981636"/>
            <a:ext cx="12079941" cy="5876364"/>
          </a:xfrm>
        </p:spPr>
        <p:txBody>
          <a:bodyPr>
            <a:normAutofit/>
          </a:bodyPr>
          <a:lstStyle/>
          <a:p>
            <a:pPr marL="0" indent="0">
              <a:buNone/>
            </a:pPr>
            <a:r>
              <a:rPr lang="en-US" dirty="0"/>
              <a:t>Write a complete C++ Program that reads a Paragraph from a File in a </a:t>
            </a:r>
            <a:r>
              <a:rPr lang="en-US" dirty="0" err="1"/>
              <a:t>Cstring</a:t>
            </a:r>
            <a:r>
              <a:rPr lang="en-US" dirty="0"/>
              <a:t>, path read from user. Displays </a:t>
            </a:r>
            <a:r>
              <a:rPr lang="en-US" b="1" dirty="0"/>
              <a:t> Each Word and its Length on a Separate Line on screen.</a:t>
            </a:r>
          </a:p>
          <a:p>
            <a:pPr marL="0" indent="0">
              <a:buNone/>
            </a:pPr>
            <a:r>
              <a:rPr lang="en-US" b="1" dirty="0"/>
              <a:t>Constraints:</a:t>
            </a:r>
          </a:p>
          <a:p>
            <a:pPr lvl="1"/>
            <a:r>
              <a:rPr lang="en-US" dirty="0"/>
              <a:t>All Functions, other than main, must have </a:t>
            </a:r>
            <a:r>
              <a:rPr lang="en-US" b="1" dirty="0"/>
              <a:t>void</a:t>
            </a:r>
            <a:r>
              <a:rPr lang="en-US" dirty="0"/>
              <a:t> return type</a:t>
            </a:r>
          </a:p>
          <a:p>
            <a:pPr lvl="1"/>
            <a:r>
              <a:rPr lang="en-US" dirty="0"/>
              <a:t>Main </a:t>
            </a:r>
            <a:r>
              <a:rPr lang="en-US" b="1" dirty="0"/>
              <a:t>must not </a:t>
            </a:r>
            <a:r>
              <a:rPr lang="en-US" dirty="0"/>
              <a:t>contain any </a:t>
            </a:r>
            <a:r>
              <a:rPr lang="en-US" b="1" dirty="0" err="1"/>
              <a:t>cin</a:t>
            </a:r>
            <a:r>
              <a:rPr lang="en-US" b="1" dirty="0"/>
              <a:t>, </a:t>
            </a:r>
            <a:r>
              <a:rPr lang="en-US" b="1" dirty="0" err="1"/>
              <a:t>cout</a:t>
            </a:r>
            <a:r>
              <a:rPr lang="en-US" b="1" dirty="0"/>
              <a:t>, file reading or math</a:t>
            </a:r>
          </a:p>
          <a:p>
            <a:pPr lvl="1"/>
            <a:r>
              <a:rPr lang="en-US" b="1" dirty="0"/>
              <a:t>Use at least 4 functions</a:t>
            </a:r>
          </a:p>
          <a:p>
            <a:pPr marL="0" indent="0">
              <a:buNone/>
            </a:pPr>
            <a:r>
              <a:rPr lang="en-US" b="1" dirty="0"/>
              <a:t>Show the following Steps of Process of Writing Code:</a:t>
            </a:r>
          </a:p>
          <a:p>
            <a:pPr marL="0" indent="0">
              <a:buNone/>
            </a:pPr>
            <a:r>
              <a:rPr lang="en-US" b="1" dirty="0"/>
              <a:t>Step 1:</a:t>
            </a:r>
            <a:r>
              <a:rPr lang="en-US" dirty="0"/>
              <a:t> Decide names of functions: </a:t>
            </a:r>
          </a:p>
          <a:p>
            <a:pPr marL="0" indent="0">
              <a:buNone/>
            </a:pPr>
            <a:r>
              <a:rPr lang="en-US" b="1" dirty="0"/>
              <a:t>Step 2:</a:t>
            </a:r>
            <a:r>
              <a:rPr lang="en-US" dirty="0"/>
              <a:t> Decide parameters of each function:</a:t>
            </a:r>
          </a:p>
          <a:p>
            <a:pPr marL="0" indent="0">
              <a:buNone/>
            </a:pPr>
            <a:r>
              <a:rPr lang="en-US" b="1" dirty="0"/>
              <a:t>Step 3:</a:t>
            </a:r>
            <a:r>
              <a:rPr lang="en-US" dirty="0"/>
              <a:t> Write Function Prototypes</a:t>
            </a:r>
          </a:p>
          <a:p>
            <a:pPr marL="0" indent="0">
              <a:buNone/>
            </a:pPr>
            <a:r>
              <a:rPr lang="en-US" b="1" dirty="0"/>
              <a:t>Step 4:</a:t>
            </a:r>
            <a:r>
              <a:rPr lang="en-US" dirty="0"/>
              <a:t> Write Code of main using Function Prototypes</a:t>
            </a:r>
          </a:p>
          <a:p>
            <a:pPr marL="0" indent="0">
              <a:buNone/>
            </a:pPr>
            <a:r>
              <a:rPr lang="en-US" b="1" dirty="0"/>
              <a:t>Step 5:</a:t>
            </a:r>
            <a:r>
              <a:rPr lang="en-US" dirty="0"/>
              <a:t> Write codes of all functions</a:t>
            </a:r>
          </a:p>
          <a:p>
            <a:pPr lvl="1"/>
            <a:endParaRPr lang="en-PK" dirty="0"/>
          </a:p>
        </p:txBody>
      </p:sp>
      <p:sp>
        <p:nvSpPr>
          <p:cNvPr id="4" name="Slide Number Placeholder 3">
            <a:extLst>
              <a:ext uri="{FF2B5EF4-FFF2-40B4-BE49-F238E27FC236}">
                <a16:creationId xmlns:a16="http://schemas.microsoft.com/office/drawing/2014/main" id="{2B6537B1-40A9-4005-B233-AC3AE3556D2F}"/>
              </a:ext>
            </a:extLst>
          </p:cNvPr>
          <p:cNvSpPr>
            <a:spLocks noGrp="1"/>
          </p:cNvSpPr>
          <p:nvPr>
            <p:ph type="sldNum" sz="quarter" idx="12"/>
          </p:nvPr>
        </p:nvSpPr>
        <p:spPr/>
        <p:txBody>
          <a:bodyPr/>
          <a:lstStyle/>
          <a:p>
            <a:fld id="{BDEB6DFD-27C3-4BE1-B7E6-C736F27BA817}" type="slidenum">
              <a:rPr lang="en-US" smtClean="0"/>
              <a:t>32</a:t>
            </a:fld>
            <a:endParaRPr lang="en-US"/>
          </a:p>
        </p:txBody>
      </p:sp>
    </p:spTree>
    <p:extLst>
      <p:ext uri="{BB962C8B-B14F-4D97-AF65-F5344CB8AC3E}">
        <p14:creationId xmlns:p14="http://schemas.microsoft.com/office/powerpoint/2010/main" val="38932484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A1EEB-4653-4D88-8B8A-44A24C851FCB}"/>
              </a:ext>
            </a:extLst>
          </p:cNvPr>
          <p:cNvSpPr>
            <a:spLocks noGrp="1"/>
          </p:cNvSpPr>
          <p:nvPr>
            <p:ph type="title"/>
          </p:nvPr>
        </p:nvSpPr>
        <p:spPr>
          <a:xfrm>
            <a:off x="188259" y="365126"/>
            <a:ext cx="11793070" cy="616510"/>
          </a:xfrm>
        </p:spPr>
        <p:txBody>
          <a:bodyPr>
            <a:normAutofit fontScale="90000"/>
          </a:bodyPr>
          <a:lstStyle/>
          <a:p>
            <a:r>
              <a:rPr lang="en-US" dirty="0"/>
              <a:t>Example</a:t>
            </a:r>
            <a:endParaRPr lang="en-PK" dirty="0"/>
          </a:p>
        </p:txBody>
      </p:sp>
      <p:sp>
        <p:nvSpPr>
          <p:cNvPr id="3" name="Content Placeholder 2">
            <a:extLst>
              <a:ext uri="{FF2B5EF4-FFF2-40B4-BE49-F238E27FC236}">
                <a16:creationId xmlns:a16="http://schemas.microsoft.com/office/drawing/2014/main" id="{8D6FA8DA-67E0-4BE9-9ABC-A3AC74E706FD}"/>
              </a:ext>
            </a:extLst>
          </p:cNvPr>
          <p:cNvSpPr>
            <a:spLocks noGrp="1"/>
          </p:cNvSpPr>
          <p:nvPr>
            <p:ph idx="1"/>
          </p:nvPr>
        </p:nvSpPr>
        <p:spPr>
          <a:xfrm>
            <a:off x="210671" y="981636"/>
            <a:ext cx="12079941" cy="5876364"/>
          </a:xfrm>
        </p:spPr>
        <p:txBody>
          <a:bodyPr>
            <a:normAutofit/>
          </a:bodyPr>
          <a:lstStyle/>
          <a:p>
            <a:pPr marL="0" indent="0">
              <a:buNone/>
            </a:pPr>
            <a:r>
              <a:rPr lang="en-US" dirty="0"/>
              <a:t>Write a complete C++ Program that reads a Paragraph from a File in a </a:t>
            </a:r>
            <a:r>
              <a:rPr lang="en-US" dirty="0" err="1"/>
              <a:t>Cstring</a:t>
            </a:r>
            <a:r>
              <a:rPr lang="en-US" dirty="0"/>
              <a:t>, path read from user. Displays each individual character on screen only once</a:t>
            </a:r>
            <a:r>
              <a:rPr lang="en-US" b="1" dirty="0"/>
              <a:t>.</a:t>
            </a:r>
          </a:p>
          <a:p>
            <a:pPr marL="0" indent="0">
              <a:buNone/>
            </a:pPr>
            <a:r>
              <a:rPr lang="en-US" b="1" dirty="0"/>
              <a:t>Constraints:</a:t>
            </a:r>
          </a:p>
          <a:p>
            <a:pPr lvl="1"/>
            <a:r>
              <a:rPr lang="en-US" dirty="0"/>
              <a:t>All Functions, other than main, must have </a:t>
            </a:r>
            <a:r>
              <a:rPr lang="en-US" b="1" dirty="0"/>
              <a:t>void</a:t>
            </a:r>
            <a:r>
              <a:rPr lang="en-US" dirty="0"/>
              <a:t> return type</a:t>
            </a:r>
          </a:p>
          <a:p>
            <a:pPr lvl="1"/>
            <a:r>
              <a:rPr lang="en-US" dirty="0"/>
              <a:t>Main </a:t>
            </a:r>
            <a:r>
              <a:rPr lang="en-US" b="1" dirty="0"/>
              <a:t>must not </a:t>
            </a:r>
            <a:r>
              <a:rPr lang="en-US" dirty="0"/>
              <a:t>contain any </a:t>
            </a:r>
            <a:r>
              <a:rPr lang="en-US" b="1" dirty="0" err="1"/>
              <a:t>cin</a:t>
            </a:r>
            <a:r>
              <a:rPr lang="en-US" b="1" dirty="0"/>
              <a:t>, </a:t>
            </a:r>
            <a:r>
              <a:rPr lang="en-US" b="1" dirty="0" err="1"/>
              <a:t>cout</a:t>
            </a:r>
            <a:r>
              <a:rPr lang="en-US" b="1" dirty="0"/>
              <a:t>, file reading or math</a:t>
            </a:r>
          </a:p>
          <a:p>
            <a:pPr lvl="1"/>
            <a:r>
              <a:rPr lang="en-US" b="1" dirty="0"/>
              <a:t>Use at least 4 functions</a:t>
            </a:r>
          </a:p>
          <a:p>
            <a:pPr marL="0" indent="0">
              <a:buNone/>
            </a:pPr>
            <a:r>
              <a:rPr lang="en-US" b="1" dirty="0"/>
              <a:t>Show the following Steps of Process of Writing Code:</a:t>
            </a:r>
          </a:p>
          <a:p>
            <a:pPr marL="0" indent="0">
              <a:buNone/>
            </a:pPr>
            <a:r>
              <a:rPr lang="en-US" b="1" dirty="0"/>
              <a:t>Step 1:</a:t>
            </a:r>
            <a:r>
              <a:rPr lang="en-US" dirty="0"/>
              <a:t> Decide names of functions: </a:t>
            </a:r>
          </a:p>
          <a:p>
            <a:pPr marL="0" indent="0">
              <a:buNone/>
            </a:pPr>
            <a:r>
              <a:rPr lang="en-US" b="1" dirty="0"/>
              <a:t>Step 2:</a:t>
            </a:r>
            <a:r>
              <a:rPr lang="en-US" dirty="0"/>
              <a:t> Decide parameters of each function:</a:t>
            </a:r>
          </a:p>
          <a:p>
            <a:pPr marL="0" indent="0">
              <a:buNone/>
            </a:pPr>
            <a:r>
              <a:rPr lang="en-US" b="1" dirty="0"/>
              <a:t>Step 3:</a:t>
            </a:r>
            <a:r>
              <a:rPr lang="en-US" dirty="0"/>
              <a:t> Write Function Prototypes</a:t>
            </a:r>
          </a:p>
          <a:p>
            <a:pPr marL="0" indent="0">
              <a:buNone/>
            </a:pPr>
            <a:r>
              <a:rPr lang="en-US" b="1" dirty="0"/>
              <a:t>Step 4:</a:t>
            </a:r>
            <a:r>
              <a:rPr lang="en-US" dirty="0"/>
              <a:t> Write Code of main using Function Prototypes</a:t>
            </a:r>
          </a:p>
          <a:p>
            <a:pPr marL="0" indent="0">
              <a:buNone/>
            </a:pPr>
            <a:r>
              <a:rPr lang="en-US" b="1" dirty="0"/>
              <a:t>Step 5:</a:t>
            </a:r>
            <a:r>
              <a:rPr lang="en-US" dirty="0"/>
              <a:t> Write codes of all functions</a:t>
            </a:r>
          </a:p>
          <a:p>
            <a:pPr lvl="1"/>
            <a:endParaRPr lang="en-PK" dirty="0"/>
          </a:p>
        </p:txBody>
      </p:sp>
      <p:sp>
        <p:nvSpPr>
          <p:cNvPr id="4" name="Slide Number Placeholder 3">
            <a:extLst>
              <a:ext uri="{FF2B5EF4-FFF2-40B4-BE49-F238E27FC236}">
                <a16:creationId xmlns:a16="http://schemas.microsoft.com/office/drawing/2014/main" id="{2B6537B1-40A9-4005-B233-AC3AE3556D2F}"/>
              </a:ext>
            </a:extLst>
          </p:cNvPr>
          <p:cNvSpPr>
            <a:spLocks noGrp="1"/>
          </p:cNvSpPr>
          <p:nvPr>
            <p:ph type="sldNum" sz="quarter" idx="12"/>
          </p:nvPr>
        </p:nvSpPr>
        <p:spPr/>
        <p:txBody>
          <a:bodyPr/>
          <a:lstStyle/>
          <a:p>
            <a:fld id="{BDEB6DFD-27C3-4BE1-B7E6-C736F27BA817}" type="slidenum">
              <a:rPr lang="en-US" smtClean="0"/>
              <a:t>33</a:t>
            </a:fld>
            <a:endParaRPr lang="en-US"/>
          </a:p>
        </p:txBody>
      </p:sp>
    </p:spTree>
    <p:extLst>
      <p:ext uri="{BB962C8B-B14F-4D97-AF65-F5344CB8AC3E}">
        <p14:creationId xmlns:p14="http://schemas.microsoft.com/office/powerpoint/2010/main" val="5405815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A1EEB-4653-4D88-8B8A-44A24C851FCB}"/>
              </a:ext>
            </a:extLst>
          </p:cNvPr>
          <p:cNvSpPr>
            <a:spLocks noGrp="1"/>
          </p:cNvSpPr>
          <p:nvPr>
            <p:ph type="title"/>
          </p:nvPr>
        </p:nvSpPr>
        <p:spPr>
          <a:xfrm>
            <a:off x="188259" y="365126"/>
            <a:ext cx="11793070" cy="616510"/>
          </a:xfrm>
        </p:spPr>
        <p:txBody>
          <a:bodyPr>
            <a:normAutofit fontScale="90000"/>
          </a:bodyPr>
          <a:lstStyle/>
          <a:p>
            <a:r>
              <a:rPr lang="en-US" dirty="0"/>
              <a:t>Example</a:t>
            </a:r>
            <a:endParaRPr lang="en-PK" dirty="0"/>
          </a:p>
        </p:txBody>
      </p:sp>
      <p:sp>
        <p:nvSpPr>
          <p:cNvPr id="3" name="Content Placeholder 2">
            <a:extLst>
              <a:ext uri="{FF2B5EF4-FFF2-40B4-BE49-F238E27FC236}">
                <a16:creationId xmlns:a16="http://schemas.microsoft.com/office/drawing/2014/main" id="{8D6FA8DA-67E0-4BE9-9ABC-A3AC74E706FD}"/>
              </a:ext>
            </a:extLst>
          </p:cNvPr>
          <p:cNvSpPr>
            <a:spLocks noGrp="1"/>
          </p:cNvSpPr>
          <p:nvPr>
            <p:ph idx="1"/>
          </p:nvPr>
        </p:nvSpPr>
        <p:spPr>
          <a:xfrm>
            <a:off x="210671" y="981636"/>
            <a:ext cx="12079941" cy="5876364"/>
          </a:xfrm>
        </p:spPr>
        <p:txBody>
          <a:bodyPr>
            <a:normAutofit lnSpcReduction="10000"/>
          </a:bodyPr>
          <a:lstStyle/>
          <a:p>
            <a:pPr marL="0" indent="0">
              <a:buNone/>
            </a:pPr>
            <a:r>
              <a:rPr lang="en-US" dirty="0"/>
              <a:t>Write a complete C++ Program that reads a Paragraph from a File in a </a:t>
            </a:r>
            <a:r>
              <a:rPr lang="en-US" dirty="0" err="1"/>
              <a:t>Cstring</a:t>
            </a:r>
            <a:r>
              <a:rPr lang="en-US" dirty="0"/>
              <a:t>, path read from user. Write characters and their frequencies to a file, path read from user, as well as displays </a:t>
            </a:r>
            <a:r>
              <a:rPr lang="en-US" b="1" dirty="0"/>
              <a:t> on screen (see sample output screen)</a:t>
            </a:r>
          </a:p>
          <a:p>
            <a:pPr marL="0" indent="0">
              <a:buNone/>
            </a:pPr>
            <a:r>
              <a:rPr lang="en-US" b="1" dirty="0"/>
              <a:t>Constraints:</a:t>
            </a:r>
          </a:p>
          <a:p>
            <a:pPr lvl="1"/>
            <a:r>
              <a:rPr lang="en-US" dirty="0"/>
              <a:t>All Functions, other than main, must have </a:t>
            </a:r>
            <a:r>
              <a:rPr lang="en-US" b="1" dirty="0"/>
              <a:t>void</a:t>
            </a:r>
            <a:r>
              <a:rPr lang="en-US" dirty="0"/>
              <a:t> return type</a:t>
            </a:r>
          </a:p>
          <a:p>
            <a:pPr lvl="1"/>
            <a:r>
              <a:rPr lang="en-US" dirty="0"/>
              <a:t>Main </a:t>
            </a:r>
            <a:r>
              <a:rPr lang="en-US" b="1" dirty="0"/>
              <a:t>must not </a:t>
            </a:r>
            <a:r>
              <a:rPr lang="en-US" dirty="0"/>
              <a:t>contain any </a:t>
            </a:r>
            <a:r>
              <a:rPr lang="en-US" b="1" dirty="0" err="1"/>
              <a:t>cin</a:t>
            </a:r>
            <a:r>
              <a:rPr lang="en-US" b="1" dirty="0"/>
              <a:t>, </a:t>
            </a:r>
            <a:r>
              <a:rPr lang="en-US" b="1" dirty="0" err="1"/>
              <a:t>cout</a:t>
            </a:r>
            <a:r>
              <a:rPr lang="en-US" b="1" dirty="0"/>
              <a:t>, file reading or math</a:t>
            </a:r>
          </a:p>
          <a:p>
            <a:pPr lvl="1"/>
            <a:r>
              <a:rPr lang="en-US" b="1" dirty="0"/>
              <a:t>Use at least 4 functions</a:t>
            </a:r>
          </a:p>
          <a:p>
            <a:pPr marL="0" indent="0">
              <a:buNone/>
            </a:pPr>
            <a:r>
              <a:rPr lang="en-US" b="1" dirty="0"/>
              <a:t>Show the following Steps of Process of Writing Code:</a:t>
            </a:r>
          </a:p>
          <a:p>
            <a:pPr marL="0" indent="0">
              <a:buNone/>
            </a:pPr>
            <a:r>
              <a:rPr lang="en-US" b="1" dirty="0"/>
              <a:t>Step 1:</a:t>
            </a:r>
            <a:r>
              <a:rPr lang="en-US" dirty="0"/>
              <a:t> Decide names of functions: </a:t>
            </a:r>
          </a:p>
          <a:p>
            <a:pPr marL="0" indent="0">
              <a:buNone/>
            </a:pPr>
            <a:r>
              <a:rPr lang="en-US" b="1" dirty="0"/>
              <a:t>Step 2:</a:t>
            </a:r>
            <a:r>
              <a:rPr lang="en-US" dirty="0"/>
              <a:t> Decide parameters of each function:</a:t>
            </a:r>
          </a:p>
          <a:p>
            <a:pPr marL="0" indent="0">
              <a:buNone/>
            </a:pPr>
            <a:r>
              <a:rPr lang="en-US" b="1" dirty="0"/>
              <a:t>Step 3:</a:t>
            </a:r>
            <a:r>
              <a:rPr lang="en-US" dirty="0"/>
              <a:t> Write Function Prototypes</a:t>
            </a:r>
          </a:p>
          <a:p>
            <a:pPr marL="0" indent="0">
              <a:buNone/>
            </a:pPr>
            <a:r>
              <a:rPr lang="en-US" b="1" dirty="0"/>
              <a:t>Step 4:</a:t>
            </a:r>
            <a:r>
              <a:rPr lang="en-US" dirty="0"/>
              <a:t> Write Code of main using Function Prototypes</a:t>
            </a:r>
          </a:p>
          <a:p>
            <a:pPr marL="0" indent="0">
              <a:buNone/>
            </a:pPr>
            <a:r>
              <a:rPr lang="en-US" b="1" dirty="0"/>
              <a:t>Step 5:</a:t>
            </a:r>
            <a:r>
              <a:rPr lang="en-US" dirty="0"/>
              <a:t> Write codes of all functions</a:t>
            </a:r>
          </a:p>
          <a:p>
            <a:pPr lvl="1"/>
            <a:endParaRPr lang="en-PK" dirty="0"/>
          </a:p>
        </p:txBody>
      </p:sp>
      <p:sp>
        <p:nvSpPr>
          <p:cNvPr id="4" name="Slide Number Placeholder 3">
            <a:extLst>
              <a:ext uri="{FF2B5EF4-FFF2-40B4-BE49-F238E27FC236}">
                <a16:creationId xmlns:a16="http://schemas.microsoft.com/office/drawing/2014/main" id="{2B6537B1-40A9-4005-B233-AC3AE3556D2F}"/>
              </a:ext>
            </a:extLst>
          </p:cNvPr>
          <p:cNvSpPr>
            <a:spLocks noGrp="1"/>
          </p:cNvSpPr>
          <p:nvPr>
            <p:ph type="sldNum" sz="quarter" idx="12"/>
          </p:nvPr>
        </p:nvSpPr>
        <p:spPr/>
        <p:txBody>
          <a:bodyPr/>
          <a:lstStyle/>
          <a:p>
            <a:fld id="{BDEB6DFD-27C3-4BE1-B7E6-C736F27BA817}" type="slidenum">
              <a:rPr lang="en-US" smtClean="0"/>
              <a:t>34</a:t>
            </a:fld>
            <a:endParaRPr lang="en-US"/>
          </a:p>
        </p:txBody>
      </p:sp>
      <p:sp>
        <p:nvSpPr>
          <p:cNvPr id="7" name="Rectangle 6">
            <a:extLst>
              <a:ext uri="{FF2B5EF4-FFF2-40B4-BE49-F238E27FC236}">
                <a16:creationId xmlns:a16="http://schemas.microsoft.com/office/drawing/2014/main" id="{B861DFAB-BF8B-4922-9BEB-C83E07920F66}"/>
              </a:ext>
            </a:extLst>
          </p:cNvPr>
          <p:cNvSpPr/>
          <p:nvPr/>
        </p:nvSpPr>
        <p:spPr>
          <a:xfrm>
            <a:off x="8610600" y="2218765"/>
            <a:ext cx="3370729" cy="80682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dirty="0"/>
              <a:t>Character: a   t   h   e k</a:t>
            </a:r>
          </a:p>
          <a:p>
            <a:r>
              <a:rPr lang="en-US" dirty="0"/>
              <a:t>Frequency 2   1   3  5  1</a:t>
            </a:r>
            <a:endParaRPr lang="en-PK" dirty="0"/>
          </a:p>
        </p:txBody>
      </p:sp>
    </p:spTree>
    <p:extLst>
      <p:ext uri="{BB962C8B-B14F-4D97-AF65-F5344CB8AC3E}">
        <p14:creationId xmlns:p14="http://schemas.microsoft.com/office/powerpoint/2010/main" val="3160778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E5A-EA7B-4200-A501-1EE1C4229EBF}"/>
              </a:ext>
            </a:extLst>
          </p:cNvPr>
          <p:cNvSpPr>
            <a:spLocks noGrp="1"/>
          </p:cNvSpPr>
          <p:nvPr>
            <p:ph type="title"/>
          </p:nvPr>
        </p:nvSpPr>
        <p:spPr>
          <a:xfrm>
            <a:off x="779929" y="2425700"/>
            <a:ext cx="10207159" cy="2006600"/>
          </a:xfrm>
        </p:spPr>
        <p:txBody>
          <a:bodyPr>
            <a:normAutofit/>
          </a:bodyPr>
          <a:lstStyle/>
          <a:p>
            <a:pPr algn="ctr"/>
            <a:r>
              <a:rPr lang="en-US" dirty="0"/>
              <a:t>Computer Memory</a:t>
            </a:r>
            <a:endParaRPr lang="en-PK" dirty="0"/>
          </a:p>
        </p:txBody>
      </p:sp>
      <p:sp>
        <p:nvSpPr>
          <p:cNvPr id="5" name="Slide Number Placeholder 4">
            <a:extLst>
              <a:ext uri="{FF2B5EF4-FFF2-40B4-BE49-F238E27FC236}">
                <a16:creationId xmlns:a16="http://schemas.microsoft.com/office/drawing/2014/main" id="{30456143-C25F-4F21-AE9C-9A45A01E8352}"/>
              </a:ext>
            </a:extLst>
          </p:cNvPr>
          <p:cNvSpPr>
            <a:spLocks noGrp="1"/>
          </p:cNvSpPr>
          <p:nvPr>
            <p:ph type="sldNum" sz="quarter" idx="12"/>
          </p:nvPr>
        </p:nvSpPr>
        <p:spPr/>
        <p:txBody>
          <a:bodyPr/>
          <a:lstStyle/>
          <a:p>
            <a:fld id="{BDEB6DFD-27C3-4BE1-B7E6-C736F27BA817}" type="slidenum">
              <a:rPr lang="en-US" smtClean="0"/>
              <a:t>35</a:t>
            </a:fld>
            <a:endParaRPr lang="en-US"/>
          </a:p>
        </p:txBody>
      </p:sp>
    </p:spTree>
    <p:extLst>
      <p:ext uri="{BB962C8B-B14F-4D97-AF65-F5344CB8AC3E}">
        <p14:creationId xmlns:p14="http://schemas.microsoft.com/office/powerpoint/2010/main" val="10665459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144D4-E19B-4C7F-80F8-5BF56B484450}"/>
              </a:ext>
            </a:extLst>
          </p:cNvPr>
          <p:cNvSpPr>
            <a:spLocks noGrp="1"/>
          </p:cNvSpPr>
          <p:nvPr>
            <p:ph type="title"/>
          </p:nvPr>
        </p:nvSpPr>
        <p:spPr>
          <a:xfrm>
            <a:off x="838200" y="0"/>
            <a:ext cx="10515600" cy="828675"/>
          </a:xfrm>
        </p:spPr>
        <p:txBody>
          <a:bodyPr/>
          <a:lstStyle/>
          <a:p>
            <a:r>
              <a:rPr lang="en-US" dirty="0"/>
              <a:t>Computer Memory Types and Usage</a:t>
            </a:r>
            <a:endParaRPr lang="en-PK" dirty="0"/>
          </a:p>
        </p:txBody>
      </p:sp>
      <p:sp>
        <p:nvSpPr>
          <p:cNvPr id="3" name="Content Placeholder 2">
            <a:extLst>
              <a:ext uri="{FF2B5EF4-FFF2-40B4-BE49-F238E27FC236}">
                <a16:creationId xmlns:a16="http://schemas.microsoft.com/office/drawing/2014/main" id="{2A1E21C5-5A9F-4DA6-8D51-4C87938DC38D}"/>
              </a:ext>
            </a:extLst>
          </p:cNvPr>
          <p:cNvSpPr>
            <a:spLocks noGrp="1"/>
          </p:cNvSpPr>
          <p:nvPr>
            <p:ph idx="1"/>
          </p:nvPr>
        </p:nvSpPr>
        <p:spPr>
          <a:xfrm>
            <a:off x="203199" y="668867"/>
            <a:ext cx="11904133" cy="6052608"/>
          </a:xfrm>
        </p:spPr>
        <p:txBody>
          <a:bodyPr>
            <a:normAutofit fontScale="92500" lnSpcReduction="20000"/>
          </a:bodyPr>
          <a:lstStyle/>
          <a:p>
            <a:pPr marL="0" indent="0">
              <a:buNone/>
            </a:pPr>
            <a:r>
              <a:rPr lang="en-US" dirty="0"/>
              <a:t>Two Main Types:</a:t>
            </a:r>
          </a:p>
          <a:p>
            <a:pPr marL="971550" lvl="1" indent="-514350">
              <a:buFont typeface="+mj-lt"/>
              <a:buAutoNum type="arabicPeriod"/>
            </a:pPr>
            <a:r>
              <a:rPr lang="en-US" dirty="0"/>
              <a:t>Read Only Memory (ROM): Written Once and Read Many Times</a:t>
            </a:r>
          </a:p>
          <a:p>
            <a:pPr lvl="2"/>
            <a:r>
              <a:rPr lang="en-US" dirty="0"/>
              <a:t>Retains Value, Even without Power</a:t>
            </a:r>
          </a:p>
          <a:p>
            <a:pPr lvl="2"/>
            <a:r>
              <a:rPr lang="en-US" dirty="0"/>
              <a:t>Contains BIOS: Code to Start the Computer and Load Operating System in RAM</a:t>
            </a:r>
          </a:p>
          <a:p>
            <a:pPr marL="971550" lvl="1" indent="-514350">
              <a:buFont typeface="+mj-lt"/>
              <a:buAutoNum type="arabicPeriod"/>
            </a:pPr>
            <a:r>
              <a:rPr lang="en-US" dirty="0"/>
              <a:t>Random Access Memory (RAM): Can be Written and Read many Times</a:t>
            </a:r>
          </a:p>
          <a:p>
            <a:pPr lvl="2"/>
            <a:r>
              <a:rPr lang="en-US" dirty="0"/>
              <a:t>Wipes Out without Power</a:t>
            </a:r>
          </a:p>
          <a:p>
            <a:pPr lvl="2"/>
            <a:r>
              <a:rPr lang="en-US" dirty="0"/>
              <a:t>After Startup of Computer by BIOS, the Operating Runs from RAM</a:t>
            </a:r>
          </a:p>
          <a:p>
            <a:pPr marL="0" indent="0">
              <a:buNone/>
            </a:pPr>
            <a:r>
              <a:rPr lang="en-US" dirty="0"/>
              <a:t>RAM is of Two Types:</a:t>
            </a:r>
          </a:p>
          <a:p>
            <a:pPr marL="971550" lvl="1" indent="-514350">
              <a:buFont typeface="+mj-lt"/>
              <a:buAutoNum type="arabicPeriod"/>
            </a:pPr>
            <a:r>
              <a:rPr lang="en-US" dirty="0"/>
              <a:t>Code RAM: Contains all Executable Code</a:t>
            </a:r>
          </a:p>
          <a:p>
            <a:pPr marL="971550" lvl="1" indent="-514350">
              <a:buFont typeface="+mj-lt"/>
              <a:buAutoNum type="arabicPeriod"/>
            </a:pPr>
            <a:r>
              <a:rPr lang="en-US" dirty="0"/>
              <a:t>Data RAM: Contains all Variables (Data)</a:t>
            </a:r>
          </a:p>
          <a:p>
            <a:pPr marL="0" indent="0">
              <a:buNone/>
            </a:pPr>
            <a:r>
              <a:rPr lang="en-US" dirty="0"/>
              <a:t>Data RAM is of 2 Types:</a:t>
            </a:r>
          </a:p>
          <a:p>
            <a:pPr marL="971550" lvl="1" indent="-514350">
              <a:buFont typeface="+mj-lt"/>
              <a:buAutoNum type="arabicPeriod"/>
            </a:pPr>
            <a:r>
              <a:rPr lang="en-US" dirty="0"/>
              <a:t>Stack or Static Memory: Contains all the Variables and Arrays</a:t>
            </a:r>
          </a:p>
          <a:p>
            <a:pPr lvl="2"/>
            <a:r>
              <a:rPr lang="en-US" dirty="0"/>
              <a:t>Much Smaller than Heap</a:t>
            </a:r>
          </a:p>
          <a:p>
            <a:pPr lvl="2"/>
            <a:r>
              <a:rPr lang="en-US" dirty="0"/>
              <a:t>Compiler Allocates (Creates), within { } and Deletes (Deallocates), or goes out of scope at the End }</a:t>
            </a:r>
          </a:p>
          <a:p>
            <a:pPr lvl="3"/>
            <a:r>
              <a:rPr lang="en-US" dirty="0"/>
              <a:t>Compile Time Memory</a:t>
            </a:r>
          </a:p>
          <a:p>
            <a:pPr marL="971550" lvl="1" indent="-514350">
              <a:buFont typeface="+mj-lt"/>
              <a:buAutoNum type="arabicPeriod"/>
            </a:pPr>
            <a:r>
              <a:rPr lang="en-US" dirty="0"/>
              <a:t>Heap or Dynamic Memory: Contains all the Dynamic Variables and Dynamic Arrays</a:t>
            </a:r>
          </a:p>
          <a:p>
            <a:pPr lvl="2"/>
            <a:r>
              <a:rPr lang="en-US" dirty="0"/>
              <a:t>Much Larger than Stack</a:t>
            </a:r>
          </a:p>
          <a:p>
            <a:pPr lvl="2"/>
            <a:r>
              <a:rPr lang="en-US" dirty="0"/>
              <a:t>Allocated (Created) and Deleted (Deallocated) Explicitly in Code Through </a:t>
            </a:r>
            <a:r>
              <a:rPr lang="en-US" b="1" dirty="0"/>
              <a:t>Pointers</a:t>
            </a:r>
            <a:endParaRPr lang="en-US" dirty="0"/>
          </a:p>
          <a:p>
            <a:pPr lvl="3"/>
            <a:r>
              <a:rPr lang="en-US" dirty="0"/>
              <a:t>Run-Time Memory</a:t>
            </a:r>
          </a:p>
          <a:p>
            <a:pPr marL="971550" lvl="1" indent="-514350">
              <a:buFont typeface="+mj-lt"/>
              <a:buAutoNum type="arabicPeriod"/>
            </a:pPr>
            <a:endParaRPr lang="en-US" dirty="0"/>
          </a:p>
          <a:p>
            <a:pPr marL="971550" lvl="1" indent="-514350">
              <a:buFont typeface="+mj-lt"/>
              <a:buAutoNum type="arabicPeriod"/>
            </a:pPr>
            <a:endParaRPr lang="en-PK" dirty="0"/>
          </a:p>
        </p:txBody>
      </p:sp>
      <p:sp>
        <p:nvSpPr>
          <p:cNvPr id="4" name="Slide Number Placeholder 3">
            <a:extLst>
              <a:ext uri="{FF2B5EF4-FFF2-40B4-BE49-F238E27FC236}">
                <a16:creationId xmlns:a16="http://schemas.microsoft.com/office/drawing/2014/main" id="{36FAF34F-9C45-4C4E-BF12-E5E759F5D681}"/>
              </a:ext>
            </a:extLst>
          </p:cNvPr>
          <p:cNvSpPr>
            <a:spLocks noGrp="1"/>
          </p:cNvSpPr>
          <p:nvPr>
            <p:ph type="sldNum" sz="quarter" idx="12"/>
          </p:nvPr>
        </p:nvSpPr>
        <p:spPr/>
        <p:txBody>
          <a:bodyPr/>
          <a:lstStyle/>
          <a:p>
            <a:fld id="{BDEB6DFD-27C3-4BE1-B7E6-C736F27BA817}" type="slidenum">
              <a:rPr lang="en-US" smtClean="0"/>
              <a:t>36</a:t>
            </a:fld>
            <a:endParaRPr lang="en-US"/>
          </a:p>
        </p:txBody>
      </p:sp>
    </p:spTree>
    <p:extLst>
      <p:ext uri="{BB962C8B-B14F-4D97-AF65-F5344CB8AC3E}">
        <p14:creationId xmlns:p14="http://schemas.microsoft.com/office/powerpoint/2010/main" val="423324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5" end="15"/>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E5A-EA7B-4200-A501-1EE1C4229EBF}"/>
              </a:ext>
            </a:extLst>
          </p:cNvPr>
          <p:cNvSpPr>
            <a:spLocks noGrp="1"/>
          </p:cNvSpPr>
          <p:nvPr>
            <p:ph type="title"/>
          </p:nvPr>
        </p:nvSpPr>
        <p:spPr>
          <a:xfrm>
            <a:off x="779929" y="2425700"/>
            <a:ext cx="10207159" cy="2006600"/>
          </a:xfrm>
        </p:spPr>
        <p:txBody>
          <a:bodyPr>
            <a:normAutofit/>
          </a:bodyPr>
          <a:lstStyle/>
          <a:p>
            <a:pPr algn="ctr"/>
            <a:r>
              <a:rPr lang="en-US" dirty="0"/>
              <a:t>Concept of a Pointer</a:t>
            </a:r>
            <a:endParaRPr lang="en-PK" dirty="0"/>
          </a:p>
        </p:txBody>
      </p:sp>
      <p:sp>
        <p:nvSpPr>
          <p:cNvPr id="5" name="Slide Number Placeholder 4">
            <a:extLst>
              <a:ext uri="{FF2B5EF4-FFF2-40B4-BE49-F238E27FC236}">
                <a16:creationId xmlns:a16="http://schemas.microsoft.com/office/drawing/2014/main" id="{30456143-C25F-4F21-AE9C-9A45A01E8352}"/>
              </a:ext>
            </a:extLst>
          </p:cNvPr>
          <p:cNvSpPr>
            <a:spLocks noGrp="1"/>
          </p:cNvSpPr>
          <p:nvPr>
            <p:ph type="sldNum" sz="quarter" idx="12"/>
          </p:nvPr>
        </p:nvSpPr>
        <p:spPr/>
        <p:txBody>
          <a:bodyPr/>
          <a:lstStyle/>
          <a:p>
            <a:fld id="{BDEB6DFD-27C3-4BE1-B7E6-C736F27BA817}" type="slidenum">
              <a:rPr lang="en-US" smtClean="0"/>
              <a:t>37</a:t>
            </a:fld>
            <a:endParaRPr lang="en-US"/>
          </a:p>
        </p:txBody>
      </p:sp>
    </p:spTree>
    <p:extLst>
      <p:ext uri="{BB962C8B-B14F-4D97-AF65-F5344CB8AC3E}">
        <p14:creationId xmlns:p14="http://schemas.microsoft.com/office/powerpoint/2010/main" val="3221755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3D827-E183-4A0C-B6B7-2851F73995B9}"/>
              </a:ext>
            </a:extLst>
          </p:cNvPr>
          <p:cNvSpPr>
            <a:spLocks noGrp="1"/>
          </p:cNvSpPr>
          <p:nvPr>
            <p:ph type="title"/>
          </p:nvPr>
        </p:nvSpPr>
        <p:spPr>
          <a:xfrm>
            <a:off x="118533" y="365125"/>
            <a:ext cx="11887199" cy="1325563"/>
          </a:xfrm>
        </p:spPr>
        <p:txBody>
          <a:bodyPr/>
          <a:lstStyle/>
          <a:p>
            <a:r>
              <a:rPr lang="en-US" dirty="0"/>
              <a:t>Pointer: A Variable to hold an Address of a Variable of A Particular Data Type</a:t>
            </a:r>
            <a:endParaRPr lang="en-PK" dirty="0"/>
          </a:p>
        </p:txBody>
      </p:sp>
      <p:sp>
        <p:nvSpPr>
          <p:cNvPr id="3" name="Content Placeholder 2">
            <a:extLst>
              <a:ext uri="{FF2B5EF4-FFF2-40B4-BE49-F238E27FC236}">
                <a16:creationId xmlns:a16="http://schemas.microsoft.com/office/drawing/2014/main" id="{BB4EAB49-1578-41B9-A5FA-2B5EB94C678B}"/>
              </a:ext>
            </a:extLst>
          </p:cNvPr>
          <p:cNvSpPr>
            <a:spLocks noGrp="1"/>
          </p:cNvSpPr>
          <p:nvPr>
            <p:ph idx="1"/>
          </p:nvPr>
        </p:nvSpPr>
        <p:spPr>
          <a:xfrm>
            <a:off x="279400" y="1825625"/>
            <a:ext cx="11074400" cy="4895850"/>
          </a:xfrm>
        </p:spPr>
        <p:txBody>
          <a:bodyPr>
            <a:normAutofit fontScale="92500" lnSpcReduction="20000"/>
          </a:bodyPr>
          <a:lstStyle/>
          <a:p>
            <a:pPr marL="0" indent="0">
              <a:buNone/>
            </a:pPr>
            <a:r>
              <a:rPr lang="en-US" dirty="0"/>
              <a:t>int main()</a:t>
            </a:r>
          </a:p>
          <a:p>
            <a:pPr marL="0" indent="0">
              <a:buNone/>
            </a:pPr>
            <a:r>
              <a:rPr lang="en-US" dirty="0"/>
              <a:t>{</a:t>
            </a:r>
          </a:p>
          <a:p>
            <a:pPr marL="0" indent="0">
              <a:buNone/>
            </a:pPr>
            <a:r>
              <a:rPr lang="en-US" dirty="0"/>
              <a:t>       int x = 5; </a:t>
            </a:r>
          </a:p>
          <a:p>
            <a:pPr marL="0" indent="0">
              <a:buNone/>
            </a:pPr>
            <a:r>
              <a:rPr lang="en-US" dirty="0"/>
              <a:t>       char word[10] = “”;</a:t>
            </a:r>
          </a:p>
          <a:p>
            <a:pPr marL="0" indent="0">
              <a:buNone/>
            </a:pPr>
            <a:r>
              <a:rPr lang="en-US" dirty="0"/>
              <a:t>     // x has an address allocated during Compile Time</a:t>
            </a:r>
          </a:p>
          <a:p>
            <a:pPr marL="0" indent="0">
              <a:buNone/>
            </a:pPr>
            <a:r>
              <a:rPr lang="en-US" dirty="0"/>
              <a:t>     // Address of x cannot be changed </a:t>
            </a:r>
          </a:p>
          <a:p>
            <a:pPr marL="0" indent="0">
              <a:buNone/>
            </a:pPr>
            <a:r>
              <a:rPr lang="en-US" dirty="0"/>
              <a:t>     // x Cannot be deleted in Code</a:t>
            </a:r>
          </a:p>
          <a:p>
            <a:pPr marL="0" indent="0">
              <a:buNone/>
            </a:pPr>
            <a:r>
              <a:rPr lang="en-US" dirty="0"/>
              <a:t>     // x is Deleted at End Bracket } i.e. Goes out of Scope</a:t>
            </a:r>
          </a:p>
          <a:p>
            <a:pPr marL="0" indent="0">
              <a:buNone/>
            </a:pPr>
            <a:r>
              <a:rPr lang="en-US" dirty="0"/>
              <a:t>     int * </a:t>
            </a:r>
            <a:r>
              <a:rPr lang="en-US" dirty="0" err="1"/>
              <a:t>xp</a:t>
            </a:r>
            <a:r>
              <a:rPr lang="en-US" dirty="0"/>
              <a:t> = &amp;x; // a Pointer variable to hold address of data type int</a:t>
            </a:r>
          </a:p>
          <a:p>
            <a:pPr marL="0" indent="0">
              <a:buNone/>
            </a:pPr>
            <a:r>
              <a:rPr lang="en-US" dirty="0"/>
              <a:t>                              // address of x is put in the pointer variable</a:t>
            </a:r>
          </a:p>
          <a:p>
            <a:pPr marL="0" indent="0">
              <a:buNone/>
            </a:pPr>
            <a:r>
              <a:rPr lang="en-US" dirty="0"/>
              <a:t>      return 0;</a:t>
            </a:r>
          </a:p>
          <a:p>
            <a:pPr marL="0" indent="0">
              <a:buNone/>
            </a:pPr>
            <a:r>
              <a:rPr lang="en-US" dirty="0"/>
              <a:t>}</a:t>
            </a:r>
            <a:endParaRPr lang="en-PK" dirty="0"/>
          </a:p>
        </p:txBody>
      </p:sp>
      <p:sp>
        <p:nvSpPr>
          <p:cNvPr id="4" name="Slide Number Placeholder 3">
            <a:extLst>
              <a:ext uri="{FF2B5EF4-FFF2-40B4-BE49-F238E27FC236}">
                <a16:creationId xmlns:a16="http://schemas.microsoft.com/office/drawing/2014/main" id="{F94C77B0-3263-43DC-8283-786E27B78858}"/>
              </a:ext>
            </a:extLst>
          </p:cNvPr>
          <p:cNvSpPr>
            <a:spLocks noGrp="1"/>
          </p:cNvSpPr>
          <p:nvPr>
            <p:ph type="sldNum" sz="quarter" idx="12"/>
          </p:nvPr>
        </p:nvSpPr>
        <p:spPr/>
        <p:txBody>
          <a:bodyPr/>
          <a:lstStyle/>
          <a:p>
            <a:fld id="{BDEB6DFD-27C3-4BE1-B7E6-C736F27BA817}" type="slidenum">
              <a:rPr lang="en-US" smtClean="0"/>
              <a:t>38</a:t>
            </a:fld>
            <a:endParaRPr lang="en-US"/>
          </a:p>
        </p:txBody>
      </p:sp>
    </p:spTree>
    <p:extLst>
      <p:ext uri="{BB962C8B-B14F-4D97-AF65-F5344CB8AC3E}">
        <p14:creationId xmlns:p14="http://schemas.microsoft.com/office/powerpoint/2010/main" val="465817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187037</TotalTime>
  <Words>2873</Words>
  <Application>Microsoft Office PowerPoint</Application>
  <PresentationFormat>Widescreen</PresentationFormat>
  <Paragraphs>372</Paragraphs>
  <Slides>38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Office Theme</vt:lpstr>
      <vt:lpstr>PROGRAMMING FUNDAMENTALS B16 SPRING 2025 </vt:lpstr>
      <vt:lpstr>Outline</vt:lpstr>
      <vt:lpstr>Formal Quiz 2</vt:lpstr>
      <vt:lpstr>Midterm Syllabus and Pattern</vt:lpstr>
      <vt:lpstr>PF Midterm Exam Syllabus</vt:lpstr>
      <vt:lpstr>PF Midterm Exam Style</vt:lpstr>
      <vt:lpstr>Midterm Instructions  and  Guidelines</vt:lpstr>
      <vt:lpstr>Midterm Made Easy </vt:lpstr>
      <vt:lpstr>Midterm Revision</vt:lpstr>
      <vt:lpstr>C++ Code Writing Style Template</vt:lpstr>
      <vt:lpstr>Must Follow C++ Code Writing Style Template</vt:lpstr>
      <vt:lpstr>File Reading and Writing</vt:lpstr>
      <vt:lpstr>Reading from Text Files</vt:lpstr>
      <vt:lpstr>Reading from CSV Files</vt:lpstr>
      <vt:lpstr>Writing to Text Files</vt:lpstr>
      <vt:lpstr>Practice of C++ Code in Functions</vt:lpstr>
      <vt:lpstr>C++ Functions</vt:lpstr>
      <vt:lpstr>Functions in C++</vt:lpstr>
      <vt:lpstr>Practice of C++ Code in Functions</vt:lpstr>
      <vt:lpstr>C++ Code in Functions: Practice Learning Process DON’T USE IN EXAM OR YOU WILL HAVE SHORTGAE OF TIME</vt:lpstr>
      <vt:lpstr>Example 1</vt:lpstr>
      <vt:lpstr>Example 2</vt:lpstr>
      <vt:lpstr>Example 3: Simple from File</vt:lpstr>
      <vt:lpstr>Example 4: Moderate from File</vt:lpstr>
      <vt:lpstr>Example 5: Moderate from File</vt:lpstr>
      <vt:lpstr>Example 6: Moderate from File</vt:lpstr>
      <vt:lpstr>Example of Code in terms of Functions</vt:lpstr>
      <vt:lpstr>Class Activity</vt:lpstr>
      <vt:lpstr>Example</vt:lpstr>
      <vt:lpstr>Example</vt:lpstr>
      <vt:lpstr>Example</vt:lpstr>
      <vt:lpstr>Example</vt:lpstr>
      <vt:lpstr>Example</vt:lpstr>
      <vt:lpstr>Example</vt:lpstr>
      <vt:lpstr>Computer Memory</vt:lpstr>
      <vt:lpstr>Computer Memory Types and Usage</vt:lpstr>
      <vt:lpstr>Concept of a Pointer</vt:lpstr>
      <vt:lpstr>Pointer: A Variable to hold an Address of a Variable of A Particular Data Type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 TOPICS IN SOFTWARE ENGINERING FALL 2014 MS CS Elective</dc:title>
  <dc:creator>Faculty</dc:creator>
  <cp:lastModifiedBy>Dr Ahmad Shabbar Kazmi</cp:lastModifiedBy>
  <cp:revision>566</cp:revision>
  <cp:lastPrinted>2018-03-06T06:01:49Z</cp:lastPrinted>
  <dcterms:created xsi:type="dcterms:W3CDTF">2014-10-22T05:41:57Z</dcterms:created>
  <dcterms:modified xsi:type="dcterms:W3CDTF">2025-04-28T10:11:36Z</dcterms:modified>
</cp:coreProperties>
</file>